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3"/>
  </p:sldMasterIdLst>
  <p:notesMasterIdLst>
    <p:notesMasterId r:id="rId5"/>
  </p:notesMasterIdLst>
  <p:handoutMasterIdLst>
    <p:handoutMasterId r:id="rId45"/>
  </p:handoutMasterIdLst>
  <p:sldIdLst>
    <p:sldId id="831" r:id="rId4"/>
    <p:sldId id="1119" r:id="rId6"/>
    <p:sldId id="1145" r:id="rId7"/>
    <p:sldId id="1123" r:id="rId8"/>
    <p:sldId id="1124" r:id="rId9"/>
    <p:sldId id="1125" r:id="rId10"/>
    <p:sldId id="1121" r:id="rId11"/>
    <p:sldId id="1146" r:id="rId12"/>
    <p:sldId id="1126" r:id="rId13"/>
    <p:sldId id="1127" r:id="rId14"/>
    <p:sldId id="1128" r:id="rId15"/>
    <p:sldId id="1129" r:id="rId16"/>
    <p:sldId id="1130" r:id="rId17"/>
    <p:sldId id="1131" r:id="rId18"/>
    <p:sldId id="1132" r:id="rId19"/>
    <p:sldId id="1133" r:id="rId20"/>
    <p:sldId id="1144" r:id="rId21"/>
    <p:sldId id="1134" r:id="rId22"/>
    <p:sldId id="1137" r:id="rId23"/>
    <p:sldId id="1138" r:id="rId24"/>
    <p:sldId id="1139" r:id="rId25"/>
    <p:sldId id="1140" r:id="rId26"/>
    <p:sldId id="1141" r:id="rId27"/>
    <p:sldId id="1143" r:id="rId28"/>
    <p:sldId id="1120" r:id="rId29"/>
    <p:sldId id="1149" r:id="rId30"/>
    <p:sldId id="1150" r:id="rId31"/>
    <p:sldId id="1147" r:id="rId32"/>
    <p:sldId id="1148" r:id="rId33"/>
    <p:sldId id="1153" r:id="rId34"/>
    <p:sldId id="1151" r:id="rId35"/>
    <p:sldId id="1152" r:id="rId36"/>
    <p:sldId id="1154" r:id="rId37"/>
    <p:sldId id="1178" r:id="rId38"/>
    <p:sldId id="1179" r:id="rId39"/>
    <p:sldId id="1180" r:id="rId40"/>
    <p:sldId id="1181" r:id="rId41"/>
    <p:sldId id="1182" r:id="rId42"/>
    <p:sldId id="1122" r:id="rId43"/>
    <p:sldId id="404" r:id="rId44"/>
  </p:sldIdLst>
  <p:sldSz cx="12192000" cy="6858000"/>
  <p:notesSz cx="6858000" cy="9144000"/>
  <p:custDataLst>
    <p:tags r:id="rId5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6" userDrawn="1">
          <p15:clr>
            <a:srgbClr val="A4A3A4"/>
          </p15:clr>
        </p15:guide>
        <p15:guide id="2" pos="382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ung yuchen" initials="L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171"/>
    <a:srgbClr val="FF0000"/>
    <a:srgbClr val="FF89B9"/>
    <a:srgbClr val="C3D594"/>
    <a:srgbClr val="91C7EE"/>
    <a:srgbClr val="FCBD8E"/>
    <a:srgbClr val="FCC196"/>
    <a:srgbClr val="FB9E13"/>
    <a:srgbClr val="009ED6"/>
    <a:srgbClr val="D9F1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746"/>
        <p:guide pos="382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0" Type="http://schemas.openxmlformats.org/officeDocument/2006/relationships/tags" Target="tags/tag56.xml"/><Relationship Id="rId5" Type="http://schemas.openxmlformats.org/officeDocument/2006/relationships/notesMaster" Target="notesMasters/notesMaster1.xml"/><Relationship Id="rId49" Type="http://schemas.openxmlformats.org/officeDocument/2006/relationships/commentAuthors" Target="commentAuthors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handoutMaster" Target="handoutMasters/handoutMaster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C9A6E8-2E7F-4236-A8B6-E28576BFB565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E2CA11-4B42-42CD-913B-9A2CDC405C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C9A6E8-2E7F-4236-A8B6-E28576BFB565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image" Target="../media/image1.png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Chevron 29"/>
          <p:cNvSpPr/>
          <p:nvPr userDrawn="1"/>
        </p:nvSpPr>
        <p:spPr>
          <a:xfrm>
            <a:off x="4251777" y="0"/>
            <a:ext cx="6096001" cy="6858000"/>
          </a:xfrm>
          <a:prstGeom prst="chevron">
            <a:avLst>
              <a:gd name="adj" fmla="val 56464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tx1"/>
              </a:solidFill>
            </a:endParaRPr>
          </a:p>
        </p:txBody>
      </p:sp>
      <p:sp>
        <p:nvSpPr>
          <p:cNvPr id="30" name="Arrow: Chevron 29"/>
          <p:cNvSpPr/>
          <p:nvPr userDrawn="1"/>
        </p:nvSpPr>
        <p:spPr>
          <a:xfrm>
            <a:off x="1108527" y="0"/>
            <a:ext cx="6096001" cy="6858000"/>
          </a:xfrm>
          <a:prstGeom prst="chevron">
            <a:avLst>
              <a:gd name="adj" fmla="val 56464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 userDrawn="1"/>
        </p:nvSpPr>
        <p:spPr>
          <a:xfrm>
            <a:off x="-1" y="537029"/>
            <a:ext cx="12192001" cy="5783942"/>
          </a:xfrm>
          <a:prstGeom prst="rect">
            <a:avLst/>
          </a:prstGeom>
          <a:solidFill>
            <a:srgbClr val="005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" name="Arrow: Chevron 31"/>
          <p:cNvSpPr/>
          <p:nvPr userDrawn="1"/>
        </p:nvSpPr>
        <p:spPr>
          <a:xfrm flipH="1">
            <a:off x="-2305051" y="0"/>
            <a:ext cx="6096001" cy="6858000"/>
          </a:xfrm>
          <a:prstGeom prst="chevron">
            <a:avLst>
              <a:gd name="adj" fmla="val 56464"/>
            </a:avLst>
          </a:prstGeom>
          <a:solidFill>
            <a:srgbClr val="7AC86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tx1"/>
              </a:solidFill>
            </a:endParaRPr>
          </a:p>
        </p:txBody>
      </p:sp>
      <p:sp>
        <p:nvSpPr>
          <p:cNvPr id="3" name="Arrow: Chevron 31"/>
          <p:cNvSpPr/>
          <p:nvPr userDrawn="1"/>
        </p:nvSpPr>
        <p:spPr>
          <a:xfrm flipH="1">
            <a:off x="857249" y="0"/>
            <a:ext cx="6096001" cy="6858000"/>
          </a:xfrm>
          <a:prstGeom prst="chevron">
            <a:avLst>
              <a:gd name="adj" fmla="val 56464"/>
            </a:avLst>
          </a:prstGeom>
          <a:solidFill>
            <a:srgbClr val="7AC86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/>
          <p:nvPr userDrawn="1"/>
        </p:nvGrpSpPr>
        <p:grpSpPr>
          <a:xfrm>
            <a:off x="-1712688" y="350"/>
            <a:ext cx="13904688" cy="3726598"/>
            <a:chOff x="-1712688" y="-297946"/>
            <a:chExt cx="15017690" cy="4024894"/>
          </a:xfrm>
        </p:grpSpPr>
        <p:sp>
          <p:nvSpPr>
            <p:cNvPr id="25" name="Arrow: Chevron 24"/>
            <p:cNvSpPr/>
            <p:nvPr/>
          </p:nvSpPr>
          <p:spPr>
            <a:xfrm flipH="1">
              <a:off x="-1712688" y="-297946"/>
              <a:ext cx="3577684" cy="4024894"/>
            </a:xfrm>
            <a:prstGeom prst="chevron">
              <a:avLst>
                <a:gd name="adj" fmla="val 56464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-1" y="1"/>
              <a:ext cx="13305003" cy="3429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7" name="Arrow: Chevron 26"/>
            <p:cNvSpPr/>
            <p:nvPr/>
          </p:nvSpPr>
          <p:spPr>
            <a:xfrm>
              <a:off x="297630" y="-297946"/>
              <a:ext cx="3577684" cy="4024894"/>
            </a:xfrm>
            <a:prstGeom prst="chevron">
              <a:avLst>
                <a:gd name="adj" fmla="val 56464"/>
              </a:avLst>
            </a:prstGeom>
            <a:solidFill>
              <a:srgbClr val="00B0F0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28" name="Right Triangle 27"/>
            <p:cNvSpPr/>
            <p:nvPr/>
          </p:nvSpPr>
          <p:spPr>
            <a:xfrm rot="13500000">
              <a:off x="-447090" y="1267412"/>
              <a:ext cx="894177" cy="894177"/>
            </a:xfrm>
            <a:prstGeom prst="rtTriangle">
              <a:avLst/>
            </a:prstGeom>
            <a:solidFill>
              <a:srgbClr val="00B0F0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29" name="Rectangle 28"/>
          <p:cNvSpPr/>
          <p:nvPr userDrawn="1"/>
        </p:nvSpPr>
        <p:spPr>
          <a:xfrm>
            <a:off x="0" y="6734628"/>
            <a:ext cx="12192000" cy="1378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606315" y="1494176"/>
            <a:ext cx="8337528" cy="738943"/>
          </a:xfrm>
        </p:spPr>
        <p:txBody>
          <a:bodyPr anchor="b">
            <a:normAutofit/>
          </a:bodyPr>
          <a:lstStyle>
            <a:lvl1pPr algn="l">
              <a:defRPr lang="id-ID" sz="4000" kern="1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23" name="Freeform: Shape 22"/>
          <p:cNvSpPr/>
          <p:nvPr userDrawn="1"/>
        </p:nvSpPr>
        <p:spPr>
          <a:xfrm rot="5400000">
            <a:off x="-209550" y="-5294087"/>
            <a:ext cx="12611101" cy="17446171"/>
          </a:xfrm>
          <a:custGeom>
            <a:avLst/>
            <a:gdLst>
              <a:gd name="connsiteX0" fmla="*/ 2876551 w 12611101"/>
              <a:gd name="connsiteY0" fmla="*/ 14819085 h 17446171"/>
              <a:gd name="connsiteX1" fmla="*/ 9734552 w 12611101"/>
              <a:gd name="connsiteY1" fmla="*/ 14819085 h 17446171"/>
              <a:gd name="connsiteX2" fmla="*/ 9734552 w 12611101"/>
              <a:gd name="connsiteY2" fmla="*/ 2627086 h 17446171"/>
              <a:gd name="connsiteX3" fmla="*/ 2876551 w 12611101"/>
              <a:gd name="connsiteY3" fmla="*/ 2627086 h 17446171"/>
              <a:gd name="connsiteX4" fmla="*/ 0 w 12611101"/>
              <a:gd name="connsiteY4" fmla="*/ 2627086 h 17446171"/>
              <a:gd name="connsiteX5" fmla="*/ 0 w 12611101"/>
              <a:gd name="connsiteY5" fmla="*/ 0 h 17446171"/>
              <a:gd name="connsiteX6" fmla="*/ 9734552 w 12611101"/>
              <a:gd name="connsiteY6" fmla="*/ 0 h 17446171"/>
              <a:gd name="connsiteX7" fmla="*/ 11068052 w 12611101"/>
              <a:gd name="connsiteY7" fmla="*/ 0 h 17446171"/>
              <a:gd name="connsiteX8" fmla="*/ 12611101 w 12611101"/>
              <a:gd name="connsiteY8" fmla="*/ 0 h 17446171"/>
              <a:gd name="connsiteX9" fmla="*/ 12611101 w 12611101"/>
              <a:gd name="connsiteY9" fmla="*/ 17446171 h 17446171"/>
              <a:gd name="connsiteX10" fmla="*/ 9960512 w 12611101"/>
              <a:gd name="connsiteY10" fmla="*/ 17446171 h 17446171"/>
              <a:gd name="connsiteX11" fmla="*/ 9734552 w 12611101"/>
              <a:gd name="connsiteY11" fmla="*/ 17446171 h 17446171"/>
              <a:gd name="connsiteX12" fmla="*/ 3 w 12611101"/>
              <a:gd name="connsiteY12" fmla="*/ 17446171 h 17446171"/>
              <a:gd name="connsiteX13" fmla="*/ 3 w 12611101"/>
              <a:gd name="connsiteY13" fmla="*/ 15196460 h 17446171"/>
              <a:gd name="connsiteX14" fmla="*/ 2 w 12611101"/>
              <a:gd name="connsiteY14" fmla="*/ 15196460 h 17446171"/>
              <a:gd name="connsiteX15" fmla="*/ 2 w 12611101"/>
              <a:gd name="connsiteY15" fmla="*/ 2627086 h 17446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611101" h="17446171">
                <a:moveTo>
                  <a:pt x="2876551" y="14819085"/>
                </a:moveTo>
                <a:lnTo>
                  <a:pt x="9734552" y="14819085"/>
                </a:lnTo>
                <a:lnTo>
                  <a:pt x="9734552" y="2627086"/>
                </a:lnTo>
                <a:lnTo>
                  <a:pt x="2876551" y="2627086"/>
                </a:lnTo>
                <a:close/>
                <a:moveTo>
                  <a:pt x="0" y="2627086"/>
                </a:moveTo>
                <a:lnTo>
                  <a:pt x="0" y="0"/>
                </a:lnTo>
                <a:lnTo>
                  <a:pt x="9734552" y="0"/>
                </a:lnTo>
                <a:lnTo>
                  <a:pt x="11068052" y="0"/>
                </a:lnTo>
                <a:lnTo>
                  <a:pt x="12611101" y="0"/>
                </a:lnTo>
                <a:lnTo>
                  <a:pt x="12611101" y="17446171"/>
                </a:lnTo>
                <a:lnTo>
                  <a:pt x="9960512" y="17446171"/>
                </a:lnTo>
                <a:lnTo>
                  <a:pt x="9734552" y="17446171"/>
                </a:lnTo>
                <a:lnTo>
                  <a:pt x="3" y="17446171"/>
                </a:lnTo>
                <a:lnTo>
                  <a:pt x="3" y="15196460"/>
                </a:lnTo>
                <a:lnTo>
                  <a:pt x="2" y="15196460"/>
                </a:lnTo>
                <a:lnTo>
                  <a:pt x="2" y="2627086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  <p:transition spd="slow" advTm="0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rrow: Chevron 11"/>
          <p:cNvSpPr/>
          <p:nvPr userDrawn="1"/>
        </p:nvSpPr>
        <p:spPr>
          <a:xfrm flipH="1">
            <a:off x="10145043" y="5889840"/>
            <a:ext cx="1258200" cy="967739"/>
          </a:xfrm>
          <a:prstGeom prst="chevron">
            <a:avLst>
              <a:gd name="adj" fmla="val 37654"/>
            </a:avLst>
          </a:prstGeom>
          <a:solidFill>
            <a:srgbClr val="007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0" y="6360342"/>
            <a:ext cx="12192000" cy="49765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" name="Arrow: Chevron 17"/>
          <p:cNvSpPr/>
          <p:nvPr userDrawn="1"/>
        </p:nvSpPr>
        <p:spPr>
          <a:xfrm>
            <a:off x="10556429" y="5889840"/>
            <a:ext cx="1258200" cy="967739"/>
          </a:xfrm>
          <a:prstGeom prst="chevron">
            <a:avLst>
              <a:gd name="adj" fmla="val 376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19" name="Right Triangle 18"/>
          <p:cNvSpPr/>
          <p:nvPr userDrawn="1"/>
        </p:nvSpPr>
        <p:spPr>
          <a:xfrm rot="13500000">
            <a:off x="-413952" y="346615"/>
            <a:ext cx="827907" cy="827907"/>
          </a:xfrm>
          <a:prstGeom prst="rtTriangle">
            <a:avLst/>
          </a:prstGeom>
          <a:solidFill>
            <a:srgbClr val="00B0F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791590" y="430490"/>
            <a:ext cx="10105250" cy="738943"/>
          </a:xfrm>
        </p:spPr>
        <p:txBody>
          <a:bodyPr anchor="ctr">
            <a:normAutofit/>
          </a:bodyPr>
          <a:lstStyle>
            <a:lvl1pPr>
              <a:defRPr lang="id-ID" sz="4000" kern="12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17" name="Freeform: Shape 16"/>
          <p:cNvSpPr/>
          <p:nvPr userDrawn="1"/>
        </p:nvSpPr>
        <p:spPr>
          <a:xfrm rot="5400000">
            <a:off x="-209550" y="-5294087"/>
            <a:ext cx="12611101" cy="17446171"/>
          </a:xfrm>
          <a:custGeom>
            <a:avLst/>
            <a:gdLst>
              <a:gd name="connsiteX0" fmla="*/ 2876551 w 12611101"/>
              <a:gd name="connsiteY0" fmla="*/ 14819085 h 17446171"/>
              <a:gd name="connsiteX1" fmla="*/ 9734552 w 12611101"/>
              <a:gd name="connsiteY1" fmla="*/ 14819085 h 17446171"/>
              <a:gd name="connsiteX2" fmla="*/ 9734552 w 12611101"/>
              <a:gd name="connsiteY2" fmla="*/ 2627086 h 17446171"/>
              <a:gd name="connsiteX3" fmla="*/ 2876551 w 12611101"/>
              <a:gd name="connsiteY3" fmla="*/ 2627086 h 17446171"/>
              <a:gd name="connsiteX4" fmla="*/ 0 w 12611101"/>
              <a:gd name="connsiteY4" fmla="*/ 2627086 h 17446171"/>
              <a:gd name="connsiteX5" fmla="*/ 0 w 12611101"/>
              <a:gd name="connsiteY5" fmla="*/ 0 h 17446171"/>
              <a:gd name="connsiteX6" fmla="*/ 9734552 w 12611101"/>
              <a:gd name="connsiteY6" fmla="*/ 0 h 17446171"/>
              <a:gd name="connsiteX7" fmla="*/ 11068052 w 12611101"/>
              <a:gd name="connsiteY7" fmla="*/ 0 h 17446171"/>
              <a:gd name="connsiteX8" fmla="*/ 12611101 w 12611101"/>
              <a:gd name="connsiteY8" fmla="*/ 0 h 17446171"/>
              <a:gd name="connsiteX9" fmla="*/ 12611101 w 12611101"/>
              <a:gd name="connsiteY9" fmla="*/ 17446171 h 17446171"/>
              <a:gd name="connsiteX10" fmla="*/ 9960512 w 12611101"/>
              <a:gd name="connsiteY10" fmla="*/ 17446171 h 17446171"/>
              <a:gd name="connsiteX11" fmla="*/ 9734552 w 12611101"/>
              <a:gd name="connsiteY11" fmla="*/ 17446171 h 17446171"/>
              <a:gd name="connsiteX12" fmla="*/ 3 w 12611101"/>
              <a:gd name="connsiteY12" fmla="*/ 17446171 h 17446171"/>
              <a:gd name="connsiteX13" fmla="*/ 3 w 12611101"/>
              <a:gd name="connsiteY13" fmla="*/ 15196460 h 17446171"/>
              <a:gd name="connsiteX14" fmla="*/ 2 w 12611101"/>
              <a:gd name="connsiteY14" fmla="*/ 15196460 h 17446171"/>
              <a:gd name="connsiteX15" fmla="*/ 2 w 12611101"/>
              <a:gd name="connsiteY15" fmla="*/ 2627086 h 17446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611101" h="17446171">
                <a:moveTo>
                  <a:pt x="2876551" y="14819085"/>
                </a:moveTo>
                <a:lnTo>
                  <a:pt x="9734552" y="14819085"/>
                </a:lnTo>
                <a:lnTo>
                  <a:pt x="9734552" y="2627086"/>
                </a:lnTo>
                <a:lnTo>
                  <a:pt x="2876551" y="2627086"/>
                </a:lnTo>
                <a:close/>
                <a:moveTo>
                  <a:pt x="0" y="2627086"/>
                </a:moveTo>
                <a:lnTo>
                  <a:pt x="0" y="0"/>
                </a:lnTo>
                <a:lnTo>
                  <a:pt x="9734552" y="0"/>
                </a:lnTo>
                <a:lnTo>
                  <a:pt x="11068052" y="0"/>
                </a:lnTo>
                <a:lnTo>
                  <a:pt x="12611101" y="0"/>
                </a:lnTo>
                <a:lnTo>
                  <a:pt x="12611101" y="17446171"/>
                </a:lnTo>
                <a:lnTo>
                  <a:pt x="9960512" y="17446171"/>
                </a:lnTo>
                <a:lnTo>
                  <a:pt x="9734552" y="17446171"/>
                </a:lnTo>
                <a:lnTo>
                  <a:pt x="3" y="17446171"/>
                </a:lnTo>
                <a:lnTo>
                  <a:pt x="3" y="15196460"/>
                </a:lnTo>
                <a:lnTo>
                  <a:pt x="2" y="15196460"/>
                </a:lnTo>
                <a:lnTo>
                  <a:pt x="2" y="2627086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10925868" y="6187883"/>
            <a:ext cx="656771" cy="365125"/>
          </a:xfrm>
        </p:spPr>
        <p:txBody>
          <a:bodyPr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fld id="{7C95316B-B8B5-4650-AC04-9D895B83FAD8}" type="slidenum">
              <a:rPr lang="id-ID" smtClean="0"/>
            </a:fld>
            <a:endParaRPr lang="id-ID" dirty="0"/>
          </a:p>
        </p:txBody>
      </p:sp>
    </p:spTree>
  </p:cSld>
  <p:clrMapOvr>
    <a:masterClrMapping/>
  </p:clrMapOvr>
  <p:transition spd="slow" advTm="0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 userDrawn="1"/>
        </p:nvGrpSpPr>
        <p:grpSpPr>
          <a:xfrm>
            <a:off x="-798288" y="0"/>
            <a:ext cx="12990288" cy="1756977"/>
            <a:chOff x="-798288" y="0"/>
            <a:chExt cx="15673087" cy="2119834"/>
          </a:xfrm>
        </p:grpSpPr>
        <p:sp>
          <p:nvSpPr>
            <p:cNvPr id="30" name="Arrow: Chevron 29"/>
            <p:cNvSpPr/>
            <p:nvPr/>
          </p:nvSpPr>
          <p:spPr>
            <a:xfrm flipH="1">
              <a:off x="-798288" y="0"/>
              <a:ext cx="1884297" cy="2119834"/>
            </a:xfrm>
            <a:prstGeom prst="chevron">
              <a:avLst>
                <a:gd name="adj" fmla="val 56464"/>
              </a:avLst>
            </a:prstGeom>
            <a:solidFill>
              <a:srgbClr val="007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-1" y="203200"/>
              <a:ext cx="14874800" cy="171268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33" name="Arrow: Chevron 32"/>
            <p:cNvSpPr/>
            <p:nvPr/>
          </p:nvSpPr>
          <p:spPr>
            <a:xfrm>
              <a:off x="260508" y="0"/>
              <a:ext cx="1884296" cy="2119834"/>
            </a:xfrm>
            <a:prstGeom prst="chevron">
              <a:avLst>
                <a:gd name="adj" fmla="val 56464"/>
              </a:avLst>
            </a:prstGeom>
            <a:solidFill>
              <a:srgbClr val="00B0F0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</p:grpSp>
      <p:sp>
        <p:nvSpPr>
          <p:cNvPr id="49" name="Freeform: Shape 48"/>
          <p:cNvSpPr/>
          <p:nvPr userDrawn="1"/>
        </p:nvSpPr>
        <p:spPr>
          <a:xfrm rot="5400000">
            <a:off x="-209550" y="-5294087"/>
            <a:ext cx="12611101" cy="17446171"/>
          </a:xfrm>
          <a:custGeom>
            <a:avLst/>
            <a:gdLst>
              <a:gd name="connsiteX0" fmla="*/ 2876551 w 12611101"/>
              <a:gd name="connsiteY0" fmla="*/ 14819085 h 17446171"/>
              <a:gd name="connsiteX1" fmla="*/ 9734552 w 12611101"/>
              <a:gd name="connsiteY1" fmla="*/ 14819085 h 17446171"/>
              <a:gd name="connsiteX2" fmla="*/ 9734552 w 12611101"/>
              <a:gd name="connsiteY2" fmla="*/ 2627086 h 17446171"/>
              <a:gd name="connsiteX3" fmla="*/ 2876551 w 12611101"/>
              <a:gd name="connsiteY3" fmla="*/ 2627086 h 17446171"/>
              <a:gd name="connsiteX4" fmla="*/ 0 w 12611101"/>
              <a:gd name="connsiteY4" fmla="*/ 2627086 h 17446171"/>
              <a:gd name="connsiteX5" fmla="*/ 0 w 12611101"/>
              <a:gd name="connsiteY5" fmla="*/ 0 h 17446171"/>
              <a:gd name="connsiteX6" fmla="*/ 9734552 w 12611101"/>
              <a:gd name="connsiteY6" fmla="*/ 0 h 17446171"/>
              <a:gd name="connsiteX7" fmla="*/ 11068052 w 12611101"/>
              <a:gd name="connsiteY7" fmla="*/ 0 h 17446171"/>
              <a:gd name="connsiteX8" fmla="*/ 12611101 w 12611101"/>
              <a:gd name="connsiteY8" fmla="*/ 0 h 17446171"/>
              <a:gd name="connsiteX9" fmla="*/ 12611101 w 12611101"/>
              <a:gd name="connsiteY9" fmla="*/ 17446171 h 17446171"/>
              <a:gd name="connsiteX10" fmla="*/ 9960512 w 12611101"/>
              <a:gd name="connsiteY10" fmla="*/ 17446171 h 17446171"/>
              <a:gd name="connsiteX11" fmla="*/ 9734552 w 12611101"/>
              <a:gd name="connsiteY11" fmla="*/ 17446171 h 17446171"/>
              <a:gd name="connsiteX12" fmla="*/ 3 w 12611101"/>
              <a:gd name="connsiteY12" fmla="*/ 17446171 h 17446171"/>
              <a:gd name="connsiteX13" fmla="*/ 3 w 12611101"/>
              <a:gd name="connsiteY13" fmla="*/ 15196460 h 17446171"/>
              <a:gd name="connsiteX14" fmla="*/ 2 w 12611101"/>
              <a:gd name="connsiteY14" fmla="*/ 15196460 h 17446171"/>
              <a:gd name="connsiteX15" fmla="*/ 2 w 12611101"/>
              <a:gd name="connsiteY15" fmla="*/ 2627086 h 17446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611101" h="17446171">
                <a:moveTo>
                  <a:pt x="2876551" y="14819085"/>
                </a:moveTo>
                <a:lnTo>
                  <a:pt x="9734552" y="14819085"/>
                </a:lnTo>
                <a:lnTo>
                  <a:pt x="9734552" y="2627086"/>
                </a:lnTo>
                <a:lnTo>
                  <a:pt x="2876551" y="2627086"/>
                </a:lnTo>
                <a:close/>
                <a:moveTo>
                  <a:pt x="0" y="2627086"/>
                </a:moveTo>
                <a:lnTo>
                  <a:pt x="0" y="0"/>
                </a:lnTo>
                <a:lnTo>
                  <a:pt x="9734552" y="0"/>
                </a:lnTo>
                <a:lnTo>
                  <a:pt x="11068052" y="0"/>
                </a:lnTo>
                <a:lnTo>
                  <a:pt x="12611101" y="0"/>
                </a:lnTo>
                <a:lnTo>
                  <a:pt x="12611101" y="17446171"/>
                </a:lnTo>
                <a:lnTo>
                  <a:pt x="9960512" y="17446171"/>
                </a:lnTo>
                <a:lnTo>
                  <a:pt x="9734552" y="17446171"/>
                </a:lnTo>
                <a:lnTo>
                  <a:pt x="3" y="17446171"/>
                </a:lnTo>
                <a:lnTo>
                  <a:pt x="3" y="15196460"/>
                </a:lnTo>
                <a:lnTo>
                  <a:pt x="2" y="15196460"/>
                </a:lnTo>
                <a:lnTo>
                  <a:pt x="2" y="2627086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756540" y="515504"/>
            <a:ext cx="9292533" cy="725347"/>
          </a:xfrm>
        </p:spPr>
        <p:txBody>
          <a:bodyPr anchor="ctr">
            <a:normAutofit/>
          </a:bodyPr>
          <a:lstStyle>
            <a:lvl1pPr algn="l">
              <a:defRPr lang="id-ID" sz="4000" kern="1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96840" y="6274970"/>
            <a:ext cx="656771" cy="365125"/>
          </a:xfrm>
        </p:spPr>
        <p:txBody>
          <a:bodyPr/>
          <a:lstStyle>
            <a:lvl1pPr algn="ctr">
              <a:defRPr sz="18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7C95316B-B8B5-4650-AC04-9D895B83FAD8}" type="slidenum">
              <a:rPr lang="id-ID" smtClean="0"/>
            </a:fld>
            <a:endParaRPr lang="id-ID" dirty="0"/>
          </a:p>
        </p:txBody>
      </p:sp>
      <p:sp>
        <p:nvSpPr>
          <p:cNvPr id="34" name="Rectangle 33"/>
          <p:cNvSpPr/>
          <p:nvPr userDrawn="1"/>
        </p:nvSpPr>
        <p:spPr>
          <a:xfrm>
            <a:off x="0" y="6734628"/>
            <a:ext cx="12192000" cy="1378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  <p:transition spd="slow" advTm="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 userDrawn="1"/>
        </p:nvGrpSpPr>
        <p:grpSpPr>
          <a:xfrm>
            <a:off x="-413954" y="1565701"/>
            <a:ext cx="12605954" cy="3726598"/>
            <a:chOff x="-309997" y="-297946"/>
            <a:chExt cx="13614999" cy="4024894"/>
          </a:xfrm>
        </p:grpSpPr>
        <p:sp>
          <p:nvSpPr>
            <p:cNvPr id="24" name="Arrow: Chevron 23"/>
            <p:cNvSpPr/>
            <p:nvPr/>
          </p:nvSpPr>
          <p:spPr>
            <a:xfrm flipH="1">
              <a:off x="7717000" y="-297946"/>
              <a:ext cx="3577684" cy="4024894"/>
            </a:xfrm>
            <a:prstGeom prst="chevron">
              <a:avLst>
                <a:gd name="adj" fmla="val 56464"/>
              </a:avLst>
            </a:prstGeom>
            <a:solidFill>
              <a:srgbClr val="007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37092" y="1"/>
              <a:ext cx="13167910" cy="3429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7" name="Arrow: Chevron 26"/>
            <p:cNvSpPr/>
            <p:nvPr/>
          </p:nvSpPr>
          <p:spPr>
            <a:xfrm>
              <a:off x="9727318" y="-297946"/>
              <a:ext cx="3577684" cy="4024894"/>
            </a:xfrm>
            <a:prstGeom prst="chevron">
              <a:avLst>
                <a:gd name="adj" fmla="val 56464"/>
              </a:avLst>
            </a:prstGeom>
            <a:solidFill>
              <a:srgbClr val="00B0F0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28" name="Right Triangle 27"/>
            <p:cNvSpPr/>
            <p:nvPr/>
          </p:nvSpPr>
          <p:spPr>
            <a:xfrm rot="13500000">
              <a:off x="-309997" y="1267411"/>
              <a:ext cx="894177" cy="894177"/>
            </a:xfrm>
            <a:prstGeom prst="rtTriangle">
              <a:avLst/>
            </a:prstGeom>
            <a:solidFill>
              <a:srgbClr val="00B0F0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520" y="2883806"/>
            <a:ext cx="7366096" cy="1104900"/>
          </a:xfrm>
        </p:spPr>
        <p:txBody>
          <a:bodyPr anchor="ctr">
            <a:normAutofit/>
          </a:bodyPr>
          <a:lstStyle>
            <a:lvl1pPr algn="l">
              <a:defRPr lang="id-ID" sz="4000" kern="1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25" name="Freeform: Shape 24"/>
          <p:cNvSpPr/>
          <p:nvPr userDrawn="1"/>
        </p:nvSpPr>
        <p:spPr>
          <a:xfrm rot="5400000">
            <a:off x="-209550" y="-5294087"/>
            <a:ext cx="12611101" cy="17446171"/>
          </a:xfrm>
          <a:custGeom>
            <a:avLst/>
            <a:gdLst>
              <a:gd name="connsiteX0" fmla="*/ 2876551 w 12611101"/>
              <a:gd name="connsiteY0" fmla="*/ 14819085 h 17446171"/>
              <a:gd name="connsiteX1" fmla="*/ 9734552 w 12611101"/>
              <a:gd name="connsiteY1" fmla="*/ 14819085 h 17446171"/>
              <a:gd name="connsiteX2" fmla="*/ 9734552 w 12611101"/>
              <a:gd name="connsiteY2" fmla="*/ 2627086 h 17446171"/>
              <a:gd name="connsiteX3" fmla="*/ 2876551 w 12611101"/>
              <a:gd name="connsiteY3" fmla="*/ 2627086 h 17446171"/>
              <a:gd name="connsiteX4" fmla="*/ 0 w 12611101"/>
              <a:gd name="connsiteY4" fmla="*/ 2627086 h 17446171"/>
              <a:gd name="connsiteX5" fmla="*/ 0 w 12611101"/>
              <a:gd name="connsiteY5" fmla="*/ 0 h 17446171"/>
              <a:gd name="connsiteX6" fmla="*/ 9734552 w 12611101"/>
              <a:gd name="connsiteY6" fmla="*/ 0 h 17446171"/>
              <a:gd name="connsiteX7" fmla="*/ 11068052 w 12611101"/>
              <a:gd name="connsiteY7" fmla="*/ 0 h 17446171"/>
              <a:gd name="connsiteX8" fmla="*/ 12611101 w 12611101"/>
              <a:gd name="connsiteY8" fmla="*/ 0 h 17446171"/>
              <a:gd name="connsiteX9" fmla="*/ 12611101 w 12611101"/>
              <a:gd name="connsiteY9" fmla="*/ 17446171 h 17446171"/>
              <a:gd name="connsiteX10" fmla="*/ 9960512 w 12611101"/>
              <a:gd name="connsiteY10" fmla="*/ 17446171 h 17446171"/>
              <a:gd name="connsiteX11" fmla="*/ 9734552 w 12611101"/>
              <a:gd name="connsiteY11" fmla="*/ 17446171 h 17446171"/>
              <a:gd name="connsiteX12" fmla="*/ 3 w 12611101"/>
              <a:gd name="connsiteY12" fmla="*/ 17446171 h 17446171"/>
              <a:gd name="connsiteX13" fmla="*/ 3 w 12611101"/>
              <a:gd name="connsiteY13" fmla="*/ 15196460 h 17446171"/>
              <a:gd name="connsiteX14" fmla="*/ 2 w 12611101"/>
              <a:gd name="connsiteY14" fmla="*/ 15196460 h 17446171"/>
              <a:gd name="connsiteX15" fmla="*/ 2 w 12611101"/>
              <a:gd name="connsiteY15" fmla="*/ 2627086 h 17446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611101" h="17446171">
                <a:moveTo>
                  <a:pt x="2876551" y="14819085"/>
                </a:moveTo>
                <a:lnTo>
                  <a:pt x="9734552" y="14819085"/>
                </a:lnTo>
                <a:lnTo>
                  <a:pt x="9734552" y="2627086"/>
                </a:lnTo>
                <a:lnTo>
                  <a:pt x="2876551" y="2627086"/>
                </a:lnTo>
                <a:close/>
                <a:moveTo>
                  <a:pt x="0" y="2627086"/>
                </a:moveTo>
                <a:lnTo>
                  <a:pt x="0" y="0"/>
                </a:lnTo>
                <a:lnTo>
                  <a:pt x="9734552" y="0"/>
                </a:lnTo>
                <a:lnTo>
                  <a:pt x="11068052" y="0"/>
                </a:lnTo>
                <a:lnTo>
                  <a:pt x="12611101" y="0"/>
                </a:lnTo>
                <a:lnTo>
                  <a:pt x="12611101" y="17446171"/>
                </a:lnTo>
                <a:lnTo>
                  <a:pt x="9960512" y="17446171"/>
                </a:lnTo>
                <a:lnTo>
                  <a:pt x="9734552" y="17446171"/>
                </a:lnTo>
                <a:lnTo>
                  <a:pt x="3" y="17446171"/>
                </a:lnTo>
                <a:lnTo>
                  <a:pt x="3" y="15196460"/>
                </a:lnTo>
                <a:lnTo>
                  <a:pt x="2" y="15196460"/>
                </a:lnTo>
                <a:lnTo>
                  <a:pt x="2" y="2627086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  <p:transition spd="slow" advTm="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row: Chevron 10"/>
          <p:cNvSpPr/>
          <p:nvPr userDrawn="1"/>
        </p:nvSpPr>
        <p:spPr>
          <a:xfrm flipH="1">
            <a:off x="10145043" y="5889840"/>
            <a:ext cx="1258200" cy="967739"/>
          </a:xfrm>
          <a:prstGeom prst="chevron">
            <a:avLst>
              <a:gd name="adj" fmla="val 37654"/>
            </a:avLst>
          </a:prstGeom>
          <a:solidFill>
            <a:srgbClr val="007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0" y="6360342"/>
            <a:ext cx="12192000" cy="49765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Arrow: Chevron 12"/>
          <p:cNvSpPr/>
          <p:nvPr userDrawn="1"/>
        </p:nvSpPr>
        <p:spPr>
          <a:xfrm>
            <a:off x="10556429" y="5889840"/>
            <a:ext cx="1258200" cy="967739"/>
          </a:xfrm>
          <a:prstGeom prst="chevron">
            <a:avLst>
              <a:gd name="adj" fmla="val 376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25868" y="6187883"/>
            <a:ext cx="656771" cy="365125"/>
          </a:xfr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7C95316B-B8B5-4650-AC04-9D895B83FAD8}" type="slidenum">
              <a:rPr lang="id-ID" smtClean="0"/>
            </a:fld>
            <a:endParaRPr lang="id-ID" dirty="0"/>
          </a:p>
        </p:txBody>
      </p:sp>
    </p:spTree>
  </p:cSld>
  <p:clrMapOvr>
    <a:masterClrMapping/>
  </p:clrMapOvr>
  <p:transition spd="slow" advTm="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/>
          <p:cNvSpPr/>
          <p:nvPr userDrawn="1"/>
        </p:nvSpPr>
        <p:spPr>
          <a:xfrm rot="5400000">
            <a:off x="-209550" y="-5294087"/>
            <a:ext cx="12611101" cy="17446171"/>
          </a:xfrm>
          <a:custGeom>
            <a:avLst/>
            <a:gdLst>
              <a:gd name="connsiteX0" fmla="*/ 2876551 w 12611101"/>
              <a:gd name="connsiteY0" fmla="*/ 14819085 h 17446171"/>
              <a:gd name="connsiteX1" fmla="*/ 9734552 w 12611101"/>
              <a:gd name="connsiteY1" fmla="*/ 14819085 h 17446171"/>
              <a:gd name="connsiteX2" fmla="*/ 9734552 w 12611101"/>
              <a:gd name="connsiteY2" fmla="*/ 2627086 h 17446171"/>
              <a:gd name="connsiteX3" fmla="*/ 2876551 w 12611101"/>
              <a:gd name="connsiteY3" fmla="*/ 2627086 h 17446171"/>
              <a:gd name="connsiteX4" fmla="*/ 0 w 12611101"/>
              <a:gd name="connsiteY4" fmla="*/ 2627086 h 17446171"/>
              <a:gd name="connsiteX5" fmla="*/ 0 w 12611101"/>
              <a:gd name="connsiteY5" fmla="*/ 0 h 17446171"/>
              <a:gd name="connsiteX6" fmla="*/ 9734552 w 12611101"/>
              <a:gd name="connsiteY6" fmla="*/ 0 h 17446171"/>
              <a:gd name="connsiteX7" fmla="*/ 11068052 w 12611101"/>
              <a:gd name="connsiteY7" fmla="*/ 0 h 17446171"/>
              <a:gd name="connsiteX8" fmla="*/ 12611101 w 12611101"/>
              <a:gd name="connsiteY8" fmla="*/ 0 h 17446171"/>
              <a:gd name="connsiteX9" fmla="*/ 12611101 w 12611101"/>
              <a:gd name="connsiteY9" fmla="*/ 17446171 h 17446171"/>
              <a:gd name="connsiteX10" fmla="*/ 9960512 w 12611101"/>
              <a:gd name="connsiteY10" fmla="*/ 17446171 h 17446171"/>
              <a:gd name="connsiteX11" fmla="*/ 9734552 w 12611101"/>
              <a:gd name="connsiteY11" fmla="*/ 17446171 h 17446171"/>
              <a:gd name="connsiteX12" fmla="*/ 3 w 12611101"/>
              <a:gd name="connsiteY12" fmla="*/ 17446171 h 17446171"/>
              <a:gd name="connsiteX13" fmla="*/ 3 w 12611101"/>
              <a:gd name="connsiteY13" fmla="*/ 15196460 h 17446171"/>
              <a:gd name="connsiteX14" fmla="*/ 2 w 12611101"/>
              <a:gd name="connsiteY14" fmla="*/ 15196460 h 17446171"/>
              <a:gd name="connsiteX15" fmla="*/ 2 w 12611101"/>
              <a:gd name="connsiteY15" fmla="*/ 2627086 h 17446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611101" h="17446171">
                <a:moveTo>
                  <a:pt x="2876551" y="14819085"/>
                </a:moveTo>
                <a:lnTo>
                  <a:pt x="9734552" y="14819085"/>
                </a:lnTo>
                <a:lnTo>
                  <a:pt x="9734552" y="2627086"/>
                </a:lnTo>
                <a:lnTo>
                  <a:pt x="2876551" y="2627086"/>
                </a:lnTo>
                <a:close/>
                <a:moveTo>
                  <a:pt x="0" y="2627086"/>
                </a:moveTo>
                <a:lnTo>
                  <a:pt x="0" y="0"/>
                </a:lnTo>
                <a:lnTo>
                  <a:pt x="9734552" y="0"/>
                </a:lnTo>
                <a:lnTo>
                  <a:pt x="11068052" y="0"/>
                </a:lnTo>
                <a:lnTo>
                  <a:pt x="12611101" y="0"/>
                </a:lnTo>
                <a:lnTo>
                  <a:pt x="12611101" y="17446171"/>
                </a:lnTo>
                <a:lnTo>
                  <a:pt x="9960512" y="17446171"/>
                </a:lnTo>
                <a:lnTo>
                  <a:pt x="9734552" y="17446171"/>
                </a:lnTo>
                <a:lnTo>
                  <a:pt x="3" y="17446171"/>
                </a:lnTo>
                <a:lnTo>
                  <a:pt x="3" y="15196460"/>
                </a:lnTo>
                <a:lnTo>
                  <a:pt x="2" y="15196460"/>
                </a:lnTo>
                <a:lnTo>
                  <a:pt x="2" y="2627086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  <p:transition spd="slow" advTm="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Chevron 20"/>
          <p:cNvSpPr/>
          <p:nvPr userDrawn="1"/>
        </p:nvSpPr>
        <p:spPr>
          <a:xfrm>
            <a:off x="4918527" y="0"/>
            <a:ext cx="6096001" cy="6858000"/>
          </a:xfrm>
          <a:prstGeom prst="chevron">
            <a:avLst>
              <a:gd name="adj" fmla="val 56464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tx1"/>
              </a:solidFill>
            </a:endParaRPr>
          </a:p>
        </p:txBody>
      </p:sp>
      <p:sp>
        <p:nvSpPr>
          <p:cNvPr id="21" name="Arrow: Chevron 20"/>
          <p:cNvSpPr/>
          <p:nvPr userDrawn="1"/>
        </p:nvSpPr>
        <p:spPr>
          <a:xfrm>
            <a:off x="1718127" y="0"/>
            <a:ext cx="6096001" cy="6858000"/>
          </a:xfrm>
          <a:prstGeom prst="chevron">
            <a:avLst>
              <a:gd name="adj" fmla="val 56464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-1" y="537029"/>
            <a:ext cx="12192001" cy="5783942"/>
          </a:xfrm>
          <a:prstGeom prst="rect">
            <a:avLst/>
          </a:prstGeom>
          <a:solidFill>
            <a:srgbClr val="005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" name="Arrow: Chevron 22"/>
          <p:cNvSpPr/>
          <p:nvPr userDrawn="1"/>
        </p:nvSpPr>
        <p:spPr>
          <a:xfrm flipH="1">
            <a:off x="-1733551" y="0"/>
            <a:ext cx="6096001" cy="6858000"/>
          </a:xfrm>
          <a:prstGeom prst="chevron">
            <a:avLst>
              <a:gd name="adj" fmla="val 56464"/>
            </a:avLst>
          </a:prstGeom>
          <a:solidFill>
            <a:srgbClr val="7AC86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tx1"/>
              </a:solidFill>
            </a:endParaRPr>
          </a:p>
        </p:txBody>
      </p:sp>
      <p:sp>
        <p:nvSpPr>
          <p:cNvPr id="3" name="Arrow: Chevron 22"/>
          <p:cNvSpPr/>
          <p:nvPr userDrawn="1"/>
        </p:nvSpPr>
        <p:spPr>
          <a:xfrm flipH="1">
            <a:off x="1466849" y="0"/>
            <a:ext cx="6096001" cy="6858000"/>
          </a:xfrm>
          <a:prstGeom prst="chevron">
            <a:avLst>
              <a:gd name="adj" fmla="val 56464"/>
            </a:avLst>
          </a:prstGeom>
          <a:solidFill>
            <a:srgbClr val="7AC86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4064C-B1C8-4B8F-82B1-6A8D1A5749D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D02B6-9DB5-4C7B-85B2-B5F020DABB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1662D-AFA8-443C-A4B0-112430D1F9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D02B6-9DB5-4C7B-85B2-B5F020DABB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1662D-AFA8-443C-A4B0-112430D1F9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D02B6-9DB5-4C7B-85B2-B5F020DABB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1662D-AFA8-443C-A4B0-112430D1F9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D02B6-9DB5-4C7B-85B2-B5F020DABB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1662D-AFA8-443C-A4B0-112430D1F9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D02B6-9DB5-4C7B-85B2-B5F020DABB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1662D-AFA8-443C-A4B0-112430D1F9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D02B6-9DB5-4C7B-85B2-B5F020DABB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1662D-AFA8-443C-A4B0-112430D1F93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2168961" y="6739570"/>
            <a:ext cx="1224136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下载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http://www.1ppt.com/xiazai/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D02B6-9DB5-4C7B-85B2-B5F020DABB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1662D-AFA8-443C-A4B0-112430D1F9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D02B6-9DB5-4C7B-85B2-B5F020DABB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1662D-AFA8-443C-A4B0-112430D1F9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bg>
      <p:bgPr>
        <a:gradFill>
          <a:gsLst>
            <a:gs pos="0">
              <a:srgbClr val="7AC861"/>
            </a:gs>
            <a:gs pos="100000">
              <a:srgbClr val="00517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D02B6-9DB5-4C7B-85B2-B5F020DABB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1662D-AFA8-443C-A4B0-112430D1F934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139700" y="160200"/>
            <a:ext cx="11912600" cy="6537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小米兰亭" panose="02010600030101010101"/>
              <a:ea typeface="小米兰亭" panose="02010600030101010101"/>
              <a:cs typeface="+mn-cs"/>
            </a:endParaRPr>
          </a:p>
        </p:txBody>
      </p:sp>
      <p:sp>
        <p:nvSpPr>
          <p:cNvPr id="10" name="PA-圆角矩形 6"/>
          <p:cNvSpPr/>
          <p:nvPr userDrawn="1">
            <p:custDataLst>
              <p:tags r:id="rId2"/>
            </p:custDataLst>
          </p:nvPr>
        </p:nvSpPr>
        <p:spPr>
          <a:xfrm>
            <a:off x="486368" y="1088840"/>
            <a:ext cx="11219264" cy="4301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小米兰亭" panose="02010600030101010101"/>
              <a:ea typeface="小米兰亭" panose="02010600030101010101"/>
              <a:cs typeface="+mn-cs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D02B6-9DB5-4C7B-85B2-B5F020DABB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1662D-AFA8-443C-A4B0-112430D1F934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139700" y="160200"/>
            <a:ext cx="11912600" cy="6537600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1651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小米兰亭" panose="02010600030101010101"/>
              <a:ea typeface="小米兰亭" panose="02010600030101010101"/>
              <a:cs typeface="+mn-cs"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130904" y="430797"/>
            <a:ext cx="3279182" cy="580925"/>
            <a:chOff x="426045" y="440323"/>
            <a:chExt cx="3279182" cy="580925"/>
          </a:xfrm>
        </p:grpSpPr>
        <p:sp>
          <p:nvSpPr>
            <p:cNvPr id="7" name="矩形 6"/>
            <p:cNvSpPr/>
            <p:nvPr/>
          </p:nvSpPr>
          <p:spPr>
            <a:xfrm>
              <a:off x="426045" y="440323"/>
              <a:ext cx="327918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9ED6"/>
                  </a:solidFill>
                  <a:effectLst/>
                  <a:uLnTx/>
                  <a:uFillTx/>
                  <a:latin typeface="方正兰亭粗黑简体" panose="02010600030101010101"/>
                  <a:ea typeface="方正兰亭粗黑简体" panose="02010600030101010101"/>
                  <a:cs typeface="+mn-cs"/>
                </a:rPr>
                <a:t>正弦函数的图像与性质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方正兰亭粗黑简体" panose="02010600030101010101"/>
                <a:ea typeface="方正兰亭粗黑简体" panose="02010600030101010101"/>
                <a:cs typeface="+mn-cs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426045" y="821193"/>
              <a:ext cx="3166285" cy="2000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小米兰亭" panose="02010600030101010101"/>
                  <a:ea typeface="小米兰亭" panose="02010600030101010101"/>
                  <a:cs typeface="+mn-cs"/>
                </a:rPr>
                <a:t>THE IMAGE AND PROPERTIES OF SINUSOIDAL FUNCTION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小米兰亭" panose="02010600030101010101"/>
                <a:ea typeface="小米兰亭" panose="02010600030101010101"/>
                <a:cs typeface="+mn-cs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86368" y="416508"/>
            <a:ext cx="691329" cy="609693"/>
          </a:xfrm>
          <a:prstGeom prst="rect">
            <a:avLst/>
          </a:prstGeom>
        </p:spPr>
      </p:pic>
      <p:sp>
        <p:nvSpPr>
          <p:cNvPr id="10" name="PA-圆角矩形 6"/>
          <p:cNvSpPr/>
          <p:nvPr userDrawn="1">
            <p:custDataLst>
              <p:tags r:id="rId3"/>
            </p:custDataLst>
          </p:nvPr>
        </p:nvSpPr>
        <p:spPr>
          <a:xfrm>
            <a:off x="486368" y="1088840"/>
            <a:ext cx="11219264" cy="4301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小米兰亭" panose="02010600030101010101"/>
              <a:ea typeface="小米兰亭" panose="02010600030101010101"/>
              <a:cs typeface="+mn-cs"/>
            </a:endParaRPr>
          </a:p>
        </p:txBody>
      </p:sp>
      <p:sp>
        <p:nvSpPr>
          <p:cNvPr id="11" name="PA-PA_椭圆 1"/>
          <p:cNvSpPr/>
          <p:nvPr userDrawn="1">
            <p:custDataLst>
              <p:tags r:id="rId4"/>
            </p:custDataLst>
          </p:nvPr>
        </p:nvSpPr>
        <p:spPr>
          <a:xfrm>
            <a:off x="5268686" y="490753"/>
            <a:ext cx="1421477" cy="446739"/>
          </a:xfrm>
          <a:prstGeom prst="roundRect">
            <a:avLst>
              <a:gd name="adj" fmla="val 50000"/>
            </a:avLst>
          </a:prstGeom>
          <a:solidFill>
            <a:srgbClr val="C0C9D6"/>
          </a:solidFill>
          <a:ln w="31750"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innerShdw blurRad="165100" dist="635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2" name="PA-PA_椭圆 1"/>
          <p:cNvSpPr/>
          <p:nvPr userDrawn="1">
            <p:custDataLst>
              <p:tags r:id="rId5"/>
            </p:custDataLst>
          </p:nvPr>
        </p:nvSpPr>
        <p:spPr>
          <a:xfrm>
            <a:off x="6940509" y="490753"/>
            <a:ext cx="1421477" cy="446739"/>
          </a:xfrm>
          <a:prstGeom prst="roundRect">
            <a:avLst>
              <a:gd name="adj" fmla="val 50000"/>
            </a:avLst>
          </a:prstGeom>
          <a:solidFill>
            <a:srgbClr val="C0C9D6"/>
          </a:solidFill>
          <a:ln w="31750"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innerShdw blurRad="165100" dist="635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3" name="PA-PA_椭圆 1"/>
          <p:cNvSpPr/>
          <p:nvPr userDrawn="1">
            <p:custDataLst>
              <p:tags r:id="rId6"/>
            </p:custDataLst>
          </p:nvPr>
        </p:nvSpPr>
        <p:spPr>
          <a:xfrm>
            <a:off x="8612332" y="490753"/>
            <a:ext cx="1421477" cy="44673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0"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innerShdw blurRad="165100" dist="635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4" name="PA-PA_椭圆 1"/>
          <p:cNvSpPr/>
          <p:nvPr userDrawn="1">
            <p:custDataLst>
              <p:tags r:id="rId7"/>
            </p:custDataLst>
          </p:nvPr>
        </p:nvSpPr>
        <p:spPr>
          <a:xfrm>
            <a:off x="10284155" y="490753"/>
            <a:ext cx="1421477" cy="446739"/>
          </a:xfrm>
          <a:prstGeom prst="roundRect">
            <a:avLst>
              <a:gd name="adj" fmla="val 50000"/>
            </a:avLst>
          </a:prstGeom>
          <a:solidFill>
            <a:srgbClr val="C0C9D6"/>
          </a:solidFill>
          <a:ln w="31750"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innerShdw blurRad="165100" dist="635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5" name="PA-矩形 6"/>
          <p:cNvSpPr/>
          <p:nvPr userDrawn="1">
            <p:custDataLst>
              <p:tags r:id="rId8"/>
            </p:custDataLst>
          </p:nvPr>
        </p:nvSpPr>
        <p:spPr>
          <a:xfrm>
            <a:off x="10442675" y="53309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兰亭粗黑简体" panose="02010600030101010101"/>
                <a:ea typeface="方正兰亭粗黑简体" panose="02010600030101010101"/>
                <a:cs typeface="+mn-ea"/>
                <a:sym typeface="微软雅黑" panose="020B0503020204020204" pitchFamily="34" charset="-122"/>
              </a:rPr>
              <a:t>教学效果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兰亭粗黑简体" panose="02010600030101010101"/>
              <a:ea typeface="方正兰亭粗黑简体" panose="02010600030101010101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6" name="PA-矩形 7"/>
          <p:cNvSpPr/>
          <p:nvPr userDrawn="1">
            <p:custDataLst>
              <p:tags r:id="rId9"/>
            </p:custDataLst>
          </p:nvPr>
        </p:nvSpPr>
        <p:spPr>
          <a:xfrm>
            <a:off x="8769073" y="53309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兰亭粗黑简体" panose="02010600030101010101"/>
                <a:ea typeface="方正兰亭粗黑简体" panose="02010600030101010101"/>
                <a:cs typeface="+mn-ea"/>
                <a:sym typeface="微软雅黑" panose="020B0503020204020204" pitchFamily="34" charset="-122"/>
              </a:rPr>
              <a:t>教学过程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兰亭粗黑简体" panose="02010600030101010101"/>
              <a:ea typeface="方正兰亭粗黑简体" panose="02010600030101010101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7" name="PA-矩形 8"/>
          <p:cNvSpPr/>
          <p:nvPr userDrawn="1">
            <p:custDataLst>
              <p:tags r:id="rId10"/>
            </p:custDataLst>
          </p:nvPr>
        </p:nvSpPr>
        <p:spPr>
          <a:xfrm>
            <a:off x="7095471" y="53309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兰亭粗黑简体" panose="02010600030101010101"/>
                <a:ea typeface="方正兰亭粗黑简体" panose="02010600030101010101"/>
                <a:cs typeface="+mn-ea"/>
                <a:sym typeface="微软雅黑" panose="020B0503020204020204" pitchFamily="34" charset="-122"/>
              </a:rPr>
              <a:t>教学策略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兰亭粗黑简体" panose="02010600030101010101"/>
              <a:ea typeface="方正兰亭粗黑简体" panose="02010600030101010101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8" name="PA-矩形 9"/>
          <p:cNvSpPr/>
          <p:nvPr userDrawn="1">
            <p:custDataLst>
              <p:tags r:id="rId11"/>
            </p:custDataLst>
          </p:nvPr>
        </p:nvSpPr>
        <p:spPr>
          <a:xfrm>
            <a:off x="5421869" y="533096"/>
            <a:ext cx="11079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兰亭粗黑简体" panose="02010600030101010101"/>
                <a:ea typeface="方正兰亭粗黑简体" panose="02010600030101010101"/>
                <a:cs typeface="+mn-ea"/>
                <a:sym typeface="微软雅黑" panose="020B0503020204020204" pitchFamily="34" charset="-122"/>
              </a:rPr>
              <a:t>教学分析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兰亭粗黑简体" panose="02010600030101010101"/>
              <a:ea typeface="方正兰亭粗黑简体" panose="02010600030101010101"/>
              <a:cs typeface="+mn-ea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D02B6-9DB5-4C7B-85B2-B5F020DABB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1662D-AFA8-443C-A4B0-112430D1F934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139700" y="160200"/>
            <a:ext cx="11912600" cy="6537600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1651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小米兰亭" panose="02010600030101010101"/>
              <a:ea typeface="小米兰亭" panose="02010600030101010101"/>
              <a:cs typeface="+mn-cs"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130904" y="430797"/>
            <a:ext cx="3279182" cy="580925"/>
            <a:chOff x="426045" y="440323"/>
            <a:chExt cx="3279182" cy="580925"/>
          </a:xfrm>
        </p:grpSpPr>
        <p:sp>
          <p:nvSpPr>
            <p:cNvPr id="7" name="矩形 6"/>
            <p:cNvSpPr/>
            <p:nvPr/>
          </p:nvSpPr>
          <p:spPr>
            <a:xfrm>
              <a:off x="426045" y="440323"/>
              <a:ext cx="327918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9ED6"/>
                  </a:solidFill>
                  <a:effectLst/>
                  <a:uLnTx/>
                  <a:uFillTx/>
                  <a:latin typeface="方正兰亭粗黑简体" panose="02010600030101010101"/>
                  <a:ea typeface="方正兰亭粗黑简体" panose="02010600030101010101"/>
                  <a:cs typeface="+mn-cs"/>
                </a:rPr>
                <a:t>正弦函数的图像与性质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方正兰亭粗黑简体" panose="02010600030101010101"/>
                <a:ea typeface="方正兰亭粗黑简体" panose="02010600030101010101"/>
                <a:cs typeface="+mn-cs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426045" y="821193"/>
              <a:ext cx="3166285" cy="2000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小米兰亭" panose="02010600030101010101"/>
                  <a:ea typeface="小米兰亭" panose="02010600030101010101"/>
                  <a:cs typeface="+mn-cs"/>
                </a:rPr>
                <a:t>THE IMAGE AND PROPERTIES OF SINUSOIDAL FUNCTION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小米兰亭" panose="02010600030101010101"/>
                <a:ea typeface="小米兰亭" panose="02010600030101010101"/>
                <a:cs typeface="+mn-cs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86368" y="416508"/>
            <a:ext cx="691329" cy="609693"/>
          </a:xfrm>
          <a:prstGeom prst="rect">
            <a:avLst/>
          </a:prstGeom>
        </p:spPr>
      </p:pic>
      <p:sp>
        <p:nvSpPr>
          <p:cNvPr id="10" name="PA-圆角矩形 6"/>
          <p:cNvSpPr/>
          <p:nvPr userDrawn="1">
            <p:custDataLst>
              <p:tags r:id="rId3"/>
            </p:custDataLst>
          </p:nvPr>
        </p:nvSpPr>
        <p:spPr>
          <a:xfrm>
            <a:off x="486368" y="1088840"/>
            <a:ext cx="11219264" cy="4301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小米兰亭" panose="02010600030101010101"/>
              <a:ea typeface="小米兰亭" panose="02010600030101010101"/>
              <a:cs typeface="+mn-cs"/>
            </a:endParaRPr>
          </a:p>
        </p:txBody>
      </p:sp>
      <p:sp>
        <p:nvSpPr>
          <p:cNvPr id="11" name="PA-PA_椭圆 1"/>
          <p:cNvSpPr/>
          <p:nvPr userDrawn="1">
            <p:custDataLst>
              <p:tags r:id="rId4"/>
            </p:custDataLst>
          </p:nvPr>
        </p:nvSpPr>
        <p:spPr>
          <a:xfrm>
            <a:off x="5268686" y="490753"/>
            <a:ext cx="1421477" cy="446739"/>
          </a:xfrm>
          <a:prstGeom prst="roundRect">
            <a:avLst>
              <a:gd name="adj" fmla="val 50000"/>
            </a:avLst>
          </a:prstGeom>
          <a:solidFill>
            <a:srgbClr val="C0C9D6"/>
          </a:solidFill>
          <a:ln w="31750"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innerShdw blurRad="165100" dist="635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2" name="PA-PA_椭圆 1"/>
          <p:cNvSpPr/>
          <p:nvPr userDrawn="1">
            <p:custDataLst>
              <p:tags r:id="rId5"/>
            </p:custDataLst>
          </p:nvPr>
        </p:nvSpPr>
        <p:spPr>
          <a:xfrm>
            <a:off x="6940509" y="490753"/>
            <a:ext cx="1421477" cy="446739"/>
          </a:xfrm>
          <a:prstGeom prst="roundRect">
            <a:avLst>
              <a:gd name="adj" fmla="val 50000"/>
            </a:avLst>
          </a:prstGeom>
          <a:solidFill>
            <a:srgbClr val="C0C9D6"/>
          </a:solidFill>
          <a:ln w="31750"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innerShdw blurRad="165100" dist="635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3" name="PA-PA_椭圆 1"/>
          <p:cNvSpPr/>
          <p:nvPr userDrawn="1">
            <p:custDataLst>
              <p:tags r:id="rId6"/>
            </p:custDataLst>
          </p:nvPr>
        </p:nvSpPr>
        <p:spPr>
          <a:xfrm>
            <a:off x="8612332" y="490753"/>
            <a:ext cx="1421477" cy="44673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0"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innerShdw blurRad="165100" dist="635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4" name="PA-PA_椭圆 1"/>
          <p:cNvSpPr/>
          <p:nvPr userDrawn="1">
            <p:custDataLst>
              <p:tags r:id="rId7"/>
            </p:custDataLst>
          </p:nvPr>
        </p:nvSpPr>
        <p:spPr>
          <a:xfrm>
            <a:off x="10284155" y="490753"/>
            <a:ext cx="1421477" cy="446739"/>
          </a:xfrm>
          <a:prstGeom prst="roundRect">
            <a:avLst>
              <a:gd name="adj" fmla="val 50000"/>
            </a:avLst>
          </a:prstGeom>
          <a:solidFill>
            <a:srgbClr val="C0C9D6"/>
          </a:solidFill>
          <a:ln w="31750"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innerShdw blurRad="165100" dist="635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5" name="PA-矩形 6"/>
          <p:cNvSpPr/>
          <p:nvPr userDrawn="1">
            <p:custDataLst>
              <p:tags r:id="rId8"/>
            </p:custDataLst>
          </p:nvPr>
        </p:nvSpPr>
        <p:spPr>
          <a:xfrm>
            <a:off x="10442675" y="53309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兰亭粗黑简体" panose="02010600030101010101"/>
                <a:ea typeface="方正兰亭粗黑简体" panose="02010600030101010101"/>
                <a:cs typeface="+mn-ea"/>
                <a:sym typeface="微软雅黑" panose="020B0503020204020204" pitchFamily="34" charset="-122"/>
              </a:rPr>
              <a:t>教学效果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兰亭粗黑简体" panose="02010600030101010101"/>
              <a:ea typeface="方正兰亭粗黑简体" panose="02010600030101010101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6" name="PA-矩形 7"/>
          <p:cNvSpPr/>
          <p:nvPr userDrawn="1">
            <p:custDataLst>
              <p:tags r:id="rId9"/>
            </p:custDataLst>
          </p:nvPr>
        </p:nvSpPr>
        <p:spPr>
          <a:xfrm>
            <a:off x="8769073" y="53309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兰亭粗黑简体" panose="02010600030101010101"/>
                <a:ea typeface="方正兰亭粗黑简体" panose="02010600030101010101"/>
                <a:cs typeface="+mn-ea"/>
                <a:sym typeface="微软雅黑" panose="020B0503020204020204" pitchFamily="34" charset="-122"/>
              </a:rPr>
              <a:t>教学过程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兰亭粗黑简体" panose="02010600030101010101"/>
              <a:ea typeface="方正兰亭粗黑简体" panose="02010600030101010101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7" name="PA-矩形 8"/>
          <p:cNvSpPr/>
          <p:nvPr userDrawn="1">
            <p:custDataLst>
              <p:tags r:id="rId10"/>
            </p:custDataLst>
          </p:nvPr>
        </p:nvSpPr>
        <p:spPr>
          <a:xfrm>
            <a:off x="7095471" y="53309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兰亭粗黑简体" panose="02010600030101010101"/>
                <a:ea typeface="方正兰亭粗黑简体" panose="02010600030101010101"/>
                <a:cs typeface="+mn-ea"/>
                <a:sym typeface="微软雅黑" panose="020B0503020204020204" pitchFamily="34" charset="-122"/>
              </a:rPr>
              <a:t>教学策略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兰亭粗黑简体" panose="02010600030101010101"/>
              <a:ea typeface="方正兰亭粗黑简体" panose="02010600030101010101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8" name="PA-矩形 9"/>
          <p:cNvSpPr/>
          <p:nvPr userDrawn="1">
            <p:custDataLst>
              <p:tags r:id="rId11"/>
            </p:custDataLst>
          </p:nvPr>
        </p:nvSpPr>
        <p:spPr>
          <a:xfrm>
            <a:off x="5421869" y="533096"/>
            <a:ext cx="11079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兰亭粗黑简体" panose="02010600030101010101"/>
                <a:ea typeface="方正兰亭粗黑简体" panose="02010600030101010101"/>
                <a:cs typeface="+mn-ea"/>
                <a:sym typeface="微软雅黑" panose="020B0503020204020204" pitchFamily="34" charset="-122"/>
              </a:rPr>
              <a:t>教学分析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兰亭粗黑简体" panose="02010600030101010101"/>
              <a:ea typeface="方正兰亭粗黑简体" panose="02010600030101010101"/>
              <a:cs typeface="+mn-ea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7624" y="2161827"/>
            <a:ext cx="1731479" cy="551245"/>
            <a:chOff x="47624" y="2161827"/>
            <a:chExt cx="1731479" cy="551245"/>
          </a:xfrm>
        </p:grpSpPr>
        <p:sp>
          <p:nvSpPr>
            <p:cNvPr id="20" name="直角三角形 19"/>
            <p:cNvSpPr/>
            <p:nvPr/>
          </p:nvSpPr>
          <p:spPr>
            <a:xfrm rot="16200000" flipH="1">
              <a:off x="41676" y="2615046"/>
              <a:ext cx="103976" cy="92075"/>
            </a:xfrm>
            <a:prstGeom prst="rt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小米兰亭" panose="02010600030101010101"/>
                <a:ea typeface="小米兰亭" panose="02010600030101010101"/>
                <a:cs typeface="+mn-cs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47624" y="2161827"/>
              <a:ext cx="1731479" cy="447270"/>
              <a:chOff x="47624" y="2136427"/>
              <a:chExt cx="1731479" cy="447270"/>
            </a:xfrm>
          </p:grpSpPr>
          <p:sp>
            <p:nvSpPr>
              <p:cNvPr id="23" name="五边形 61"/>
              <p:cNvSpPr/>
              <p:nvPr/>
            </p:nvSpPr>
            <p:spPr>
              <a:xfrm>
                <a:off x="47624" y="2136427"/>
                <a:ext cx="1731479" cy="447270"/>
              </a:xfrm>
              <a:prstGeom prst="homePlate">
                <a:avLst/>
              </a:prstGeom>
              <a:solidFill>
                <a:srgbClr val="E3E7EC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小米兰亭" panose="02010600030101010101"/>
                  <a:ea typeface="小米兰亭" panose="02010600030101010101"/>
                  <a:cs typeface="+mn-cs"/>
                </a:endParaRPr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507007" y="2178679"/>
                <a:ext cx="110799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:r>
                  <a:rPr lang="zh-CN" altLang="en-US" dirty="0">
                    <a:solidFill>
                      <a:schemeClr val="accent5"/>
                    </a:solidFill>
                    <a:latin typeface="+mn-ea"/>
                  </a:rPr>
                  <a:t>课前导学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sp>
          <p:nvSpPr>
            <p:cNvPr id="22" name="任意多边形: 形状 21"/>
            <p:cNvSpPr/>
            <p:nvPr/>
          </p:nvSpPr>
          <p:spPr bwMode="auto">
            <a:xfrm>
              <a:off x="258214" y="2238678"/>
              <a:ext cx="293895" cy="293568"/>
            </a:xfrm>
            <a:custGeom>
              <a:avLst/>
              <a:gdLst>
                <a:gd name="connsiteX0" fmla="*/ 41356 w 293895"/>
                <a:gd name="connsiteY0" fmla="*/ 79826 h 293568"/>
                <a:gd name="connsiteX1" fmla="*/ 45328 w 293895"/>
                <a:gd name="connsiteY1" fmla="*/ 81993 h 293568"/>
                <a:gd name="connsiteX2" fmla="*/ 58330 w 293895"/>
                <a:gd name="connsiteY2" fmla="*/ 101489 h 293568"/>
                <a:gd name="connsiteX3" fmla="*/ 71332 w 293895"/>
                <a:gd name="connsiteY3" fmla="*/ 81993 h 293568"/>
                <a:gd name="connsiteX4" fmla="*/ 75665 w 293895"/>
                <a:gd name="connsiteY4" fmla="*/ 79826 h 293568"/>
                <a:gd name="connsiteX5" fmla="*/ 90473 w 293895"/>
                <a:gd name="connsiteY5" fmla="*/ 81632 h 293568"/>
                <a:gd name="connsiteX6" fmla="*/ 103474 w 293895"/>
                <a:gd name="connsiteY6" fmla="*/ 87769 h 293568"/>
                <a:gd name="connsiteX7" fmla="*/ 117198 w 293895"/>
                <a:gd name="connsiteY7" fmla="*/ 104378 h 293568"/>
                <a:gd name="connsiteX8" fmla="*/ 120088 w 293895"/>
                <a:gd name="connsiteY8" fmla="*/ 107266 h 293568"/>
                <a:gd name="connsiteX9" fmla="*/ 125866 w 293895"/>
                <a:gd name="connsiteY9" fmla="*/ 107988 h 293568"/>
                <a:gd name="connsiteX10" fmla="*/ 128394 w 293895"/>
                <a:gd name="connsiteY10" fmla="*/ 106183 h 293568"/>
                <a:gd name="connsiteX11" fmla="*/ 144285 w 293895"/>
                <a:gd name="connsiteY11" fmla="*/ 94268 h 293568"/>
                <a:gd name="connsiteX12" fmla="*/ 160898 w 293895"/>
                <a:gd name="connsiteY12" fmla="*/ 116292 h 293568"/>
                <a:gd name="connsiteX13" fmla="*/ 143924 w 293895"/>
                <a:gd name="connsiteY13" fmla="*/ 128568 h 293568"/>
                <a:gd name="connsiteX14" fmla="*/ 126588 w 293895"/>
                <a:gd name="connsiteY14" fmla="*/ 138678 h 293568"/>
                <a:gd name="connsiteX15" fmla="*/ 113587 w 293895"/>
                <a:gd name="connsiteY15" fmla="*/ 137594 h 293568"/>
                <a:gd name="connsiteX16" fmla="*/ 96974 w 293895"/>
                <a:gd name="connsiteY16" fmla="*/ 122791 h 293568"/>
                <a:gd name="connsiteX17" fmla="*/ 93362 w 293895"/>
                <a:gd name="connsiteY17" fmla="*/ 118820 h 293568"/>
                <a:gd name="connsiteX18" fmla="*/ 89028 w 293895"/>
                <a:gd name="connsiteY18" fmla="*/ 279848 h 293568"/>
                <a:gd name="connsiteX19" fmla="*/ 73860 w 293895"/>
                <a:gd name="connsiteY19" fmla="*/ 293568 h 293568"/>
                <a:gd name="connsiteX20" fmla="*/ 60858 w 293895"/>
                <a:gd name="connsiteY20" fmla="*/ 288874 h 293568"/>
                <a:gd name="connsiteX21" fmla="*/ 55802 w 293895"/>
                <a:gd name="connsiteY21" fmla="*/ 288874 h 293568"/>
                <a:gd name="connsiteX22" fmla="*/ 42800 w 293895"/>
                <a:gd name="connsiteY22" fmla="*/ 293568 h 293568"/>
                <a:gd name="connsiteX23" fmla="*/ 27993 w 293895"/>
                <a:gd name="connsiteY23" fmla="*/ 279848 h 293568"/>
                <a:gd name="connsiteX24" fmla="*/ 25104 w 293895"/>
                <a:gd name="connsiteY24" fmla="*/ 185253 h 293568"/>
                <a:gd name="connsiteX25" fmla="*/ 21131 w 293895"/>
                <a:gd name="connsiteY25" fmla="*/ 184892 h 293568"/>
                <a:gd name="connsiteX26" fmla="*/ 5240 w 293895"/>
                <a:gd name="connsiteY26" fmla="*/ 172977 h 293568"/>
                <a:gd name="connsiteX27" fmla="*/ 4518 w 293895"/>
                <a:gd name="connsiteY27" fmla="*/ 92102 h 293568"/>
                <a:gd name="connsiteX28" fmla="*/ 14991 w 293895"/>
                <a:gd name="connsiteY28" fmla="*/ 83076 h 293568"/>
                <a:gd name="connsiteX29" fmla="*/ 41356 w 293895"/>
                <a:gd name="connsiteY29" fmla="*/ 79826 h 293568"/>
                <a:gd name="connsiteX30" fmla="*/ 59052 w 293895"/>
                <a:gd name="connsiteY30" fmla="*/ 14115 h 293568"/>
                <a:gd name="connsiteX31" fmla="*/ 82889 w 293895"/>
                <a:gd name="connsiteY31" fmla="*/ 40472 h 293568"/>
                <a:gd name="connsiteX32" fmla="*/ 57969 w 293895"/>
                <a:gd name="connsiteY32" fmla="*/ 71161 h 293568"/>
                <a:gd name="connsiteX33" fmla="*/ 33771 w 293895"/>
                <a:gd name="connsiteY33" fmla="*/ 39389 h 293568"/>
                <a:gd name="connsiteX34" fmla="*/ 59052 w 293895"/>
                <a:gd name="connsiteY34" fmla="*/ 14115 h 293568"/>
                <a:gd name="connsiteX35" fmla="*/ 292940 w 293895"/>
                <a:gd name="connsiteY35" fmla="*/ 8550 h 293568"/>
                <a:gd name="connsiteX36" fmla="*/ 292442 w 293895"/>
                <a:gd name="connsiteY36" fmla="*/ 13335 h 293568"/>
                <a:gd name="connsiteX37" fmla="*/ 221932 w 293895"/>
                <a:gd name="connsiteY37" fmla="*/ 76523 h 293568"/>
                <a:gd name="connsiteX38" fmla="*/ 208553 w 293895"/>
                <a:gd name="connsiteY38" fmla="*/ 67858 h 293568"/>
                <a:gd name="connsiteX39" fmla="*/ 204575 w 293895"/>
                <a:gd name="connsiteY39" fmla="*/ 29944 h 293568"/>
                <a:gd name="connsiteX40" fmla="*/ 217231 w 293895"/>
                <a:gd name="connsiteY40" fmla="*/ 28500 h 293568"/>
                <a:gd name="connsiteX41" fmla="*/ 223740 w 293895"/>
                <a:gd name="connsiteY41" fmla="*/ 47998 h 293568"/>
                <a:gd name="connsiteX42" fmla="*/ 287742 w 293895"/>
                <a:gd name="connsiteY42" fmla="*/ 8641 h 293568"/>
                <a:gd name="connsiteX43" fmla="*/ 292940 w 293895"/>
                <a:gd name="connsiteY43" fmla="*/ 8550 h 293568"/>
                <a:gd name="connsiteX44" fmla="*/ 184695 w 293895"/>
                <a:gd name="connsiteY44" fmla="*/ 0 h 293568"/>
                <a:gd name="connsiteX45" fmla="*/ 273204 w 293895"/>
                <a:gd name="connsiteY45" fmla="*/ 0 h 293568"/>
                <a:gd name="connsiteX46" fmla="*/ 277539 w 293895"/>
                <a:gd name="connsiteY46" fmla="*/ 1445 h 293568"/>
                <a:gd name="connsiteX47" fmla="*/ 258754 w 293895"/>
                <a:gd name="connsiteY47" fmla="*/ 13728 h 293568"/>
                <a:gd name="connsiteX48" fmla="*/ 212873 w 293895"/>
                <a:gd name="connsiteY48" fmla="*/ 13728 h 293568"/>
                <a:gd name="connsiteX49" fmla="*/ 210345 w 293895"/>
                <a:gd name="connsiteY49" fmla="*/ 13728 h 293568"/>
                <a:gd name="connsiteX50" fmla="*/ 191559 w 293895"/>
                <a:gd name="connsiteY50" fmla="*/ 13728 h 293568"/>
                <a:gd name="connsiteX51" fmla="*/ 191559 w 293895"/>
                <a:gd name="connsiteY51" fmla="*/ 88509 h 293568"/>
                <a:gd name="connsiteX52" fmla="*/ 215041 w 293895"/>
                <a:gd name="connsiteY52" fmla="*/ 88509 h 293568"/>
                <a:gd name="connsiteX53" fmla="*/ 223711 w 293895"/>
                <a:gd name="connsiteY53" fmla="*/ 88509 h 293568"/>
                <a:gd name="connsiteX54" fmla="*/ 266340 w 293895"/>
                <a:gd name="connsiteY54" fmla="*/ 88509 h 293568"/>
                <a:gd name="connsiteX55" fmla="*/ 266340 w 293895"/>
                <a:gd name="connsiteY55" fmla="*/ 54912 h 293568"/>
                <a:gd name="connsiteX56" fmla="*/ 280068 w 293895"/>
                <a:gd name="connsiteY56" fmla="*/ 41545 h 293568"/>
                <a:gd name="connsiteX57" fmla="*/ 280068 w 293895"/>
                <a:gd name="connsiteY57" fmla="*/ 95373 h 293568"/>
                <a:gd name="connsiteX58" fmla="*/ 273204 w 293895"/>
                <a:gd name="connsiteY58" fmla="*/ 102237 h 293568"/>
                <a:gd name="connsiteX59" fmla="*/ 184695 w 293895"/>
                <a:gd name="connsiteY59" fmla="*/ 102237 h 293568"/>
                <a:gd name="connsiteX60" fmla="*/ 177831 w 293895"/>
                <a:gd name="connsiteY60" fmla="*/ 95373 h 293568"/>
                <a:gd name="connsiteX61" fmla="*/ 177831 w 293895"/>
                <a:gd name="connsiteY61" fmla="*/ 6864 h 293568"/>
                <a:gd name="connsiteX62" fmla="*/ 184695 w 293895"/>
                <a:gd name="connsiteY62" fmla="*/ 0 h 29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293895" h="293568">
                  <a:moveTo>
                    <a:pt x="41356" y="79826"/>
                  </a:moveTo>
                  <a:cubicBezTo>
                    <a:pt x="42800" y="79826"/>
                    <a:pt x="44606" y="80548"/>
                    <a:pt x="45328" y="81993"/>
                  </a:cubicBezTo>
                  <a:cubicBezTo>
                    <a:pt x="58330" y="101489"/>
                    <a:pt x="58330" y="101489"/>
                    <a:pt x="58330" y="101489"/>
                  </a:cubicBezTo>
                  <a:cubicBezTo>
                    <a:pt x="71332" y="81993"/>
                    <a:pt x="71332" y="81993"/>
                    <a:pt x="71332" y="81993"/>
                  </a:cubicBezTo>
                  <a:cubicBezTo>
                    <a:pt x="72415" y="80548"/>
                    <a:pt x="73860" y="79826"/>
                    <a:pt x="75665" y="79826"/>
                  </a:cubicBezTo>
                  <a:cubicBezTo>
                    <a:pt x="90473" y="81632"/>
                    <a:pt x="90473" y="81632"/>
                    <a:pt x="90473" y="81632"/>
                  </a:cubicBezTo>
                  <a:cubicBezTo>
                    <a:pt x="98057" y="82715"/>
                    <a:pt x="100585" y="84520"/>
                    <a:pt x="103474" y="87769"/>
                  </a:cubicBezTo>
                  <a:cubicBezTo>
                    <a:pt x="108531" y="94268"/>
                    <a:pt x="113226" y="100045"/>
                    <a:pt x="117198" y="104378"/>
                  </a:cubicBezTo>
                  <a:cubicBezTo>
                    <a:pt x="118282" y="105461"/>
                    <a:pt x="119004" y="106544"/>
                    <a:pt x="120088" y="107266"/>
                  </a:cubicBezTo>
                  <a:cubicBezTo>
                    <a:pt x="121532" y="109071"/>
                    <a:pt x="124060" y="109071"/>
                    <a:pt x="125866" y="107988"/>
                  </a:cubicBezTo>
                  <a:cubicBezTo>
                    <a:pt x="126588" y="107266"/>
                    <a:pt x="127672" y="106905"/>
                    <a:pt x="128394" y="106183"/>
                  </a:cubicBezTo>
                  <a:cubicBezTo>
                    <a:pt x="132367" y="103295"/>
                    <a:pt x="139590" y="97879"/>
                    <a:pt x="144285" y="94268"/>
                  </a:cubicBezTo>
                  <a:cubicBezTo>
                    <a:pt x="157287" y="84159"/>
                    <a:pt x="174622" y="105822"/>
                    <a:pt x="160898" y="116292"/>
                  </a:cubicBezTo>
                  <a:cubicBezTo>
                    <a:pt x="155842" y="119903"/>
                    <a:pt x="148619" y="125680"/>
                    <a:pt x="143924" y="128568"/>
                  </a:cubicBezTo>
                  <a:cubicBezTo>
                    <a:pt x="137062" y="133623"/>
                    <a:pt x="130922" y="137233"/>
                    <a:pt x="126588" y="138678"/>
                  </a:cubicBezTo>
                  <a:cubicBezTo>
                    <a:pt x="122616" y="140483"/>
                    <a:pt x="117559" y="140483"/>
                    <a:pt x="113587" y="137594"/>
                  </a:cubicBezTo>
                  <a:cubicBezTo>
                    <a:pt x="107808" y="133984"/>
                    <a:pt x="102752" y="129290"/>
                    <a:pt x="96974" y="122791"/>
                  </a:cubicBezTo>
                  <a:cubicBezTo>
                    <a:pt x="95890" y="121708"/>
                    <a:pt x="94807" y="120264"/>
                    <a:pt x="93362" y="118820"/>
                  </a:cubicBezTo>
                  <a:cubicBezTo>
                    <a:pt x="89028" y="279848"/>
                    <a:pt x="89028" y="279848"/>
                    <a:pt x="89028" y="279848"/>
                  </a:cubicBezTo>
                  <a:cubicBezTo>
                    <a:pt x="88667" y="287430"/>
                    <a:pt x="80722" y="293568"/>
                    <a:pt x="73860" y="293568"/>
                  </a:cubicBezTo>
                  <a:cubicBezTo>
                    <a:pt x="69165" y="293568"/>
                    <a:pt x="63386" y="291763"/>
                    <a:pt x="60858" y="288874"/>
                  </a:cubicBezTo>
                  <a:cubicBezTo>
                    <a:pt x="59775" y="287069"/>
                    <a:pt x="57247" y="287069"/>
                    <a:pt x="55802" y="288874"/>
                  </a:cubicBezTo>
                  <a:cubicBezTo>
                    <a:pt x="53635" y="291763"/>
                    <a:pt x="47495" y="293568"/>
                    <a:pt x="42800" y="293568"/>
                  </a:cubicBezTo>
                  <a:cubicBezTo>
                    <a:pt x="35938" y="293568"/>
                    <a:pt x="28354" y="287430"/>
                    <a:pt x="27993" y="279848"/>
                  </a:cubicBezTo>
                  <a:cubicBezTo>
                    <a:pt x="25104" y="185253"/>
                    <a:pt x="25104" y="185253"/>
                    <a:pt x="25104" y="185253"/>
                  </a:cubicBezTo>
                  <a:cubicBezTo>
                    <a:pt x="21131" y="184892"/>
                    <a:pt x="21131" y="184892"/>
                    <a:pt x="21131" y="184892"/>
                  </a:cubicBezTo>
                  <a:cubicBezTo>
                    <a:pt x="14630" y="184170"/>
                    <a:pt x="6324" y="179476"/>
                    <a:pt x="5240" y="172977"/>
                  </a:cubicBezTo>
                  <a:cubicBezTo>
                    <a:pt x="-2344" y="133262"/>
                    <a:pt x="-899" y="133623"/>
                    <a:pt x="4518" y="92102"/>
                  </a:cubicBezTo>
                  <a:cubicBezTo>
                    <a:pt x="5240" y="89214"/>
                    <a:pt x="8852" y="83798"/>
                    <a:pt x="14991" y="83076"/>
                  </a:cubicBezTo>
                  <a:cubicBezTo>
                    <a:pt x="41356" y="79826"/>
                    <a:pt x="41356" y="79826"/>
                    <a:pt x="41356" y="79826"/>
                  </a:cubicBezTo>
                  <a:close/>
                  <a:moveTo>
                    <a:pt x="59052" y="14115"/>
                  </a:moveTo>
                  <a:cubicBezTo>
                    <a:pt x="72415" y="14476"/>
                    <a:pt x="83250" y="26030"/>
                    <a:pt x="82889" y="40472"/>
                  </a:cubicBezTo>
                  <a:cubicBezTo>
                    <a:pt x="82527" y="54553"/>
                    <a:pt x="71332" y="71522"/>
                    <a:pt x="57969" y="71161"/>
                  </a:cubicBezTo>
                  <a:cubicBezTo>
                    <a:pt x="44245" y="71161"/>
                    <a:pt x="33771" y="53470"/>
                    <a:pt x="33771" y="39389"/>
                  </a:cubicBezTo>
                  <a:cubicBezTo>
                    <a:pt x="34133" y="25308"/>
                    <a:pt x="45328" y="13754"/>
                    <a:pt x="59052" y="14115"/>
                  </a:cubicBezTo>
                  <a:close/>
                  <a:moveTo>
                    <a:pt x="292940" y="8550"/>
                  </a:moveTo>
                  <a:cubicBezTo>
                    <a:pt x="294160" y="9543"/>
                    <a:pt x="294431" y="11349"/>
                    <a:pt x="292442" y="13335"/>
                  </a:cubicBezTo>
                  <a:cubicBezTo>
                    <a:pt x="265684" y="39332"/>
                    <a:pt x="252667" y="54859"/>
                    <a:pt x="221932" y="76523"/>
                  </a:cubicBezTo>
                  <a:cubicBezTo>
                    <a:pt x="217592" y="79773"/>
                    <a:pt x="209637" y="73274"/>
                    <a:pt x="208553" y="67858"/>
                  </a:cubicBezTo>
                  <a:cubicBezTo>
                    <a:pt x="206021" y="53053"/>
                    <a:pt x="204575" y="46915"/>
                    <a:pt x="204575" y="29944"/>
                  </a:cubicBezTo>
                  <a:cubicBezTo>
                    <a:pt x="204575" y="24528"/>
                    <a:pt x="215784" y="23445"/>
                    <a:pt x="217231" y="28500"/>
                  </a:cubicBezTo>
                  <a:cubicBezTo>
                    <a:pt x="219039" y="34999"/>
                    <a:pt x="219762" y="40416"/>
                    <a:pt x="223740" y="47998"/>
                  </a:cubicBezTo>
                  <a:cubicBezTo>
                    <a:pt x="249051" y="32472"/>
                    <a:pt x="261707" y="26334"/>
                    <a:pt x="287742" y="8641"/>
                  </a:cubicBezTo>
                  <a:cubicBezTo>
                    <a:pt x="289550" y="7377"/>
                    <a:pt x="291719" y="7557"/>
                    <a:pt x="292940" y="8550"/>
                  </a:cubicBezTo>
                  <a:close/>
                  <a:moveTo>
                    <a:pt x="184695" y="0"/>
                  </a:moveTo>
                  <a:cubicBezTo>
                    <a:pt x="273204" y="0"/>
                    <a:pt x="273204" y="0"/>
                    <a:pt x="273204" y="0"/>
                  </a:cubicBezTo>
                  <a:cubicBezTo>
                    <a:pt x="275010" y="0"/>
                    <a:pt x="276455" y="722"/>
                    <a:pt x="277539" y="1445"/>
                  </a:cubicBezTo>
                  <a:cubicBezTo>
                    <a:pt x="271398" y="5780"/>
                    <a:pt x="265256" y="9754"/>
                    <a:pt x="258754" y="13728"/>
                  </a:cubicBezTo>
                  <a:cubicBezTo>
                    <a:pt x="212873" y="13728"/>
                    <a:pt x="212873" y="13728"/>
                    <a:pt x="212873" y="13728"/>
                  </a:cubicBezTo>
                  <a:cubicBezTo>
                    <a:pt x="212151" y="13728"/>
                    <a:pt x="211067" y="13728"/>
                    <a:pt x="210345" y="13728"/>
                  </a:cubicBezTo>
                  <a:cubicBezTo>
                    <a:pt x="191559" y="13728"/>
                    <a:pt x="191559" y="13728"/>
                    <a:pt x="191559" y="13728"/>
                  </a:cubicBezTo>
                  <a:cubicBezTo>
                    <a:pt x="191559" y="88509"/>
                    <a:pt x="191559" y="88509"/>
                    <a:pt x="191559" y="88509"/>
                  </a:cubicBezTo>
                  <a:cubicBezTo>
                    <a:pt x="215041" y="88509"/>
                    <a:pt x="215041" y="88509"/>
                    <a:pt x="215041" y="88509"/>
                  </a:cubicBezTo>
                  <a:cubicBezTo>
                    <a:pt x="217931" y="89232"/>
                    <a:pt x="220821" y="89232"/>
                    <a:pt x="223711" y="88509"/>
                  </a:cubicBezTo>
                  <a:cubicBezTo>
                    <a:pt x="266340" y="88509"/>
                    <a:pt x="266340" y="88509"/>
                    <a:pt x="266340" y="88509"/>
                  </a:cubicBezTo>
                  <a:cubicBezTo>
                    <a:pt x="266340" y="54912"/>
                    <a:pt x="266340" y="54912"/>
                    <a:pt x="266340" y="54912"/>
                  </a:cubicBezTo>
                  <a:cubicBezTo>
                    <a:pt x="271036" y="50577"/>
                    <a:pt x="275372" y="46242"/>
                    <a:pt x="280068" y="41545"/>
                  </a:cubicBezTo>
                  <a:cubicBezTo>
                    <a:pt x="280068" y="95373"/>
                    <a:pt x="280068" y="95373"/>
                    <a:pt x="280068" y="95373"/>
                  </a:cubicBezTo>
                  <a:cubicBezTo>
                    <a:pt x="280068" y="98986"/>
                    <a:pt x="277178" y="102237"/>
                    <a:pt x="273204" y="102237"/>
                  </a:cubicBezTo>
                  <a:cubicBezTo>
                    <a:pt x="184695" y="102237"/>
                    <a:pt x="184695" y="102237"/>
                    <a:pt x="184695" y="102237"/>
                  </a:cubicBezTo>
                  <a:cubicBezTo>
                    <a:pt x="181082" y="102237"/>
                    <a:pt x="177831" y="98986"/>
                    <a:pt x="177831" y="95373"/>
                  </a:cubicBezTo>
                  <a:cubicBezTo>
                    <a:pt x="177831" y="6864"/>
                    <a:pt x="177831" y="6864"/>
                    <a:pt x="177831" y="6864"/>
                  </a:cubicBezTo>
                  <a:cubicBezTo>
                    <a:pt x="177831" y="3251"/>
                    <a:pt x="181082" y="0"/>
                    <a:pt x="18469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5" name="直角三角形 24"/>
          <p:cNvSpPr/>
          <p:nvPr userDrawn="1"/>
        </p:nvSpPr>
        <p:spPr>
          <a:xfrm rot="16200000" flipH="1">
            <a:off x="41676" y="3449262"/>
            <a:ext cx="103976" cy="92075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小米兰亭" panose="02010600030101010101"/>
              <a:ea typeface="小米兰亭" panose="02010600030101010101"/>
              <a:cs typeface="+mn-cs"/>
            </a:endParaRPr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47624" y="2996043"/>
            <a:ext cx="1731479" cy="447270"/>
            <a:chOff x="47624" y="2775910"/>
            <a:chExt cx="1731479" cy="447270"/>
          </a:xfrm>
        </p:grpSpPr>
        <p:sp>
          <p:nvSpPr>
            <p:cNvPr id="27" name="五边形 62"/>
            <p:cNvSpPr/>
            <p:nvPr/>
          </p:nvSpPr>
          <p:spPr>
            <a:xfrm>
              <a:off x="47624" y="2775910"/>
              <a:ext cx="1731479" cy="447270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  <a:effectLst>
              <a:outerShdw blurRad="635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小米兰亭" panose="02010600030101010101"/>
                <a:ea typeface="小米兰亭" panose="02010600030101010101"/>
                <a:cs typeface="+mn-cs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507007" y="2820743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+mj-ea"/>
                  <a:ea typeface="+mj-ea"/>
                </a:rPr>
                <a:t>新课探究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grpSp>
        <p:nvGrpSpPr>
          <p:cNvPr id="29" name="组合 28"/>
          <p:cNvGrpSpPr/>
          <p:nvPr userDrawn="1"/>
        </p:nvGrpSpPr>
        <p:grpSpPr>
          <a:xfrm>
            <a:off x="208888" y="3108166"/>
            <a:ext cx="343221" cy="223024"/>
            <a:chOff x="7058307" y="1859447"/>
            <a:chExt cx="535637" cy="348055"/>
          </a:xfrm>
          <a:solidFill>
            <a:schemeClr val="bg1"/>
          </a:solidFill>
        </p:grpSpPr>
        <p:sp>
          <p:nvSpPr>
            <p:cNvPr id="30" name="Rectangle 240"/>
            <p:cNvSpPr>
              <a:spLocks noChangeArrowheads="1"/>
            </p:cNvSpPr>
            <p:nvPr/>
          </p:nvSpPr>
          <p:spPr bwMode="auto">
            <a:xfrm>
              <a:off x="7112521" y="1997151"/>
              <a:ext cx="127945" cy="108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Rectangle 241"/>
            <p:cNvSpPr>
              <a:spLocks noChangeArrowheads="1"/>
            </p:cNvSpPr>
            <p:nvPr/>
          </p:nvSpPr>
          <p:spPr bwMode="auto">
            <a:xfrm>
              <a:off x="7112521" y="2038354"/>
              <a:ext cx="202761" cy="1301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Rectangle 242"/>
            <p:cNvSpPr>
              <a:spLocks noChangeArrowheads="1"/>
            </p:cNvSpPr>
            <p:nvPr/>
          </p:nvSpPr>
          <p:spPr bwMode="auto">
            <a:xfrm>
              <a:off x="7112521" y="2079556"/>
              <a:ext cx="202761" cy="1301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Rectangle 243"/>
            <p:cNvSpPr>
              <a:spLocks noChangeArrowheads="1"/>
            </p:cNvSpPr>
            <p:nvPr/>
          </p:nvSpPr>
          <p:spPr bwMode="auto">
            <a:xfrm>
              <a:off x="7112521" y="2120759"/>
              <a:ext cx="202761" cy="1301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Freeform 244"/>
            <p:cNvSpPr/>
            <p:nvPr/>
          </p:nvSpPr>
          <p:spPr bwMode="auto">
            <a:xfrm>
              <a:off x="7428047" y="2038354"/>
              <a:ext cx="24939" cy="71563"/>
            </a:xfrm>
            <a:custGeom>
              <a:avLst/>
              <a:gdLst>
                <a:gd name="T0" fmla="*/ 4 w 10"/>
                <a:gd name="T1" fmla="*/ 28 h 28"/>
                <a:gd name="T2" fmla="*/ 10 w 10"/>
                <a:gd name="T3" fmla="*/ 25 h 28"/>
                <a:gd name="T4" fmla="*/ 10 w 10"/>
                <a:gd name="T5" fmla="*/ 3 h 28"/>
                <a:gd name="T6" fmla="*/ 1 w 10"/>
                <a:gd name="T7" fmla="*/ 0 h 28"/>
                <a:gd name="T8" fmla="*/ 0 w 10"/>
                <a:gd name="T9" fmla="*/ 0 h 28"/>
                <a:gd name="T10" fmla="*/ 0 w 10"/>
                <a:gd name="T11" fmla="*/ 28 h 28"/>
                <a:gd name="T12" fmla="*/ 1 w 10"/>
                <a:gd name="T13" fmla="*/ 28 h 28"/>
                <a:gd name="T14" fmla="*/ 4 w 10"/>
                <a:gd name="T1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28">
                  <a:moveTo>
                    <a:pt x="4" y="28"/>
                  </a:moveTo>
                  <a:cubicBezTo>
                    <a:pt x="6" y="27"/>
                    <a:pt x="8" y="26"/>
                    <a:pt x="10" y="25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7" y="1"/>
                    <a:pt x="4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2" y="28"/>
                    <a:pt x="3" y="28"/>
                    <a:pt x="4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Freeform 245"/>
            <p:cNvSpPr>
              <a:spLocks noEditPoints="1"/>
            </p:cNvSpPr>
            <p:nvPr/>
          </p:nvSpPr>
          <p:spPr bwMode="auto">
            <a:xfrm>
              <a:off x="7058307" y="1859447"/>
              <a:ext cx="394679" cy="348055"/>
            </a:xfrm>
            <a:custGeom>
              <a:avLst/>
              <a:gdLst>
                <a:gd name="T0" fmla="*/ 145 w 154"/>
                <a:gd name="T1" fmla="*/ 125 h 136"/>
                <a:gd name="T2" fmla="*/ 144 w 154"/>
                <a:gd name="T3" fmla="*/ 125 h 136"/>
                <a:gd name="T4" fmla="*/ 144 w 154"/>
                <a:gd name="T5" fmla="*/ 127 h 136"/>
                <a:gd name="T6" fmla="*/ 10 w 154"/>
                <a:gd name="T7" fmla="*/ 127 h 136"/>
                <a:gd name="T8" fmla="*/ 10 w 154"/>
                <a:gd name="T9" fmla="*/ 34 h 136"/>
                <a:gd name="T10" fmla="*/ 144 w 154"/>
                <a:gd name="T11" fmla="*/ 34 h 136"/>
                <a:gd name="T12" fmla="*/ 144 w 154"/>
                <a:gd name="T13" fmla="*/ 43 h 136"/>
                <a:gd name="T14" fmla="*/ 145 w 154"/>
                <a:gd name="T15" fmla="*/ 43 h 136"/>
                <a:gd name="T16" fmla="*/ 154 w 154"/>
                <a:gd name="T17" fmla="*/ 44 h 136"/>
                <a:gd name="T18" fmla="*/ 154 w 154"/>
                <a:gd name="T19" fmla="*/ 5 h 136"/>
                <a:gd name="T20" fmla="*/ 149 w 154"/>
                <a:gd name="T21" fmla="*/ 0 h 136"/>
                <a:gd name="T22" fmla="*/ 5 w 154"/>
                <a:gd name="T23" fmla="*/ 0 h 136"/>
                <a:gd name="T24" fmla="*/ 0 w 154"/>
                <a:gd name="T25" fmla="*/ 5 h 136"/>
                <a:gd name="T26" fmla="*/ 0 w 154"/>
                <a:gd name="T27" fmla="*/ 132 h 136"/>
                <a:gd name="T28" fmla="*/ 5 w 154"/>
                <a:gd name="T29" fmla="*/ 136 h 136"/>
                <a:gd name="T30" fmla="*/ 149 w 154"/>
                <a:gd name="T31" fmla="*/ 136 h 136"/>
                <a:gd name="T32" fmla="*/ 154 w 154"/>
                <a:gd name="T33" fmla="*/ 132 h 136"/>
                <a:gd name="T34" fmla="*/ 154 w 154"/>
                <a:gd name="T35" fmla="*/ 124 h 136"/>
                <a:gd name="T36" fmla="*/ 145 w 154"/>
                <a:gd name="T37" fmla="*/ 125 h 136"/>
                <a:gd name="T38" fmla="*/ 137 w 154"/>
                <a:gd name="T39" fmla="*/ 10 h 136"/>
                <a:gd name="T40" fmla="*/ 144 w 154"/>
                <a:gd name="T41" fmla="*/ 17 h 136"/>
                <a:gd name="T42" fmla="*/ 137 w 154"/>
                <a:gd name="T43" fmla="*/ 23 h 136"/>
                <a:gd name="T44" fmla="*/ 131 w 154"/>
                <a:gd name="T45" fmla="*/ 17 h 136"/>
                <a:gd name="T46" fmla="*/ 137 w 154"/>
                <a:gd name="T47" fmla="*/ 10 h 136"/>
                <a:gd name="T48" fmla="*/ 118 w 154"/>
                <a:gd name="T49" fmla="*/ 10 h 136"/>
                <a:gd name="T50" fmla="*/ 125 w 154"/>
                <a:gd name="T51" fmla="*/ 17 h 136"/>
                <a:gd name="T52" fmla="*/ 118 w 154"/>
                <a:gd name="T53" fmla="*/ 23 h 136"/>
                <a:gd name="T54" fmla="*/ 112 w 154"/>
                <a:gd name="T55" fmla="*/ 17 h 136"/>
                <a:gd name="T56" fmla="*/ 118 w 154"/>
                <a:gd name="T57" fmla="*/ 10 h 136"/>
                <a:gd name="T58" fmla="*/ 99 w 154"/>
                <a:gd name="T59" fmla="*/ 10 h 136"/>
                <a:gd name="T60" fmla="*/ 106 w 154"/>
                <a:gd name="T61" fmla="*/ 17 h 136"/>
                <a:gd name="T62" fmla="*/ 99 w 154"/>
                <a:gd name="T63" fmla="*/ 23 h 136"/>
                <a:gd name="T64" fmla="*/ 93 w 154"/>
                <a:gd name="T65" fmla="*/ 17 h 136"/>
                <a:gd name="T66" fmla="*/ 99 w 154"/>
                <a:gd name="T67" fmla="*/ 1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54" h="136">
                  <a:moveTo>
                    <a:pt x="145" y="125"/>
                  </a:moveTo>
                  <a:cubicBezTo>
                    <a:pt x="144" y="125"/>
                    <a:pt x="144" y="125"/>
                    <a:pt x="144" y="125"/>
                  </a:cubicBezTo>
                  <a:cubicBezTo>
                    <a:pt x="144" y="127"/>
                    <a:pt x="144" y="127"/>
                    <a:pt x="144" y="127"/>
                  </a:cubicBezTo>
                  <a:cubicBezTo>
                    <a:pt x="10" y="127"/>
                    <a:pt x="10" y="127"/>
                    <a:pt x="10" y="127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4" y="43"/>
                    <a:pt x="144" y="43"/>
                    <a:pt x="144" y="43"/>
                  </a:cubicBezTo>
                  <a:cubicBezTo>
                    <a:pt x="144" y="43"/>
                    <a:pt x="144" y="43"/>
                    <a:pt x="145" y="43"/>
                  </a:cubicBezTo>
                  <a:cubicBezTo>
                    <a:pt x="148" y="43"/>
                    <a:pt x="151" y="43"/>
                    <a:pt x="154" y="44"/>
                  </a:cubicBezTo>
                  <a:cubicBezTo>
                    <a:pt x="154" y="5"/>
                    <a:pt x="154" y="5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132"/>
                    <a:pt x="0" y="132"/>
                    <a:pt x="0" y="132"/>
                  </a:cubicBezTo>
                  <a:cubicBezTo>
                    <a:pt x="0" y="134"/>
                    <a:pt x="2" y="136"/>
                    <a:pt x="5" y="136"/>
                  </a:cubicBezTo>
                  <a:cubicBezTo>
                    <a:pt x="149" y="136"/>
                    <a:pt x="149" y="136"/>
                    <a:pt x="149" y="136"/>
                  </a:cubicBezTo>
                  <a:cubicBezTo>
                    <a:pt x="152" y="136"/>
                    <a:pt x="154" y="134"/>
                    <a:pt x="154" y="132"/>
                  </a:cubicBezTo>
                  <a:cubicBezTo>
                    <a:pt x="154" y="124"/>
                    <a:pt x="154" y="124"/>
                    <a:pt x="154" y="124"/>
                  </a:cubicBezTo>
                  <a:cubicBezTo>
                    <a:pt x="151" y="124"/>
                    <a:pt x="148" y="125"/>
                    <a:pt x="145" y="125"/>
                  </a:cubicBezTo>
                  <a:close/>
                  <a:moveTo>
                    <a:pt x="137" y="10"/>
                  </a:moveTo>
                  <a:cubicBezTo>
                    <a:pt x="141" y="10"/>
                    <a:pt x="144" y="13"/>
                    <a:pt x="144" y="17"/>
                  </a:cubicBezTo>
                  <a:cubicBezTo>
                    <a:pt x="144" y="20"/>
                    <a:pt x="141" y="23"/>
                    <a:pt x="137" y="23"/>
                  </a:cubicBezTo>
                  <a:cubicBezTo>
                    <a:pt x="134" y="23"/>
                    <a:pt x="131" y="20"/>
                    <a:pt x="131" y="17"/>
                  </a:cubicBezTo>
                  <a:cubicBezTo>
                    <a:pt x="131" y="13"/>
                    <a:pt x="134" y="10"/>
                    <a:pt x="137" y="10"/>
                  </a:cubicBezTo>
                  <a:close/>
                  <a:moveTo>
                    <a:pt x="118" y="10"/>
                  </a:moveTo>
                  <a:cubicBezTo>
                    <a:pt x="122" y="10"/>
                    <a:pt x="125" y="13"/>
                    <a:pt x="125" y="17"/>
                  </a:cubicBezTo>
                  <a:cubicBezTo>
                    <a:pt x="125" y="20"/>
                    <a:pt x="122" y="23"/>
                    <a:pt x="118" y="23"/>
                  </a:cubicBezTo>
                  <a:cubicBezTo>
                    <a:pt x="115" y="23"/>
                    <a:pt x="112" y="20"/>
                    <a:pt x="112" y="17"/>
                  </a:cubicBezTo>
                  <a:cubicBezTo>
                    <a:pt x="112" y="13"/>
                    <a:pt x="115" y="10"/>
                    <a:pt x="118" y="10"/>
                  </a:cubicBezTo>
                  <a:close/>
                  <a:moveTo>
                    <a:pt x="99" y="10"/>
                  </a:moveTo>
                  <a:cubicBezTo>
                    <a:pt x="103" y="10"/>
                    <a:pt x="106" y="13"/>
                    <a:pt x="106" y="17"/>
                  </a:cubicBezTo>
                  <a:cubicBezTo>
                    <a:pt x="106" y="20"/>
                    <a:pt x="103" y="23"/>
                    <a:pt x="99" y="23"/>
                  </a:cubicBezTo>
                  <a:cubicBezTo>
                    <a:pt x="96" y="23"/>
                    <a:pt x="93" y="20"/>
                    <a:pt x="93" y="17"/>
                  </a:cubicBezTo>
                  <a:cubicBezTo>
                    <a:pt x="93" y="13"/>
                    <a:pt x="96" y="10"/>
                    <a:pt x="99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Freeform 246"/>
            <p:cNvSpPr>
              <a:spLocks noEditPoints="1"/>
            </p:cNvSpPr>
            <p:nvPr/>
          </p:nvSpPr>
          <p:spPr bwMode="auto">
            <a:xfrm>
              <a:off x="7335884" y="1979802"/>
              <a:ext cx="258060" cy="210351"/>
            </a:xfrm>
            <a:custGeom>
              <a:avLst/>
              <a:gdLst>
                <a:gd name="T0" fmla="*/ 96 w 101"/>
                <a:gd name="T1" fmla="*/ 68 h 82"/>
                <a:gd name="T2" fmla="*/ 77 w 101"/>
                <a:gd name="T3" fmla="*/ 55 h 82"/>
                <a:gd name="T4" fmla="*/ 71 w 101"/>
                <a:gd name="T5" fmla="*/ 54 h 82"/>
                <a:gd name="T6" fmla="*/ 69 w 101"/>
                <a:gd name="T7" fmla="*/ 55 h 82"/>
                <a:gd name="T8" fmla="*/ 66 w 101"/>
                <a:gd name="T9" fmla="*/ 53 h 82"/>
                <a:gd name="T10" fmla="*/ 69 w 101"/>
                <a:gd name="T11" fmla="*/ 29 h 82"/>
                <a:gd name="T12" fmla="*/ 29 w 101"/>
                <a:gd name="T13" fmla="*/ 4 h 82"/>
                <a:gd name="T14" fmla="*/ 4 w 101"/>
                <a:gd name="T15" fmla="*/ 45 h 82"/>
                <a:gd name="T16" fmla="*/ 45 w 101"/>
                <a:gd name="T17" fmla="*/ 70 h 82"/>
                <a:gd name="T18" fmla="*/ 62 w 101"/>
                <a:gd name="T19" fmla="*/ 59 h 82"/>
                <a:gd name="T20" fmla="*/ 66 w 101"/>
                <a:gd name="T21" fmla="*/ 61 h 82"/>
                <a:gd name="T22" fmla="*/ 69 w 101"/>
                <a:gd name="T23" fmla="*/ 68 h 82"/>
                <a:gd name="T24" fmla="*/ 88 w 101"/>
                <a:gd name="T25" fmla="*/ 80 h 82"/>
                <a:gd name="T26" fmla="*/ 94 w 101"/>
                <a:gd name="T27" fmla="*/ 81 h 82"/>
                <a:gd name="T28" fmla="*/ 99 w 101"/>
                <a:gd name="T29" fmla="*/ 78 h 82"/>
                <a:gd name="T30" fmla="*/ 96 w 101"/>
                <a:gd name="T31" fmla="*/ 68 h 82"/>
                <a:gd name="T32" fmla="*/ 42 w 101"/>
                <a:gd name="T33" fmla="*/ 58 h 82"/>
                <a:gd name="T34" fmla="*/ 16 w 101"/>
                <a:gd name="T35" fmla="*/ 42 h 82"/>
                <a:gd name="T36" fmla="*/ 32 w 101"/>
                <a:gd name="T37" fmla="*/ 16 h 82"/>
                <a:gd name="T38" fmla="*/ 58 w 101"/>
                <a:gd name="T39" fmla="*/ 32 h 82"/>
                <a:gd name="T40" fmla="*/ 42 w 101"/>
                <a:gd name="T41" fmla="*/ 58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2">
                  <a:moveTo>
                    <a:pt x="96" y="68"/>
                  </a:moveTo>
                  <a:cubicBezTo>
                    <a:pt x="77" y="55"/>
                    <a:pt x="77" y="55"/>
                    <a:pt x="77" y="55"/>
                  </a:cubicBezTo>
                  <a:cubicBezTo>
                    <a:pt x="75" y="54"/>
                    <a:pt x="73" y="54"/>
                    <a:pt x="71" y="54"/>
                  </a:cubicBezTo>
                  <a:cubicBezTo>
                    <a:pt x="71" y="54"/>
                    <a:pt x="70" y="55"/>
                    <a:pt x="69" y="55"/>
                  </a:cubicBezTo>
                  <a:cubicBezTo>
                    <a:pt x="66" y="53"/>
                    <a:pt x="66" y="53"/>
                    <a:pt x="66" y="53"/>
                  </a:cubicBezTo>
                  <a:cubicBezTo>
                    <a:pt x="70" y="46"/>
                    <a:pt x="71" y="37"/>
                    <a:pt x="69" y="29"/>
                  </a:cubicBezTo>
                  <a:cubicBezTo>
                    <a:pt x="65" y="11"/>
                    <a:pt x="47" y="0"/>
                    <a:pt x="29" y="4"/>
                  </a:cubicBezTo>
                  <a:cubicBezTo>
                    <a:pt x="11" y="9"/>
                    <a:pt x="0" y="27"/>
                    <a:pt x="4" y="45"/>
                  </a:cubicBezTo>
                  <a:cubicBezTo>
                    <a:pt x="8" y="63"/>
                    <a:pt x="27" y="74"/>
                    <a:pt x="45" y="70"/>
                  </a:cubicBezTo>
                  <a:cubicBezTo>
                    <a:pt x="52" y="68"/>
                    <a:pt x="58" y="64"/>
                    <a:pt x="62" y="59"/>
                  </a:cubicBezTo>
                  <a:cubicBezTo>
                    <a:pt x="66" y="61"/>
                    <a:pt x="66" y="61"/>
                    <a:pt x="66" y="61"/>
                  </a:cubicBezTo>
                  <a:cubicBezTo>
                    <a:pt x="65" y="63"/>
                    <a:pt x="67" y="66"/>
                    <a:pt x="69" y="68"/>
                  </a:cubicBezTo>
                  <a:cubicBezTo>
                    <a:pt x="88" y="80"/>
                    <a:pt x="88" y="80"/>
                    <a:pt x="88" y="80"/>
                  </a:cubicBezTo>
                  <a:cubicBezTo>
                    <a:pt x="90" y="81"/>
                    <a:pt x="92" y="82"/>
                    <a:pt x="94" y="81"/>
                  </a:cubicBezTo>
                  <a:cubicBezTo>
                    <a:pt x="96" y="81"/>
                    <a:pt x="98" y="80"/>
                    <a:pt x="99" y="78"/>
                  </a:cubicBezTo>
                  <a:cubicBezTo>
                    <a:pt x="101" y="75"/>
                    <a:pt x="100" y="70"/>
                    <a:pt x="96" y="68"/>
                  </a:cubicBezTo>
                  <a:close/>
                  <a:moveTo>
                    <a:pt x="42" y="58"/>
                  </a:moveTo>
                  <a:cubicBezTo>
                    <a:pt x="30" y="61"/>
                    <a:pt x="19" y="54"/>
                    <a:pt x="16" y="42"/>
                  </a:cubicBezTo>
                  <a:cubicBezTo>
                    <a:pt x="13" y="30"/>
                    <a:pt x="20" y="19"/>
                    <a:pt x="32" y="16"/>
                  </a:cubicBezTo>
                  <a:cubicBezTo>
                    <a:pt x="43" y="13"/>
                    <a:pt x="55" y="20"/>
                    <a:pt x="58" y="32"/>
                  </a:cubicBezTo>
                  <a:cubicBezTo>
                    <a:pt x="60" y="43"/>
                    <a:pt x="53" y="55"/>
                    <a:pt x="42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47624" y="3830259"/>
            <a:ext cx="1731479" cy="551244"/>
            <a:chOff x="47624" y="3830259"/>
            <a:chExt cx="1731479" cy="551244"/>
          </a:xfrm>
        </p:grpSpPr>
        <p:sp>
          <p:nvSpPr>
            <p:cNvPr id="38" name="直角三角形 37"/>
            <p:cNvSpPr/>
            <p:nvPr/>
          </p:nvSpPr>
          <p:spPr>
            <a:xfrm rot="16200000" flipH="1">
              <a:off x="41676" y="4283478"/>
              <a:ext cx="103975" cy="92075"/>
            </a:xfrm>
            <a:prstGeom prst="rt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小米兰亭" panose="02010600030101010101"/>
                <a:ea typeface="小米兰亭" panose="02010600030101010101"/>
                <a:cs typeface="+mn-cs"/>
              </a:endParaRPr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47624" y="3830259"/>
              <a:ext cx="1731479" cy="447270"/>
              <a:chOff x="47624" y="3415393"/>
              <a:chExt cx="1731479" cy="447270"/>
            </a:xfrm>
          </p:grpSpPr>
          <p:sp>
            <p:nvSpPr>
              <p:cNvPr id="58" name="五边形 63"/>
              <p:cNvSpPr/>
              <p:nvPr/>
            </p:nvSpPr>
            <p:spPr>
              <a:xfrm>
                <a:off x="47624" y="3415393"/>
                <a:ext cx="1731479" cy="447270"/>
              </a:xfrm>
              <a:prstGeom prst="homePlate">
                <a:avLst/>
              </a:prstGeom>
              <a:solidFill>
                <a:srgbClr val="E3E7EC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小米兰亭" panose="02010600030101010101"/>
                  <a:ea typeface="小米兰亭" panose="02010600030101010101"/>
                  <a:cs typeface="+mn-cs"/>
                </a:endParaRPr>
              </a:p>
            </p:txBody>
          </p:sp>
          <p:sp>
            <p:nvSpPr>
              <p:cNvPr id="59" name="矩形 58"/>
              <p:cNvSpPr/>
              <p:nvPr/>
            </p:nvSpPr>
            <p:spPr>
              <a:xfrm>
                <a:off x="507007" y="3462807"/>
                <a:ext cx="110799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:r>
                  <a:rPr lang="zh-CN" altLang="en-US" dirty="0">
                    <a:solidFill>
                      <a:srgbClr val="44546A"/>
                    </a:solidFill>
                  </a:rPr>
                  <a:t>课后拓展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小米兰亭" panose="02010600030101010101"/>
                  <a:ea typeface="小米兰亭" panose="02010600030101010101"/>
                  <a:cs typeface="+mn-cs"/>
                </a:endParaRP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230536" y="3914717"/>
              <a:ext cx="257258" cy="295243"/>
              <a:chOff x="2733098" y="4187405"/>
              <a:chExt cx="484675" cy="556238"/>
            </a:xfrm>
            <a:solidFill>
              <a:schemeClr val="accent5"/>
            </a:solidFill>
          </p:grpSpPr>
          <p:sp>
            <p:nvSpPr>
              <p:cNvPr id="41" name="Oval 302"/>
              <p:cNvSpPr>
                <a:spLocks noChangeArrowheads="1"/>
              </p:cNvSpPr>
              <p:nvPr/>
            </p:nvSpPr>
            <p:spPr bwMode="auto">
              <a:xfrm>
                <a:off x="2849117" y="4187405"/>
                <a:ext cx="84574" cy="10734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" name="Freeform 303"/>
              <p:cNvSpPr>
                <a:spLocks noEditPoints="1"/>
              </p:cNvSpPr>
              <p:nvPr/>
            </p:nvSpPr>
            <p:spPr bwMode="auto">
              <a:xfrm>
                <a:off x="2733098" y="4304508"/>
                <a:ext cx="310105" cy="439135"/>
              </a:xfrm>
              <a:custGeom>
                <a:avLst/>
                <a:gdLst>
                  <a:gd name="T0" fmla="*/ 121 w 121"/>
                  <a:gd name="T1" fmla="*/ 26 h 171"/>
                  <a:gd name="T2" fmla="*/ 120 w 121"/>
                  <a:gd name="T3" fmla="*/ 26 h 171"/>
                  <a:gd name="T4" fmla="*/ 114 w 121"/>
                  <a:gd name="T5" fmla="*/ 21 h 171"/>
                  <a:gd name="T6" fmla="*/ 90 w 121"/>
                  <a:gd name="T7" fmla="*/ 3 h 171"/>
                  <a:gd name="T8" fmla="*/ 84 w 121"/>
                  <a:gd name="T9" fmla="*/ 1 h 171"/>
                  <a:gd name="T10" fmla="*/ 76 w 121"/>
                  <a:gd name="T11" fmla="*/ 1 h 171"/>
                  <a:gd name="T12" fmla="*/ 74 w 121"/>
                  <a:gd name="T13" fmla="*/ 11 h 171"/>
                  <a:gd name="T14" fmla="*/ 67 w 121"/>
                  <a:gd name="T15" fmla="*/ 42 h 171"/>
                  <a:gd name="T16" fmla="*/ 67 w 121"/>
                  <a:gd name="T17" fmla="*/ 7 h 171"/>
                  <a:gd name="T18" fmla="*/ 58 w 121"/>
                  <a:gd name="T19" fmla="*/ 0 h 171"/>
                  <a:gd name="T20" fmla="*/ 58 w 121"/>
                  <a:gd name="T21" fmla="*/ 9 h 171"/>
                  <a:gd name="T22" fmla="*/ 45 w 121"/>
                  <a:gd name="T23" fmla="*/ 18 h 171"/>
                  <a:gd name="T24" fmla="*/ 40 w 121"/>
                  <a:gd name="T25" fmla="*/ 7 h 171"/>
                  <a:gd name="T26" fmla="*/ 47 w 121"/>
                  <a:gd name="T27" fmla="*/ 0 h 171"/>
                  <a:gd name="T28" fmla="*/ 38 w 121"/>
                  <a:gd name="T29" fmla="*/ 1 h 171"/>
                  <a:gd name="T30" fmla="*/ 3 w 121"/>
                  <a:gd name="T31" fmla="*/ 35 h 171"/>
                  <a:gd name="T32" fmla="*/ 3 w 121"/>
                  <a:gd name="T33" fmla="*/ 36 h 171"/>
                  <a:gd name="T34" fmla="*/ 1 w 121"/>
                  <a:gd name="T35" fmla="*/ 48 h 171"/>
                  <a:gd name="T36" fmla="*/ 2 w 121"/>
                  <a:gd name="T37" fmla="*/ 48 h 171"/>
                  <a:gd name="T38" fmla="*/ 2 w 121"/>
                  <a:gd name="T39" fmla="*/ 50 h 171"/>
                  <a:gd name="T40" fmla="*/ 6 w 121"/>
                  <a:gd name="T41" fmla="*/ 57 h 171"/>
                  <a:gd name="T42" fmla="*/ 20 w 121"/>
                  <a:gd name="T43" fmla="*/ 85 h 171"/>
                  <a:gd name="T44" fmla="*/ 33 w 121"/>
                  <a:gd name="T45" fmla="*/ 90 h 171"/>
                  <a:gd name="T46" fmla="*/ 35 w 121"/>
                  <a:gd name="T47" fmla="*/ 90 h 171"/>
                  <a:gd name="T48" fmla="*/ 60 w 121"/>
                  <a:gd name="T49" fmla="*/ 171 h 171"/>
                  <a:gd name="T50" fmla="*/ 56 w 121"/>
                  <a:gd name="T51" fmla="*/ 110 h 171"/>
                  <a:gd name="T52" fmla="*/ 89 w 121"/>
                  <a:gd name="T53" fmla="*/ 33 h 171"/>
                  <a:gd name="T54" fmla="*/ 93 w 121"/>
                  <a:gd name="T55" fmla="*/ 31 h 171"/>
                  <a:gd name="T56" fmla="*/ 75 w 121"/>
                  <a:gd name="T57" fmla="*/ 45 h 171"/>
                  <a:gd name="T58" fmla="*/ 89 w 121"/>
                  <a:gd name="T59" fmla="*/ 33 h 171"/>
                  <a:gd name="T60" fmla="*/ 30 w 121"/>
                  <a:gd name="T61" fmla="*/ 55 h 171"/>
                  <a:gd name="T62" fmla="*/ 24 w 121"/>
                  <a:gd name="T63" fmla="*/ 44 h 171"/>
                  <a:gd name="T64" fmla="*/ 33 w 121"/>
                  <a:gd name="T65" fmla="*/ 60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1" h="171">
                    <a:moveTo>
                      <a:pt x="120" y="42"/>
                    </a:moveTo>
                    <a:cubicBezTo>
                      <a:pt x="120" y="35"/>
                      <a:pt x="121" y="24"/>
                      <a:pt x="121" y="26"/>
                    </a:cubicBezTo>
                    <a:cubicBezTo>
                      <a:pt x="121" y="26"/>
                      <a:pt x="121" y="26"/>
                      <a:pt x="121" y="26"/>
                    </a:cubicBezTo>
                    <a:cubicBezTo>
                      <a:pt x="120" y="26"/>
                      <a:pt x="120" y="26"/>
                      <a:pt x="120" y="26"/>
                    </a:cubicBezTo>
                    <a:cubicBezTo>
                      <a:pt x="118" y="24"/>
                      <a:pt x="118" y="24"/>
                      <a:pt x="118" y="24"/>
                    </a:cubicBezTo>
                    <a:cubicBezTo>
                      <a:pt x="114" y="21"/>
                      <a:pt x="114" y="21"/>
                      <a:pt x="114" y="21"/>
                    </a:cubicBezTo>
                    <a:cubicBezTo>
                      <a:pt x="106" y="15"/>
                      <a:pt x="106" y="15"/>
                      <a:pt x="106" y="15"/>
                    </a:cubicBezTo>
                    <a:cubicBezTo>
                      <a:pt x="90" y="3"/>
                      <a:pt x="90" y="3"/>
                      <a:pt x="90" y="3"/>
                    </a:cubicBezTo>
                    <a:cubicBezTo>
                      <a:pt x="88" y="2"/>
                      <a:pt x="86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1" y="1"/>
                      <a:pt x="78" y="1"/>
                      <a:pt x="76" y="0"/>
                    </a:cubicBezTo>
                    <a:cubicBezTo>
                      <a:pt x="76" y="1"/>
                      <a:pt x="76" y="1"/>
                      <a:pt x="76" y="1"/>
                    </a:cubicBezTo>
                    <a:cubicBezTo>
                      <a:pt x="83" y="7"/>
                      <a:pt x="83" y="7"/>
                      <a:pt x="83" y="7"/>
                    </a:cubicBezTo>
                    <a:cubicBezTo>
                      <a:pt x="74" y="11"/>
                      <a:pt x="74" y="11"/>
                      <a:pt x="74" y="11"/>
                    </a:cubicBezTo>
                    <a:cubicBezTo>
                      <a:pt x="78" y="18"/>
                      <a:pt x="78" y="18"/>
                      <a:pt x="78" y="18"/>
                    </a:cubicBezTo>
                    <a:cubicBezTo>
                      <a:pt x="67" y="42"/>
                      <a:pt x="67" y="42"/>
                      <a:pt x="67" y="42"/>
                    </a:cubicBezTo>
                    <a:cubicBezTo>
                      <a:pt x="65" y="9"/>
                      <a:pt x="65" y="9"/>
                      <a:pt x="65" y="9"/>
                    </a:cubicBezTo>
                    <a:cubicBezTo>
                      <a:pt x="67" y="7"/>
                      <a:pt x="67" y="7"/>
                      <a:pt x="67" y="7"/>
                    </a:cubicBezTo>
                    <a:cubicBezTo>
                      <a:pt x="65" y="0"/>
                      <a:pt x="65" y="0"/>
                      <a:pt x="65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6" y="7"/>
                      <a:pt x="56" y="7"/>
                      <a:pt x="56" y="7"/>
                    </a:cubicBezTo>
                    <a:cubicBezTo>
                      <a:pt x="58" y="9"/>
                      <a:pt x="58" y="9"/>
                      <a:pt x="58" y="9"/>
                    </a:cubicBezTo>
                    <a:cubicBezTo>
                      <a:pt x="56" y="42"/>
                      <a:pt x="56" y="42"/>
                      <a:pt x="56" y="42"/>
                    </a:cubicBezTo>
                    <a:cubicBezTo>
                      <a:pt x="45" y="18"/>
                      <a:pt x="45" y="18"/>
                      <a:pt x="45" y="18"/>
                    </a:cubicBezTo>
                    <a:cubicBezTo>
                      <a:pt x="49" y="11"/>
                      <a:pt x="49" y="11"/>
                      <a:pt x="49" y="11"/>
                    </a:cubicBezTo>
                    <a:cubicBezTo>
                      <a:pt x="40" y="7"/>
                      <a:pt x="40" y="7"/>
                      <a:pt x="40" y="7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5" y="1"/>
                      <a:pt x="42" y="1"/>
                      <a:pt x="39" y="1"/>
                    </a:cubicBezTo>
                    <a:cubicBezTo>
                      <a:pt x="39" y="1"/>
                      <a:pt x="39" y="1"/>
                      <a:pt x="38" y="1"/>
                    </a:cubicBezTo>
                    <a:cubicBezTo>
                      <a:pt x="36" y="2"/>
                      <a:pt x="33" y="3"/>
                      <a:pt x="31" y="5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3" y="36"/>
                      <a:pt x="3" y="36"/>
                      <a:pt x="3" y="36"/>
                    </a:cubicBezTo>
                    <a:cubicBezTo>
                      <a:pt x="3" y="36"/>
                      <a:pt x="3" y="36"/>
                      <a:pt x="3" y="36"/>
                    </a:cubicBezTo>
                    <a:cubicBezTo>
                      <a:pt x="0" y="60"/>
                      <a:pt x="2" y="42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6" y="57"/>
                      <a:pt x="6" y="57"/>
                      <a:pt x="6" y="57"/>
                    </a:cubicBezTo>
                    <a:cubicBezTo>
                      <a:pt x="11" y="66"/>
                      <a:pt x="11" y="66"/>
                      <a:pt x="11" y="66"/>
                    </a:cubicBezTo>
                    <a:cubicBezTo>
                      <a:pt x="20" y="85"/>
                      <a:pt x="20" y="85"/>
                      <a:pt x="20" y="85"/>
                    </a:cubicBezTo>
                    <a:cubicBezTo>
                      <a:pt x="24" y="82"/>
                      <a:pt x="29" y="80"/>
                      <a:pt x="33" y="78"/>
                    </a:cubicBezTo>
                    <a:cubicBezTo>
                      <a:pt x="33" y="82"/>
                      <a:pt x="33" y="86"/>
                      <a:pt x="33" y="90"/>
                    </a:cubicBezTo>
                    <a:cubicBezTo>
                      <a:pt x="33" y="90"/>
                      <a:pt x="33" y="90"/>
                      <a:pt x="33" y="90"/>
                    </a:cubicBezTo>
                    <a:cubicBezTo>
                      <a:pt x="33" y="90"/>
                      <a:pt x="34" y="90"/>
                      <a:pt x="35" y="90"/>
                    </a:cubicBezTo>
                    <a:cubicBezTo>
                      <a:pt x="37" y="171"/>
                      <a:pt x="37" y="171"/>
                      <a:pt x="37" y="171"/>
                    </a:cubicBezTo>
                    <a:cubicBezTo>
                      <a:pt x="60" y="171"/>
                      <a:pt x="60" y="171"/>
                      <a:pt x="60" y="171"/>
                    </a:cubicBezTo>
                    <a:cubicBezTo>
                      <a:pt x="61" y="161"/>
                      <a:pt x="61" y="148"/>
                      <a:pt x="61" y="134"/>
                    </a:cubicBezTo>
                    <a:cubicBezTo>
                      <a:pt x="58" y="127"/>
                      <a:pt x="56" y="118"/>
                      <a:pt x="56" y="110"/>
                    </a:cubicBezTo>
                    <a:cubicBezTo>
                      <a:pt x="56" y="74"/>
                      <a:pt x="84" y="44"/>
                      <a:pt x="120" y="42"/>
                    </a:cubicBezTo>
                    <a:close/>
                    <a:moveTo>
                      <a:pt x="89" y="33"/>
                    </a:moveTo>
                    <a:cubicBezTo>
                      <a:pt x="89" y="31"/>
                      <a:pt x="89" y="29"/>
                      <a:pt x="89" y="27"/>
                    </a:cubicBezTo>
                    <a:cubicBezTo>
                      <a:pt x="93" y="31"/>
                      <a:pt x="93" y="31"/>
                      <a:pt x="93" y="31"/>
                    </a:cubicBezTo>
                    <a:cubicBezTo>
                      <a:pt x="96" y="33"/>
                      <a:pt x="96" y="33"/>
                      <a:pt x="96" y="33"/>
                    </a:cubicBezTo>
                    <a:cubicBezTo>
                      <a:pt x="75" y="45"/>
                      <a:pt x="75" y="45"/>
                      <a:pt x="75" y="45"/>
                    </a:cubicBezTo>
                    <a:cubicBezTo>
                      <a:pt x="74" y="42"/>
                      <a:pt x="74" y="42"/>
                      <a:pt x="74" y="42"/>
                    </a:cubicBezTo>
                    <a:lnTo>
                      <a:pt x="89" y="33"/>
                    </a:lnTo>
                    <a:close/>
                    <a:moveTo>
                      <a:pt x="33" y="60"/>
                    </a:moveTo>
                    <a:cubicBezTo>
                      <a:pt x="30" y="55"/>
                      <a:pt x="30" y="55"/>
                      <a:pt x="30" y="55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4" y="44"/>
                      <a:pt x="24" y="44"/>
                      <a:pt x="24" y="44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41"/>
                      <a:pt x="33" y="50"/>
                      <a:pt x="33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" name="Freeform 304"/>
              <p:cNvSpPr/>
              <p:nvPr/>
            </p:nvSpPr>
            <p:spPr bwMode="auto">
              <a:xfrm>
                <a:off x="2897909" y="4668827"/>
                <a:ext cx="60720" cy="74816"/>
              </a:xfrm>
              <a:custGeom>
                <a:avLst/>
                <a:gdLst>
                  <a:gd name="T0" fmla="*/ 0 w 24"/>
                  <a:gd name="T1" fmla="*/ 0 h 29"/>
                  <a:gd name="T2" fmla="*/ 1 w 24"/>
                  <a:gd name="T3" fmla="*/ 29 h 29"/>
                  <a:gd name="T4" fmla="*/ 24 w 24"/>
                  <a:gd name="T5" fmla="*/ 29 h 29"/>
                  <a:gd name="T6" fmla="*/ 24 w 24"/>
                  <a:gd name="T7" fmla="*/ 26 h 29"/>
                  <a:gd name="T8" fmla="*/ 0 w 24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9">
                    <a:moveTo>
                      <a:pt x="0" y="0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28"/>
                      <a:pt x="24" y="27"/>
                      <a:pt x="24" y="26"/>
                    </a:cubicBezTo>
                    <a:cubicBezTo>
                      <a:pt x="14" y="19"/>
                      <a:pt x="6" y="1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" name="Freeform 305"/>
              <p:cNvSpPr/>
              <p:nvPr/>
            </p:nvSpPr>
            <p:spPr bwMode="auto">
              <a:xfrm>
                <a:off x="3035614" y="4422694"/>
                <a:ext cx="54214" cy="41203"/>
              </a:xfrm>
              <a:custGeom>
                <a:avLst/>
                <a:gdLst>
                  <a:gd name="T0" fmla="*/ 43 w 50"/>
                  <a:gd name="T1" fmla="*/ 0 h 38"/>
                  <a:gd name="T2" fmla="*/ 36 w 50"/>
                  <a:gd name="T3" fmla="*/ 0 h 38"/>
                  <a:gd name="T4" fmla="*/ 14 w 50"/>
                  <a:gd name="T5" fmla="*/ 0 h 38"/>
                  <a:gd name="T6" fmla="*/ 7 w 50"/>
                  <a:gd name="T7" fmla="*/ 0 h 38"/>
                  <a:gd name="T8" fmla="*/ 0 w 50"/>
                  <a:gd name="T9" fmla="*/ 38 h 38"/>
                  <a:gd name="T10" fmla="*/ 14 w 50"/>
                  <a:gd name="T11" fmla="*/ 38 h 38"/>
                  <a:gd name="T12" fmla="*/ 36 w 50"/>
                  <a:gd name="T13" fmla="*/ 38 h 38"/>
                  <a:gd name="T14" fmla="*/ 50 w 50"/>
                  <a:gd name="T15" fmla="*/ 38 h 38"/>
                  <a:gd name="T16" fmla="*/ 43 w 50"/>
                  <a:gd name="T1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0" h="38">
                    <a:moveTo>
                      <a:pt x="43" y="0"/>
                    </a:moveTo>
                    <a:lnTo>
                      <a:pt x="36" y="0"/>
                    </a:lnTo>
                    <a:lnTo>
                      <a:pt x="14" y="0"/>
                    </a:lnTo>
                    <a:lnTo>
                      <a:pt x="7" y="0"/>
                    </a:lnTo>
                    <a:lnTo>
                      <a:pt x="0" y="38"/>
                    </a:lnTo>
                    <a:lnTo>
                      <a:pt x="14" y="38"/>
                    </a:lnTo>
                    <a:lnTo>
                      <a:pt x="36" y="38"/>
                    </a:lnTo>
                    <a:lnTo>
                      <a:pt x="50" y="38"/>
                    </a:lnTo>
                    <a:lnTo>
                      <a:pt x="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5" name="Freeform 306"/>
              <p:cNvSpPr/>
              <p:nvPr/>
            </p:nvSpPr>
            <p:spPr bwMode="auto">
              <a:xfrm>
                <a:off x="2964051" y="4430285"/>
                <a:ext cx="61805" cy="59636"/>
              </a:xfrm>
              <a:custGeom>
                <a:avLst/>
                <a:gdLst>
                  <a:gd name="T0" fmla="*/ 33 w 57"/>
                  <a:gd name="T1" fmla="*/ 0 h 55"/>
                  <a:gd name="T2" fmla="*/ 26 w 57"/>
                  <a:gd name="T3" fmla="*/ 5 h 55"/>
                  <a:gd name="T4" fmla="*/ 7 w 57"/>
                  <a:gd name="T5" fmla="*/ 14 h 55"/>
                  <a:gd name="T6" fmla="*/ 0 w 57"/>
                  <a:gd name="T7" fmla="*/ 19 h 55"/>
                  <a:gd name="T8" fmla="*/ 14 w 57"/>
                  <a:gd name="T9" fmla="*/ 55 h 55"/>
                  <a:gd name="T10" fmla="*/ 28 w 57"/>
                  <a:gd name="T11" fmla="*/ 47 h 55"/>
                  <a:gd name="T12" fmla="*/ 45 w 57"/>
                  <a:gd name="T13" fmla="*/ 38 h 55"/>
                  <a:gd name="T14" fmla="*/ 57 w 57"/>
                  <a:gd name="T15" fmla="*/ 31 h 55"/>
                  <a:gd name="T16" fmla="*/ 33 w 57"/>
                  <a:gd name="T17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7" h="55">
                    <a:moveTo>
                      <a:pt x="33" y="0"/>
                    </a:moveTo>
                    <a:lnTo>
                      <a:pt x="26" y="5"/>
                    </a:lnTo>
                    <a:lnTo>
                      <a:pt x="7" y="14"/>
                    </a:lnTo>
                    <a:lnTo>
                      <a:pt x="0" y="19"/>
                    </a:lnTo>
                    <a:lnTo>
                      <a:pt x="14" y="55"/>
                    </a:lnTo>
                    <a:lnTo>
                      <a:pt x="28" y="47"/>
                    </a:lnTo>
                    <a:lnTo>
                      <a:pt x="45" y="38"/>
                    </a:lnTo>
                    <a:lnTo>
                      <a:pt x="57" y="31"/>
                    </a:lnTo>
                    <a:lnTo>
                      <a:pt x="3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6" name="Freeform 307"/>
              <p:cNvSpPr/>
              <p:nvPr/>
            </p:nvSpPr>
            <p:spPr bwMode="auto">
              <a:xfrm>
                <a:off x="2909837" y="4479077"/>
                <a:ext cx="61805" cy="61805"/>
              </a:xfrm>
              <a:custGeom>
                <a:avLst/>
                <a:gdLst>
                  <a:gd name="T0" fmla="*/ 19 w 57"/>
                  <a:gd name="T1" fmla="*/ 0 h 57"/>
                  <a:gd name="T2" fmla="*/ 15 w 57"/>
                  <a:gd name="T3" fmla="*/ 7 h 57"/>
                  <a:gd name="T4" fmla="*/ 5 w 57"/>
                  <a:gd name="T5" fmla="*/ 26 h 57"/>
                  <a:gd name="T6" fmla="*/ 0 w 57"/>
                  <a:gd name="T7" fmla="*/ 33 h 57"/>
                  <a:gd name="T8" fmla="*/ 31 w 57"/>
                  <a:gd name="T9" fmla="*/ 57 h 57"/>
                  <a:gd name="T10" fmla="*/ 38 w 57"/>
                  <a:gd name="T11" fmla="*/ 45 h 57"/>
                  <a:gd name="T12" fmla="*/ 50 w 57"/>
                  <a:gd name="T13" fmla="*/ 26 h 57"/>
                  <a:gd name="T14" fmla="*/ 57 w 57"/>
                  <a:gd name="T15" fmla="*/ 14 h 57"/>
                  <a:gd name="T16" fmla="*/ 19 w 57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7" h="57">
                    <a:moveTo>
                      <a:pt x="19" y="0"/>
                    </a:moveTo>
                    <a:lnTo>
                      <a:pt x="15" y="7"/>
                    </a:lnTo>
                    <a:lnTo>
                      <a:pt x="5" y="26"/>
                    </a:lnTo>
                    <a:lnTo>
                      <a:pt x="0" y="33"/>
                    </a:lnTo>
                    <a:lnTo>
                      <a:pt x="31" y="57"/>
                    </a:lnTo>
                    <a:lnTo>
                      <a:pt x="38" y="45"/>
                    </a:lnTo>
                    <a:lnTo>
                      <a:pt x="50" y="26"/>
                    </a:lnTo>
                    <a:lnTo>
                      <a:pt x="57" y="14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7" name="Freeform 308"/>
              <p:cNvSpPr/>
              <p:nvPr/>
            </p:nvSpPr>
            <p:spPr bwMode="auto">
              <a:xfrm>
                <a:off x="2897909" y="4550640"/>
                <a:ext cx="40119" cy="52046"/>
              </a:xfrm>
              <a:custGeom>
                <a:avLst/>
                <a:gdLst>
                  <a:gd name="T0" fmla="*/ 0 w 37"/>
                  <a:gd name="T1" fmla="*/ 5 h 48"/>
                  <a:gd name="T2" fmla="*/ 0 w 37"/>
                  <a:gd name="T3" fmla="*/ 14 h 48"/>
                  <a:gd name="T4" fmla="*/ 0 w 37"/>
                  <a:gd name="T5" fmla="*/ 33 h 48"/>
                  <a:gd name="T6" fmla="*/ 0 w 37"/>
                  <a:gd name="T7" fmla="*/ 43 h 48"/>
                  <a:gd name="T8" fmla="*/ 37 w 37"/>
                  <a:gd name="T9" fmla="*/ 48 h 48"/>
                  <a:gd name="T10" fmla="*/ 37 w 37"/>
                  <a:gd name="T11" fmla="*/ 33 h 48"/>
                  <a:gd name="T12" fmla="*/ 37 w 37"/>
                  <a:gd name="T13" fmla="*/ 14 h 48"/>
                  <a:gd name="T14" fmla="*/ 37 w 37"/>
                  <a:gd name="T15" fmla="*/ 0 h 48"/>
                  <a:gd name="T16" fmla="*/ 0 w 37"/>
                  <a:gd name="T17" fmla="*/ 5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7" h="48">
                    <a:moveTo>
                      <a:pt x="0" y="5"/>
                    </a:moveTo>
                    <a:lnTo>
                      <a:pt x="0" y="14"/>
                    </a:lnTo>
                    <a:lnTo>
                      <a:pt x="0" y="33"/>
                    </a:lnTo>
                    <a:lnTo>
                      <a:pt x="0" y="43"/>
                    </a:lnTo>
                    <a:lnTo>
                      <a:pt x="37" y="48"/>
                    </a:lnTo>
                    <a:lnTo>
                      <a:pt x="37" y="33"/>
                    </a:lnTo>
                    <a:lnTo>
                      <a:pt x="37" y="14"/>
                    </a:lnTo>
                    <a:lnTo>
                      <a:pt x="37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" name="Freeform 309"/>
              <p:cNvSpPr/>
              <p:nvPr/>
            </p:nvSpPr>
            <p:spPr bwMode="auto">
              <a:xfrm>
                <a:off x="2905500" y="4612444"/>
                <a:ext cx="58551" cy="61805"/>
              </a:xfrm>
              <a:custGeom>
                <a:avLst/>
                <a:gdLst>
                  <a:gd name="T0" fmla="*/ 0 w 54"/>
                  <a:gd name="T1" fmla="*/ 26 h 57"/>
                  <a:gd name="T2" fmla="*/ 4 w 54"/>
                  <a:gd name="T3" fmla="*/ 33 h 57"/>
                  <a:gd name="T4" fmla="*/ 14 w 54"/>
                  <a:gd name="T5" fmla="*/ 50 h 57"/>
                  <a:gd name="T6" fmla="*/ 19 w 54"/>
                  <a:gd name="T7" fmla="*/ 57 h 57"/>
                  <a:gd name="T8" fmla="*/ 54 w 54"/>
                  <a:gd name="T9" fmla="*/ 43 h 57"/>
                  <a:gd name="T10" fmla="*/ 47 w 54"/>
                  <a:gd name="T11" fmla="*/ 31 h 57"/>
                  <a:gd name="T12" fmla="*/ 37 w 54"/>
                  <a:gd name="T13" fmla="*/ 14 h 57"/>
                  <a:gd name="T14" fmla="*/ 30 w 54"/>
                  <a:gd name="T15" fmla="*/ 0 h 57"/>
                  <a:gd name="T16" fmla="*/ 0 w 54"/>
                  <a:gd name="T17" fmla="*/ 2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57">
                    <a:moveTo>
                      <a:pt x="0" y="26"/>
                    </a:moveTo>
                    <a:lnTo>
                      <a:pt x="4" y="33"/>
                    </a:lnTo>
                    <a:lnTo>
                      <a:pt x="14" y="50"/>
                    </a:lnTo>
                    <a:lnTo>
                      <a:pt x="19" y="57"/>
                    </a:lnTo>
                    <a:lnTo>
                      <a:pt x="54" y="43"/>
                    </a:lnTo>
                    <a:lnTo>
                      <a:pt x="47" y="31"/>
                    </a:lnTo>
                    <a:lnTo>
                      <a:pt x="37" y="14"/>
                    </a:lnTo>
                    <a:lnTo>
                      <a:pt x="30" y="0"/>
                    </a:lnTo>
                    <a:lnTo>
                      <a:pt x="0" y="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Freeform 310"/>
              <p:cNvSpPr/>
              <p:nvPr/>
            </p:nvSpPr>
            <p:spPr bwMode="auto">
              <a:xfrm>
                <a:off x="2954292" y="4668827"/>
                <a:ext cx="60720" cy="58551"/>
              </a:xfrm>
              <a:custGeom>
                <a:avLst/>
                <a:gdLst>
                  <a:gd name="T0" fmla="*/ 0 w 56"/>
                  <a:gd name="T1" fmla="*/ 35 h 54"/>
                  <a:gd name="T2" fmla="*/ 7 w 56"/>
                  <a:gd name="T3" fmla="*/ 40 h 54"/>
                  <a:gd name="T4" fmla="*/ 26 w 56"/>
                  <a:gd name="T5" fmla="*/ 50 h 54"/>
                  <a:gd name="T6" fmla="*/ 30 w 56"/>
                  <a:gd name="T7" fmla="*/ 54 h 54"/>
                  <a:gd name="T8" fmla="*/ 56 w 56"/>
                  <a:gd name="T9" fmla="*/ 24 h 54"/>
                  <a:gd name="T10" fmla="*/ 45 w 56"/>
                  <a:gd name="T11" fmla="*/ 17 h 54"/>
                  <a:gd name="T12" fmla="*/ 26 w 56"/>
                  <a:gd name="T13" fmla="*/ 7 h 54"/>
                  <a:gd name="T14" fmla="*/ 14 w 56"/>
                  <a:gd name="T15" fmla="*/ 0 h 54"/>
                  <a:gd name="T16" fmla="*/ 0 w 56"/>
                  <a:gd name="T17" fmla="*/ 35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54">
                    <a:moveTo>
                      <a:pt x="0" y="35"/>
                    </a:moveTo>
                    <a:lnTo>
                      <a:pt x="7" y="40"/>
                    </a:lnTo>
                    <a:lnTo>
                      <a:pt x="26" y="50"/>
                    </a:lnTo>
                    <a:lnTo>
                      <a:pt x="30" y="54"/>
                    </a:lnTo>
                    <a:lnTo>
                      <a:pt x="56" y="24"/>
                    </a:lnTo>
                    <a:lnTo>
                      <a:pt x="45" y="17"/>
                    </a:lnTo>
                    <a:lnTo>
                      <a:pt x="26" y="7"/>
                    </a:lnTo>
                    <a:lnTo>
                      <a:pt x="14" y="0"/>
                    </a:lnTo>
                    <a:lnTo>
                      <a:pt x="0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Freeform 311"/>
              <p:cNvSpPr/>
              <p:nvPr/>
            </p:nvSpPr>
            <p:spPr bwMode="auto">
              <a:xfrm>
                <a:off x="3022602" y="4699187"/>
                <a:ext cx="54214" cy="44456"/>
              </a:xfrm>
              <a:custGeom>
                <a:avLst/>
                <a:gdLst>
                  <a:gd name="T0" fmla="*/ 8 w 50"/>
                  <a:gd name="T1" fmla="*/ 41 h 41"/>
                  <a:gd name="T2" fmla="*/ 15 w 50"/>
                  <a:gd name="T3" fmla="*/ 41 h 41"/>
                  <a:gd name="T4" fmla="*/ 36 w 50"/>
                  <a:gd name="T5" fmla="*/ 41 h 41"/>
                  <a:gd name="T6" fmla="*/ 43 w 50"/>
                  <a:gd name="T7" fmla="*/ 41 h 41"/>
                  <a:gd name="T8" fmla="*/ 50 w 50"/>
                  <a:gd name="T9" fmla="*/ 0 h 41"/>
                  <a:gd name="T10" fmla="*/ 36 w 50"/>
                  <a:gd name="T11" fmla="*/ 0 h 41"/>
                  <a:gd name="T12" fmla="*/ 15 w 50"/>
                  <a:gd name="T13" fmla="*/ 0 h 41"/>
                  <a:gd name="T14" fmla="*/ 0 w 50"/>
                  <a:gd name="T15" fmla="*/ 0 h 41"/>
                  <a:gd name="T16" fmla="*/ 8 w 50"/>
                  <a:gd name="T17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0" h="41">
                    <a:moveTo>
                      <a:pt x="8" y="41"/>
                    </a:moveTo>
                    <a:lnTo>
                      <a:pt x="15" y="41"/>
                    </a:lnTo>
                    <a:lnTo>
                      <a:pt x="36" y="41"/>
                    </a:lnTo>
                    <a:lnTo>
                      <a:pt x="43" y="41"/>
                    </a:lnTo>
                    <a:lnTo>
                      <a:pt x="50" y="0"/>
                    </a:lnTo>
                    <a:lnTo>
                      <a:pt x="36" y="0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8" y="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" name="Freeform 312"/>
              <p:cNvSpPr/>
              <p:nvPr/>
            </p:nvSpPr>
            <p:spPr bwMode="auto">
              <a:xfrm>
                <a:off x="3087659" y="4674248"/>
                <a:ext cx="60720" cy="58551"/>
              </a:xfrm>
              <a:custGeom>
                <a:avLst/>
                <a:gdLst>
                  <a:gd name="T0" fmla="*/ 26 w 56"/>
                  <a:gd name="T1" fmla="*/ 54 h 54"/>
                  <a:gd name="T2" fmla="*/ 30 w 56"/>
                  <a:gd name="T3" fmla="*/ 52 h 54"/>
                  <a:gd name="T4" fmla="*/ 49 w 56"/>
                  <a:gd name="T5" fmla="*/ 40 h 54"/>
                  <a:gd name="T6" fmla="*/ 56 w 56"/>
                  <a:gd name="T7" fmla="*/ 38 h 54"/>
                  <a:gd name="T8" fmla="*/ 42 w 56"/>
                  <a:gd name="T9" fmla="*/ 0 h 54"/>
                  <a:gd name="T10" fmla="*/ 30 w 56"/>
                  <a:gd name="T11" fmla="*/ 7 h 54"/>
                  <a:gd name="T12" fmla="*/ 11 w 56"/>
                  <a:gd name="T13" fmla="*/ 19 h 54"/>
                  <a:gd name="T14" fmla="*/ 0 w 56"/>
                  <a:gd name="T15" fmla="*/ 26 h 54"/>
                  <a:gd name="T16" fmla="*/ 26 w 56"/>
                  <a:gd name="T17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54">
                    <a:moveTo>
                      <a:pt x="26" y="54"/>
                    </a:moveTo>
                    <a:lnTo>
                      <a:pt x="30" y="52"/>
                    </a:lnTo>
                    <a:lnTo>
                      <a:pt x="49" y="40"/>
                    </a:lnTo>
                    <a:lnTo>
                      <a:pt x="56" y="38"/>
                    </a:lnTo>
                    <a:lnTo>
                      <a:pt x="42" y="0"/>
                    </a:lnTo>
                    <a:lnTo>
                      <a:pt x="30" y="7"/>
                    </a:lnTo>
                    <a:lnTo>
                      <a:pt x="11" y="19"/>
                    </a:lnTo>
                    <a:lnTo>
                      <a:pt x="0" y="26"/>
                    </a:lnTo>
                    <a:lnTo>
                      <a:pt x="26" y="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Freeform 313"/>
              <p:cNvSpPr/>
              <p:nvPr/>
            </p:nvSpPr>
            <p:spPr bwMode="auto">
              <a:xfrm>
                <a:off x="3144042" y="4625456"/>
                <a:ext cx="58551" cy="58551"/>
              </a:xfrm>
              <a:custGeom>
                <a:avLst/>
                <a:gdLst>
                  <a:gd name="T0" fmla="*/ 35 w 54"/>
                  <a:gd name="T1" fmla="*/ 54 h 54"/>
                  <a:gd name="T2" fmla="*/ 40 w 54"/>
                  <a:gd name="T3" fmla="*/ 47 h 54"/>
                  <a:gd name="T4" fmla="*/ 49 w 54"/>
                  <a:gd name="T5" fmla="*/ 31 h 54"/>
                  <a:gd name="T6" fmla="*/ 54 w 54"/>
                  <a:gd name="T7" fmla="*/ 23 h 54"/>
                  <a:gd name="T8" fmla="*/ 23 w 54"/>
                  <a:gd name="T9" fmla="*/ 0 h 54"/>
                  <a:gd name="T10" fmla="*/ 16 w 54"/>
                  <a:gd name="T11" fmla="*/ 12 h 54"/>
                  <a:gd name="T12" fmla="*/ 7 w 54"/>
                  <a:gd name="T13" fmla="*/ 28 h 54"/>
                  <a:gd name="T14" fmla="*/ 0 w 54"/>
                  <a:gd name="T15" fmla="*/ 40 h 54"/>
                  <a:gd name="T16" fmla="*/ 35 w 54"/>
                  <a:gd name="T17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54">
                    <a:moveTo>
                      <a:pt x="35" y="54"/>
                    </a:moveTo>
                    <a:lnTo>
                      <a:pt x="40" y="47"/>
                    </a:lnTo>
                    <a:lnTo>
                      <a:pt x="49" y="31"/>
                    </a:lnTo>
                    <a:lnTo>
                      <a:pt x="54" y="23"/>
                    </a:lnTo>
                    <a:lnTo>
                      <a:pt x="23" y="0"/>
                    </a:lnTo>
                    <a:lnTo>
                      <a:pt x="16" y="12"/>
                    </a:lnTo>
                    <a:lnTo>
                      <a:pt x="7" y="28"/>
                    </a:lnTo>
                    <a:lnTo>
                      <a:pt x="0" y="40"/>
                    </a:lnTo>
                    <a:lnTo>
                      <a:pt x="35" y="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" name="Freeform 314"/>
              <p:cNvSpPr/>
              <p:nvPr/>
            </p:nvSpPr>
            <p:spPr bwMode="auto">
              <a:xfrm>
                <a:off x="3174402" y="4563651"/>
                <a:ext cx="43371" cy="50962"/>
              </a:xfrm>
              <a:custGeom>
                <a:avLst/>
                <a:gdLst>
                  <a:gd name="T0" fmla="*/ 40 w 40"/>
                  <a:gd name="T1" fmla="*/ 43 h 47"/>
                  <a:gd name="T2" fmla="*/ 40 w 40"/>
                  <a:gd name="T3" fmla="*/ 33 h 47"/>
                  <a:gd name="T4" fmla="*/ 40 w 40"/>
                  <a:gd name="T5" fmla="*/ 14 h 47"/>
                  <a:gd name="T6" fmla="*/ 40 w 40"/>
                  <a:gd name="T7" fmla="*/ 5 h 47"/>
                  <a:gd name="T8" fmla="*/ 0 w 40"/>
                  <a:gd name="T9" fmla="*/ 0 h 47"/>
                  <a:gd name="T10" fmla="*/ 0 w 40"/>
                  <a:gd name="T11" fmla="*/ 14 h 47"/>
                  <a:gd name="T12" fmla="*/ 0 w 40"/>
                  <a:gd name="T13" fmla="*/ 33 h 47"/>
                  <a:gd name="T14" fmla="*/ 0 w 40"/>
                  <a:gd name="T15" fmla="*/ 47 h 47"/>
                  <a:gd name="T16" fmla="*/ 40 w 40"/>
                  <a:gd name="T17" fmla="*/ 43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" h="47">
                    <a:moveTo>
                      <a:pt x="40" y="43"/>
                    </a:moveTo>
                    <a:lnTo>
                      <a:pt x="40" y="33"/>
                    </a:lnTo>
                    <a:lnTo>
                      <a:pt x="40" y="14"/>
                    </a:lnTo>
                    <a:lnTo>
                      <a:pt x="40" y="5"/>
                    </a:lnTo>
                    <a:lnTo>
                      <a:pt x="0" y="0"/>
                    </a:lnTo>
                    <a:lnTo>
                      <a:pt x="0" y="14"/>
                    </a:lnTo>
                    <a:lnTo>
                      <a:pt x="0" y="33"/>
                    </a:lnTo>
                    <a:lnTo>
                      <a:pt x="0" y="47"/>
                    </a:lnTo>
                    <a:lnTo>
                      <a:pt x="40" y="4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4" name="Freeform 315"/>
              <p:cNvSpPr/>
              <p:nvPr/>
            </p:nvSpPr>
            <p:spPr bwMode="auto">
              <a:xfrm>
                <a:off x="3148379" y="4492088"/>
                <a:ext cx="59636" cy="58551"/>
              </a:xfrm>
              <a:custGeom>
                <a:avLst/>
                <a:gdLst>
                  <a:gd name="T0" fmla="*/ 55 w 55"/>
                  <a:gd name="T1" fmla="*/ 31 h 54"/>
                  <a:gd name="T2" fmla="*/ 52 w 55"/>
                  <a:gd name="T3" fmla="*/ 24 h 54"/>
                  <a:gd name="T4" fmla="*/ 40 w 55"/>
                  <a:gd name="T5" fmla="*/ 7 h 54"/>
                  <a:gd name="T6" fmla="*/ 38 w 55"/>
                  <a:gd name="T7" fmla="*/ 0 h 54"/>
                  <a:gd name="T8" fmla="*/ 0 w 55"/>
                  <a:gd name="T9" fmla="*/ 14 h 54"/>
                  <a:gd name="T10" fmla="*/ 7 w 55"/>
                  <a:gd name="T11" fmla="*/ 26 h 54"/>
                  <a:gd name="T12" fmla="*/ 17 w 55"/>
                  <a:gd name="T13" fmla="*/ 42 h 54"/>
                  <a:gd name="T14" fmla="*/ 24 w 55"/>
                  <a:gd name="T15" fmla="*/ 54 h 54"/>
                  <a:gd name="T16" fmla="*/ 55 w 55"/>
                  <a:gd name="T17" fmla="*/ 3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5" h="54">
                    <a:moveTo>
                      <a:pt x="55" y="31"/>
                    </a:moveTo>
                    <a:lnTo>
                      <a:pt x="52" y="24"/>
                    </a:lnTo>
                    <a:lnTo>
                      <a:pt x="40" y="7"/>
                    </a:lnTo>
                    <a:lnTo>
                      <a:pt x="38" y="0"/>
                    </a:lnTo>
                    <a:lnTo>
                      <a:pt x="0" y="14"/>
                    </a:lnTo>
                    <a:lnTo>
                      <a:pt x="7" y="26"/>
                    </a:lnTo>
                    <a:lnTo>
                      <a:pt x="17" y="42"/>
                    </a:lnTo>
                    <a:lnTo>
                      <a:pt x="24" y="54"/>
                    </a:lnTo>
                    <a:lnTo>
                      <a:pt x="5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Freeform 316"/>
              <p:cNvSpPr/>
              <p:nvPr/>
            </p:nvSpPr>
            <p:spPr bwMode="auto">
              <a:xfrm>
                <a:off x="3097418" y="4437874"/>
                <a:ext cx="61805" cy="59636"/>
              </a:xfrm>
              <a:custGeom>
                <a:avLst/>
                <a:gdLst>
                  <a:gd name="T0" fmla="*/ 57 w 57"/>
                  <a:gd name="T1" fmla="*/ 17 h 55"/>
                  <a:gd name="T2" fmla="*/ 50 w 57"/>
                  <a:gd name="T3" fmla="*/ 14 h 55"/>
                  <a:gd name="T4" fmla="*/ 33 w 57"/>
                  <a:gd name="T5" fmla="*/ 3 h 55"/>
                  <a:gd name="T6" fmla="*/ 26 w 57"/>
                  <a:gd name="T7" fmla="*/ 0 h 55"/>
                  <a:gd name="T8" fmla="*/ 0 w 57"/>
                  <a:gd name="T9" fmla="*/ 31 h 55"/>
                  <a:gd name="T10" fmla="*/ 14 w 57"/>
                  <a:gd name="T11" fmla="*/ 38 h 55"/>
                  <a:gd name="T12" fmla="*/ 31 w 57"/>
                  <a:gd name="T13" fmla="*/ 48 h 55"/>
                  <a:gd name="T14" fmla="*/ 43 w 57"/>
                  <a:gd name="T15" fmla="*/ 55 h 55"/>
                  <a:gd name="T16" fmla="*/ 57 w 57"/>
                  <a:gd name="T17" fmla="*/ 17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7" h="55">
                    <a:moveTo>
                      <a:pt x="57" y="17"/>
                    </a:moveTo>
                    <a:lnTo>
                      <a:pt x="50" y="14"/>
                    </a:lnTo>
                    <a:lnTo>
                      <a:pt x="33" y="3"/>
                    </a:lnTo>
                    <a:lnTo>
                      <a:pt x="26" y="0"/>
                    </a:lnTo>
                    <a:lnTo>
                      <a:pt x="0" y="31"/>
                    </a:lnTo>
                    <a:lnTo>
                      <a:pt x="14" y="38"/>
                    </a:lnTo>
                    <a:lnTo>
                      <a:pt x="31" y="48"/>
                    </a:lnTo>
                    <a:lnTo>
                      <a:pt x="43" y="55"/>
                    </a:lnTo>
                    <a:lnTo>
                      <a:pt x="57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6" name="Freeform 317"/>
              <p:cNvSpPr>
                <a:spLocks noEditPoints="1"/>
              </p:cNvSpPr>
              <p:nvPr/>
            </p:nvSpPr>
            <p:spPr bwMode="auto">
              <a:xfrm>
                <a:off x="2926101" y="4448717"/>
                <a:ext cx="263481" cy="266734"/>
              </a:xfrm>
              <a:custGeom>
                <a:avLst/>
                <a:gdLst>
                  <a:gd name="T0" fmla="*/ 51 w 103"/>
                  <a:gd name="T1" fmla="*/ 104 h 104"/>
                  <a:gd name="T2" fmla="*/ 0 w 103"/>
                  <a:gd name="T3" fmla="*/ 52 h 104"/>
                  <a:gd name="T4" fmla="*/ 51 w 103"/>
                  <a:gd name="T5" fmla="*/ 0 h 104"/>
                  <a:gd name="T6" fmla="*/ 103 w 103"/>
                  <a:gd name="T7" fmla="*/ 52 h 104"/>
                  <a:gd name="T8" fmla="*/ 51 w 103"/>
                  <a:gd name="T9" fmla="*/ 104 h 104"/>
                  <a:gd name="T10" fmla="*/ 51 w 103"/>
                  <a:gd name="T11" fmla="*/ 16 h 104"/>
                  <a:gd name="T12" fmla="*/ 15 w 103"/>
                  <a:gd name="T13" fmla="*/ 52 h 104"/>
                  <a:gd name="T14" fmla="*/ 51 w 103"/>
                  <a:gd name="T15" fmla="*/ 89 h 104"/>
                  <a:gd name="T16" fmla="*/ 87 w 103"/>
                  <a:gd name="T17" fmla="*/ 52 h 104"/>
                  <a:gd name="T18" fmla="*/ 51 w 103"/>
                  <a:gd name="T19" fmla="*/ 16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3" h="104">
                    <a:moveTo>
                      <a:pt x="51" y="104"/>
                    </a:moveTo>
                    <a:cubicBezTo>
                      <a:pt x="23" y="104"/>
                      <a:pt x="0" y="81"/>
                      <a:pt x="0" y="52"/>
                    </a:cubicBezTo>
                    <a:cubicBezTo>
                      <a:pt x="0" y="24"/>
                      <a:pt x="23" y="0"/>
                      <a:pt x="51" y="0"/>
                    </a:cubicBezTo>
                    <a:cubicBezTo>
                      <a:pt x="80" y="0"/>
                      <a:pt x="103" y="24"/>
                      <a:pt x="103" y="52"/>
                    </a:cubicBezTo>
                    <a:cubicBezTo>
                      <a:pt x="103" y="81"/>
                      <a:pt x="80" y="104"/>
                      <a:pt x="51" y="104"/>
                    </a:cubicBezTo>
                    <a:close/>
                    <a:moveTo>
                      <a:pt x="51" y="16"/>
                    </a:moveTo>
                    <a:cubicBezTo>
                      <a:pt x="31" y="16"/>
                      <a:pt x="15" y="32"/>
                      <a:pt x="15" y="52"/>
                    </a:cubicBezTo>
                    <a:cubicBezTo>
                      <a:pt x="15" y="73"/>
                      <a:pt x="31" y="89"/>
                      <a:pt x="51" y="89"/>
                    </a:cubicBezTo>
                    <a:cubicBezTo>
                      <a:pt x="71" y="89"/>
                      <a:pt x="87" y="73"/>
                      <a:pt x="87" y="52"/>
                    </a:cubicBezTo>
                    <a:cubicBezTo>
                      <a:pt x="87" y="32"/>
                      <a:pt x="71" y="16"/>
                      <a:pt x="51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7" name="Oval 318"/>
              <p:cNvSpPr>
                <a:spLocks noChangeArrowheads="1"/>
              </p:cNvSpPr>
              <p:nvPr/>
            </p:nvSpPr>
            <p:spPr bwMode="auto">
              <a:xfrm>
                <a:off x="2999832" y="4525702"/>
                <a:ext cx="112766" cy="11276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</p:grpSp>
    </p:spTree>
  </p:cSld>
  <p:clrMapOvr>
    <a:masterClrMapping/>
  </p:clrMapOvr>
  <p:transition spd="slow" advTm="0"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D02B6-9DB5-4C7B-85B2-B5F020DABB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1662D-AFA8-443C-A4B0-112430D1F9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D02B6-9DB5-4C7B-85B2-B5F020DABB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1662D-AFA8-443C-A4B0-112430D1F9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D02B6-9DB5-4C7B-85B2-B5F020DABB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1662D-AFA8-443C-A4B0-112430D1F9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D02B6-9DB5-4C7B-85B2-B5F020DABB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1662D-AFA8-443C-A4B0-112430D1F9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6" Type="http://schemas.openxmlformats.org/officeDocument/2006/relationships/theme" Target="../theme/theme2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5316B-B8B5-4650-AC04-9D895B83FAD8}" type="slidenum">
              <a:rPr lang="id-ID" smtClean="0"/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slow" advTm="0">
    <p:wip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D02B6-9DB5-4C7B-85B2-B5F020DABB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1662D-AFA8-443C-A4B0-112430D1F93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transition spd="slow" advTm="0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image" Target="../media/image8.png"/><Relationship Id="rId4" Type="http://schemas.openxmlformats.org/officeDocument/2006/relationships/tags" Target="../tags/tag23.xml"/><Relationship Id="rId3" Type="http://schemas.openxmlformats.org/officeDocument/2006/relationships/image" Target="../media/image7.png"/><Relationship Id="rId2" Type="http://schemas.openxmlformats.org/officeDocument/2006/relationships/tags" Target="../tags/tag22.xml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10.png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8.xml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tags" Target="../tags/tag30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2.png"/><Relationship Id="rId1" Type="http://schemas.openxmlformats.org/officeDocument/2006/relationships/tags" Target="../tags/tag3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32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hyperlink" Target="https://www.riverbankcomputing.com/" TargetMode="External"/><Relationship Id="rId1" Type="http://schemas.openxmlformats.org/officeDocument/2006/relationships/hyperlink" Target="https://www.qt.io/cn" TargetMode="Externa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33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46.jpeg"/><Relationship Id="rId1" Type="http://schemas.openxmlformats.org/officeDocument/2006/relationships/image" Target="../media/image45.jpe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49.png"/><Relationship Id="rId3" Type="http://schemas.openxmlformats.org/officeDocument/2006/relationships/tags" Target="../tags/tag34.xml"/><Relationship Id="rId2" Type="http://schemas.openxmlformats.org/officeDocument/2006/relationships/image" Target="../media/image48.jpeg"/><Relationship Id="rId1" Type="http://schemas.openxmlformats.org/officeDocument/2006/relationships/image" Target="../media/image47.jpe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50.jpeg"/><Relationship Id="rId1" Type="http://schemas.openxmlformats.org/officeDocument/2006/relationships/tags" Target="../tags/tag3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54.jpeg"/><Relationship Id="rId7" Type="http://schemas.openxmlformats.org/officeDocument/2006/relationships/image" Target="../media/image53.png"/><Relationship Id="rId6" Type="http://schemas.openxmlformats.org/officeDocument/2006/relationships/tags" Target="../tags/tag38.xml"/><Relationship Id="rId5" Type="http://schemas.openxmlformats.org/officeDocument/2006/relationships/image" Target="../media/image52.png"/><Relationship Id="rId4" Type="http://schemas.openxmlformats.org/officeDocument/2006/relationships/tags" Target="../tags/tag37.xml"/><Relationship Id="rId3" Type="http://schemas.openxmlformats.org/officeDocument/2006/relationships/image" Target="../media/image50.jpeg"/><Relationship Id="rId2" Type="http://schemas.openxmlformats.org/officeDocument/2006/relationships/image" Target="../media/image51.png"/><Relationship Id="rId10" Type="http://schemas.openxmlformats.org/officeDocument/2006/relationships/notesSlide" Target="../notesSlides/notesSlide29.xml"/><Relationship Id="rId1" Type="http://schemas.openxmlformats.org/officeDocument/2006/relationships/tags" Target="../tags/tag36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0.x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57.png"/><Relationship Id="rId5" Type="http://schemas.openxmlformats.org/officeDocument/2006/relationships/tags" Target="../tags/tag41.xml"/><Relationship Id="rId4" Type="http://schemas.openxmlformats.org/officeDocument/2006/relationships/image" Target="../media/image56.png"/><Relationship Id="rId3" Type="http://schemas.openxmlformats.org/officeDocument/2006/relationships/tags" Target="../tags/tag40.xml"/><Relationship Id="rId2" Type="http://schemas.openxmlformats.org/officeDocument/2006/relationships/image" Target="../media/image55.png"/><Relationship Id="rId1" Type="http://schemas.openxmlformats.org/officeDocument/2006/relationships/tags" Target="../tags/tag39.xml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1.xml"/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59.png"/><Relationship Id="rId4" Type="http://schemas.openxmlformats.org/officeDocument/2006/relationships/tags" Target="../tags/tag44.xml"/><Relationship Id="rId3" Type="http://schemas.openxmlformats.org/officeDocument/2006/relationships/image" Target="../media/image58.png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62.png"/><Relationship Id="rId3" Type="http://schemas.openxmlformats.org/officeDocument/2006/relationships/tags" Target="../tags/tag45.xml"/><Relationship Id="rId2" Type="http://schemas.openxmlformats.org/officeDocument/2006/relationships/image" Target="../media/image61.jpeg"/><Relationship Id="rId1" Type="http://schemas.openxmlformats.org/officeDocument/2006/relationships/image" Target="../media/image60.jpeg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3.xml"/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66.jpeg"/><Relationship Id="rId4" Type="http://schemas.openxmlformats.org/officeDocument/2006/relationships/image" Target="../media/image65.jpeg"/><Relationship Id="rId3" Type="http://schemas.openxmlformats.org/officeDocument/2006/relationships/image" Target="../media/image64.jpeg"/><Relationship Id="rId2" Type="http://schemas.openxmlformats.org/officeDocument/2006/relationships/image" Target="../media/image63.png"/><Relationship Id="rId1" Type="http://schemas.openxmlformats.org/officeDocument/2006/relationships/tags" Target="../tags/tag4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70.png"/><Relationship Id="rId7" Type="http://schemas.openxmlformats.org/officeDocument/2006/relationships/tags" Target="../tags/tag50.xml"/><Relationship Id="rId6" Type="http://schemas.openxmlformats.org/officeDocument/2006/relationships/image" Target="../media/image69.png"/><Relationship Id="rId5" Type="http://schemas.openxmlformats.org/officeDocument/2006/relationships/tags" Target="../tags/tag49.xml"/><Relationship Id="rId4" Type="http://schemas.openxmlformats.org/officeDocument/2006/relationships/image" Target="../media/image68.png"/><Relationship Id="rId3" Type="http://schemas.openxmlformats.org/officeDocument/2006/relationships/tags" Target="../tags/tag48.xml"/><Relationship Id="rId2" Type="http://schemas.openxmlformats.org/officeDocument/2006/relationships/image" Target="../media/image67.png"/><Relationship Id="rId10" Type="http://schemas.openxmlformats.org/officeDocument/2006/relationships/notesSlide" Target="../notesSlides/notesSlide35.xml"/><Relationship Id="rId1" Type="http://schemas.openxmlformats.org/officeDocument/2006/relationships/tags" Target="../tags/tag47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71.png"/><Relationship Id="rId1" Type="http://schemas.openxmlformats.org/officeDocument/2006/relationships/tags" Target="../tags/tag51.xml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73.png"/><Relationship Id="rId3" Type="http://schemas.openxmlformats.org/officeDocument/2006/relationships/tags" Target="../tags/tag53.xml"/><Relationship Id="rId2" Type="http://schemas.openxmlformats.org/officeDocument/2006/relationships/image" Target="../media/image72.png"/><Relationship Id="rId1" Type="http://schemas.openxmlformats.org/officeDocument/2006/relationships/tags" Target="../tags/tag52.xml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8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75.png"/><Relationship Id="rId3" Type="http://schemas.openxmlformats.org/officeDocument/2006/relationships/tags" Target="../tags/tag55.xml"/><Relationship Id="rId2" Type="http://schemas.openxmlformats.org/officeDocument/2006/relationships/image" Target="../media/image74.png"/><Relationship Id="rId1" Type="http://schemas.openxmlformats.org/officeDocument/2006/relationships/tags" Target="../tags/tag5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83"/>
          <p:cNvSpPr txBox="1"/>
          <p:nvPr/>
        </p:nvSpPr>
        <p:spPr>
          <a:xfrm>
            <a:off x="5065851" y="2369462"/>
            <a:ext cx="627888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defRPr/>
            </a:pPr>
            <a:r>
              <a:rPr lang="zh-CN" altLang="en-US" sz="6000" b="1" dirty="0">
                <a:gradFill>
                  <a:gsLst>
                    <a:gs pos="0">
                      <a:prstClr val="white"/>
                    </a:gs>
                    <a:gs pos="100000">
                      <a:srgbClr val="CCFFFF"/>
                    </a:gs>
                  </a:gsLst>
                  <a:lin ang="5400000" scaled="1"/>
                </a:gradFill>
                <a:cs typeface="+mn-ea"/>
                <a:sym typeface="+mn-lt"/>
              </a:rPr>
              <a:t>个人电脑环境配置</a:t>
            </a:r>
            <a:endParaRPr lang="zh-CN" altLang="en-US" sz="6000" b="1" dirty="0">
              <a:gradFill>
                <a:gsLst>
                  <a:gs pos="0">
                    <a:prstClr val="white"/>
                  </a:gs>
                  <a:gs pos="100000">
                    <a:srgbClr val="CCFFFF"/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3" name="文本框 281"/>
          <p:cNvSpPr txBox="1"/>
          <p:nvPr/>
        </p:nvSpPr>
        <p:spPr>
          <a:xfrm>
            <a:off x="5167450" y="3968790"/>
            <a:ext cx="43611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6000">
                <a:gradFill>
                  <a:gsLst>
                    <a:gs pos="0">
                      <a:schemeClr val="bg1"/>
                    </a:gs>
                    <a:gs pos="100000">
                      <a:srgbClr val="CCFFFF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defRPr/>
            </a:pPr>
            <a:r>
              <a:rPr lang="zh-CN" altLang="en-US" sz="2000" dirty="0">
                <a:gradFill>
                  <a:gsLst>
                    <a:gs pos="0">
                      <a:prstClr val="white"/>
                    </a:gs>
                    <a:gs pos="100000">
                      <a:srgbClr val="CCFFFF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  <a:t>授课老师  </a:t>
            </a:r>
            <a:r>
              <a:rPr lang="en-US" altLang="zh-CN" sz="2000" dirty="0">
                <a:gradFill>
                  <a:gsLst>
                    <a:gs pos="0">
                      <a:prstClr val="white"/>
                    </a:gs>
                    <a:gs pos="100000">
                      <a:srgbClr val="CCFFFF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  <a:t>|  </a:t>
            </a:r>
            <a:r>
              <a:rPr lang="zh-CN" altLang="en-US" sz="2000" dirty="0">
                <a:gradFill>
                  <a:gsLst>
                    <a:gs pos="0">
                      <a:prstClr val="white"/>
                    </a:gs>
                    <a:gs pos="100000">
                      <a:srgbClr val="CCFFFF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  <a:t>王美林、</a:t>
            </a:r>
            <a:r>
              <a:rPr lang="zh-CN" sz="2000" dirty="0" smtClean="0">
                <a:gradFill>
                  <a:gsLst>
                    <a:gs pos="0">
                      <a:prstClr val="white"/>
                    </a:gs>
                    <a:gs pos="100000">
                      <a:srgbClr val="CCFFFF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  <a:t>施煜锴、</a:t>
            </a:r>
            <a:r>
              <a:rPr lang="zh-CN" sz="2000" dirty="0" smtClean="0">
                <a:gradFill>
                  <a:gsLst>
                    <a:gs pos="0">
                      <a:prstClr val="white"/>
                    </a:gs>
                    <a:gs pos="100000">
                      <a:srgbClr val="CCFFFF"/>
                    </a:gs>
                  </a:gsLst>
                  <a:lin ang="5400000" scaled="1"/>
                </a:gradFill>
                <a:latin typeface="+mn-lt"/>
                <a:ea typeface="+mn-ea"/>
                <a:cs typeface="+mn-ea"/>
                <a:sym typeface="+mn-lt"/>
              </a:rPr>
              <a:t>彭思愿</a:t>
            </a:r>
            <a:endParaRPr lang="zh-CN" sz="2000" dirty="0" smtClean="0">
              <a:gradFill>
                <a:gsLst>
                  <a:gs pos="0">
                    <a:prstClr val="white"/>
                  </a:gs>
                  <a:gs pos="100000">
                    <a:srgbClr val="CCFFFF"/>
                  </a:gs>
                </a:gsLst>
                <a:lin ang="5400000" scaled="1"/>
              </a:gra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4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4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4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3000"/>
                                  </p:iterate>
                                  <p:childTnLst>
                                    <p:animMotion origin="layout" path="M -3.54167E-6 2.22222E-6 L 0.17657 2.22222E-6 " pathEditMode="relative" rAng="0" ptsTypes="AA">
                                      <p:cBhvr>
                                        <p:cTn id="11" dur="96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8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4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4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4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3000"/>
                                  </p:iterate>
                                  <p:childTnLst>
                                    <p:animMotion origin="layout" path="M 3.54167E-6 -4.81481E-6 L 0.17656 -4.81481E-6 " pathEditMode="relative" rAng="0" ptsTypes="AA">
                                      <p:cBhvr>
                                        <p:cTn id="18" dur="96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35972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前言</a:t>
            </a:r>
            <a:endParaRPr kumimoji="1" lang="zh-CN" altLang="en-US" sz="2800" b="1" i="0" kern="1200" cap="none" spc="0" normalizeH="0" baseline="0" noProof="0" dirty="0">
              <a:solidFill>
                <a:srgbClr val="005171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46175" y="1588135"/>
            <a:ext cx="9943465" cy="4655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/>
              <a:t>本</a:t>
            </a:r>
            <a:r>
              <a:rPr lang="en-US" altLang="zh-CN"/>
              <a:t>PPT</a:t>
            </a:r>
            <a:r>
              <a:rPr lang="zh-CN" altLang="en-US"/>
              <a:t>旨在帮助同学们在个人电脑上搭建本课程开发所需的环境，是一个从零开始搭建的教程。如果同学们在先前的课程有已安装相应的部分环境和开发软件，就根据自己的实际情况跳过部分步骤即可。</a:t>
            </a:r>
            <a:endParaRPr lang="zh-CN" altLang="en-US"/>
          </a:p>
          <a:p>
            <a:pPr>
              <a:lnSpc>
                <a:spcPct val="150000"/>
              </a:lnSpc>
            </a:pP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如果同学们不喜欢跟着</a:t>
            </a:r>
            <a:r>
              <a:rPr lang="en-US" altLang="zh-CN"/>
              <a:t>PPT</a:t>
            </a:r>
            <a:r>
              <a:rPr lang="zh-CN" altLang="en-US"/>
              <a:t>配置，可以跳转到本</a:t>
            </a:r>
            <a:r>
              <a:rPr lang="en-US" altLang="zh-CN"/>
              <a:t>PPT</a:t>
            </a:r>
            <a:r>
              <a:rPr lang="zh-CN" altLang="en-US"/>
              <a:t>最后一页，里面提供了一些视频课程。</a:t>
            </a:r>
            <a:endParaRPr lang="zh-CN" altLang="en-US"/>
          </a:p>
          <a:p>
            <a:pPr>
              <a:lnSpc>
                <a:spcPct val="150000"/>
              </a:lnSpc>
            </a:pPr>
            <a:endParaRPr lang="en-US" altLang="zh-CN"/>
          </a:p>
          <a:p>
            <a:pPr>
              <a:lnSpc>
                <a:spcPct val="150000"/>
              </a:lnSpc>
            </a:pPr>
            <a:r>
              <a:rPr lang="zh-CN" altLang="en-US"/>
              <a:t>注意：需要注意</a:t>
            </a:r>
            <a:r>
              <a:rPr lang="en-US" altLang="zh-CN"/>
              <a:t>yolov5</a:t>
            </a:r>
            <a:r>
              <a:rPr lang="zh-CN" altLang="en-US"/>
              <a:t>依赖的环境与自己已有的</a:t>
            </a:r>
            <a:r>
              <a:rPr lang="en-US" altLang="zh-CN"/>
              <a:t>python</a:t>
            </a:r>
            <a:r>
              <a:rPr lang="zh-CN" altLang="en-US"/>
              <a:t>环境是否契合。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菱形 2"/>
          <p:cNvSpPr/>
          <p:nvPr/>
        </p:nvSpPr>
        <p:spPr>
          <a:xfrm>
            <a:off x="3544570" y="2345690"/>
            <a:ext cx="2353310" cy="2353310"/>
          </a:xfrm>
          <a:prstGeom prst="diamond">
            <a:avLst/>
          </a:prstGeom>
          <a:ln>
            <a:solidFill>
              <a:srgbClr val="FCC196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bg1"/>
                </a:solidFill>
              </a:rPr>
              <a:t>Qt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35972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环境安装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517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菱形 3"/>
          <p:cNvSpPr/>
          <p:nvPr/>
        </p:nvSpPr>
        <p:spPr>
          <a:xfrm>
            <a:off x="9375775" y="2345690"/>
            <a:ext cx="2353310" cy="2353310"/>
          </a:xfrm>
          <a:prstGeom prst="diamond">
            <a:avLst/>
          </a:prstGeom>
          <a:solidFill>
            <a:schemeClr val="accent6"/>
          </a:solidFill>
          <a:ln>
            <a:solidFill>
              <a:srgbClr val="C3D594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bg1"/>
                </a:solidFill>
              </a:rPr>
              <a:t>Yolov5</a:t>
            </a:r>
            <a:endParaRPr lang="en-US" altLang="zh-CN" sz="1600" b="1">
              <a:solidFill>
                <a:schemeClr val="bg1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34670" y="2244725"/>
            <a:ext cx="2555240" cy="2555240"/>
            <a:chOff x="14443" y="3535"/>
            <a:chExt cx="4024" cy="4024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grpSpPr>
        <p:sp>
          <p:nvSpPr>
            <p:cNvPr id="5" name="菱形 4"/>
            <p:cNvSpPr/>
            <p:nvPr/>
          </p:nvSpPr>
          <p:spPr>
            <a:xfrm>
              <a:off x="14443" y="3694"/>
              <a:ext cx="3706" cy="3706"/>
            </a:xfrm>
            <a:prstGeom prst="diamond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r>
                <a:rPr lang="en-US" altLang="zh-CN" sz="1600" b="1">
                  <a:solidFill>
                    <a:schemeClr val="bg1"/>
                  </a:solidFill>
                </a:rPr>
                <a:t>anaconda</a:t>
              </a:r>
              <a:endParaRPr lang="en-US" altLang="zh-CN" sz="1600" b="1">
                <a:solidFill>
                  <a:schemeClr val="bg1"/>
                </a:solidFill>
              </a:endParaRPr>
            </a:p>
          </p:txBody>
        </p:sp>
        <p:sp>
          <p:nvSpPr>
            <p:cNvPr id="6" name="菱形 5"/>
            <p:cNvSpPr/>
            <p:nvPr/>
          </p:nvSpPr>
          <p:spPr>
            <a:xfrm>
              <a:off x="14443" y="3535"/>
              <a:ext cx="4024" cy="4024"/>
            </a:xfrm>
            <a:prstGeom prst="diamond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" name="菱形 9"/>
          <p:cNvSpPr/>
          <p:nvPr>
            <p:custDataLst>
              <p:tags r:id="rId1"/>
            </p:custDataLst>
          </p:nvPr>
        </p:nvSpPr>
        <p:spPr>
          <a:xfrm>
            <a:off x="6618605" y="2345690"/>
            <a:ext cx="2353310" cy="2353310"/>
          </a:xfrm>
          <a:prstGeom prst="diamond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CC196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bg1"/>
                </a:solidFill>
              </a:rPr>
              <a:t>Pycharm</a:t>
            </a:r>
            <a:endParaRPr lang="en-US" altLang="zh-CN" sz="1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56965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简介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——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个人电脑开发环境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517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51000" y="1508760"/>
            <a:ext cx="8578850" cy="4789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系统环境：</a:t>
            </a:r>
            <a:r>
              <a:rPr lang="en-US" altLang="zh-CN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Windows10</a:t>
            </a:r>
            <a:endParaRPr lang="en-US" altLang="zh-CN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lvl="1"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后续环境的配置等都是在Win</a:t>
            </a:r>
            <a:r>
              <a:rPr lang="en-US" altLang="zh-CN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dows</a:t>
            </a:r>
            <a:r>
              <a:rPr lang="zh-CN" altLang="en-US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环境下进行的。</a:t>
            </a:r>
            <a:endParaRPr lang="zh-CN" altLang="en-US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lvl="1"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编程语言：</a:t>
            </a:r>
            <a:r>
              <a:rPr lang="en-US" altLang="zh-CN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Python</a:t>
            </a:r>
            <a:endParaRPr lang="zh-CN" alt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lvl="1"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相较于其它编程语言，</a:t>
            </a:r>
            <a:r>
              <a:rPr lang="en-US" altLang="zh-CN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Python</a:t>
            </a:r>
            <a:r>
              <a:rPr lang="zh-CN" altLang="en-US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在深度学习领域有集成度较好的库函数及模块可学习使用，便于</a:t>
            </a:r>
            <a:r>
              <a:rPr lang="zh-CN" altLang="en-US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理解和</a:t>
            </a:r>
            <a:r>
              <a:rPr lang="zh-CN" altLang="en-US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上手学习。</a:t>
            </a:r>
            <a:endParaRPr lang="en-US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zh-CN" alt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界面开发环境</a:t>
            </a:r>
            <a:r>
              <a:rPr 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: QT</a:t>
            </a:r>
            <a:endParaRPr 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lvl="1"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界面开发环境的安装及使用以</a:t>
            </a:r>
            <a:r>
              <a:rPr lang="en-US" altLang="zh-CN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QT</a:t>
            </a:r>
            <a:r>
              <a:rPr lang="zh-CN" altLang="en-US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作为样例，同学们如果有自己熟悉的其他编程环境（如</a:t>
            </a:r>
            <a:r>
              <a:rPr lang="en-US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C</a:t>
            </a:r>
            <a:r>
              <a:rPr lang="en-US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#</a:t>
            </a:r>
            <a:r>
              <a:rPr lang="zh-CN" altLang="en-US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等）可使用自己熟悉的开发环境编程。</a:t>
            </a:r>
            <a:endParaRPr lang="en-US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深度学习开发环境</a:t>
            </a:r>
            <a:r>
              <a:rPr 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: Pycharm</a:t>
            </a:r>
            <a:endParaRPr 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lvl="1"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en-US" altLang="zh-CN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PythonIDE</a:t>
            </a:r>
            <a:r>
              <a:rPr lang="zh-CN" altLang="en-US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的安装及使用以</a:t>
            </a:r>
            <a:r>
              <a:rPr lang="en-US" altLang="zh-CN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Pycharm</a:t>
            </a:r>
            <a:r>
              <a:rPr lang="zh-CN" altLang="en-US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作为样例，同学们如果有自己熟悉的其他编程环境（如</a:t>
            </a:r>
            <a:r>
              <a:rPr lang="en-US" altLang="zh-CN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VScode</a:t>
            </a:r>
            <a:r>
              <a:rPr lang="zh-CN" altLang="en-US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Spyder</a:t>
            </a:r>
            <a:r>
              <a:rPr lang="zh-CN" altLang="en-US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等）可使用自己熟悉的开发环境编程。</a:t>
            </a:r>
            <a:endParaRPr dirty="0" smtClean="0">
              <a:ea typeface="+mn-lt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56965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Python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安装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517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19935" y="1430020"/>
            <a:ext cx="8152765" cy="23279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Python</a:t>
            </a: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安装一</a:t>
            </a:r>
            <a:endParaRPr lang="zh-CN" alt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en-US" altLang="zh-CN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推荐使用</a:t>
            </a:r>
            <a:r>
              <a:rPr lang="en-US" altLang="zh-CN" dirty="0" smtClean="0">
                <a:solidFill>
                  <a:srgbClr val="FF0000"/>
                </a:solidFill>
                <a:ea typeface="+mn-lt"/>
                <a:cs typeface="Times New Roman" panose="02020603050405020304" pitchFamily="18" charset="0"/>
                <a:sym typeface="+mn-ea"/>
              </a:rPr>
              <a:t>Anconda</a:t>
            </a:r>
            <a:r>
              <a:rPr lang="zh-CN" altLang="en-US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，它是python的一个集成管理工具，提供了包管理与环境管理的功能，可以很方便地解决多版本python并存、切换以及各种第三方包安装问题。这些功能在深度学习中也将带来便利，后续将会提及。</a:t>
            </a:r>
            <a:endParaRPr lang="zh-CN" alt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zh-CN" alt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sz="1600" u="sng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官网下载地址：</a:t>
            </a:r>
            <a:r>
              <a:rPr lang="en-US" altLang="zh-CN" sz="1600" u="sng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https://www.anaconda.com/products/individual</a:t>
            </a:r>
            <a:endParaRPr lang="en-US" altLang="zh-CN" sz="1600" u="sng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" y="3958590"/>
            <a:ext cx="3587115" cy="19564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459355" y="5915025"/>
            <a:ext cx="127444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sz="1200" dirty="0" smtClean="0">
                <a:ea typeface="+mn-lt"/>
                <a:cs typeface="Times New Roman" panose="02020603050405020304" pitchFamily="18" charset="0"/>
                <a:sym typeface="+mn-ea"/>
              </a:rPr>
              <a:t>官网下载界面</a:t>
            </a:r>
            <a:endParaRPr lang="zh-CN" altLang="en-US" sz="1200" dirty="0" smtClean="0">
              <a:ea typeface="+mn-lt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485" y="3958590"/>
            <a:ext cx="2509520" cy="198183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737225" y="5940425"/>
            <a:ext cx="128206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sz="1200" dirty="0" smtClean="0">
                <a:ea typeface="+mn-lt"/>
                <a:cs typeface="Times New Roman" panose="02020603050405020304" pitchFamily="18" charset="0"/>
                <a:sym typeface="+mn-ea"/>
              </a:rPr>
              <a:t>自定义路径</a:t>
            </a:r>
            <a:endParaRPr lang="zh-CN" sz="1200" dirty="0" smtClean="0">
              <a:ea typeface="+mn-lt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605" y="3958590"/>
            <a:ext cx="2893695" cy="198247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081645" y="5941060"/>
            <a:ext cx="299847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sz="1200" dirty="0" smtClean="0">
                <a:ea typeface="+mn-lt"/>
                <a:cs typeface="Times New Roman" panose="02020603050405020304" pitchFamily="18" charset="0"/>
                <a:sym typeface="+mn-ea"/>
              </a:rPr>
              <a:t>添加环境变量及安装最新版</a:t>
            </a:r>
            <a:r>
              <a:rPr lang="en-US" altLang="zh-CN" sz="1200" dirty="0" smtClean="0">
                <a:ea typeface="+mn-lt"/>
                <a:cs typeface="Times New Roman" panose="02020603050405020304" pitchFamily="18" charset="0"/>
                <a:sym typeface="+mn-ea"/>
              </a:rPr>
              <a:t>Python</a:t>
            </a:r>
            <a:endParaRPr lang="en-US" altLang="zh-CN" sz="1200" dirty="0" smtClean="0">
              <a:ea typeface="+mn-lt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56965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Python</a:t>
            </a:r>
            <a:r>
              <a:rPr kumimoji="1" lang="zh-CN" altLang="en-US" sz="2800" b="1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安装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517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75360" y="2527300"/>
            <a:ext cx="6976110" cy="3620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sz="16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Anaconda Prompt就是我们的cmd，以后的创建环境和切换环境，和pip安装各种包全在这里。</a:t>
            </a:r>
            <a:endParaRPr lang="zh-CN" altLang="en-US" sz="1600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lvl="1"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en-US" altLang="zh-CN" sz="16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6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可以通过指令创建虚拟环境</a:t>
            </a:r>
            <a:r>
              <a:rPr lang="en-US" altLang="zh-CN" sz="16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)</a:t>
            </a:r>
            <a:endParaRPr lang="zh-CN" altLang="en-US" sz="1600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lvl="1"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sz="16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python --version 查看python版本</a:t>
            </a:r>
            <a:endParaRPr lang="zh-CN" altLang="en-US" sz="1600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lvl="1"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sz="16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conda create -n </a:t>
            </a:r>
            <a:r>
              <a:rPr lang="zh-CN" altLang="en-US" sz="16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env_name</a:t>
            </a:r>
            <a:r>
              <a:rPr lang="zh-CN" altLang="en-US" sz="16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 python=3.8 创建一个python版本为3.8的自命名虚拟环境</a:t>
            </a:r>
            <a:endParaRPr lang="zh-CN" altLang="en-US" sz="1600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lvl="1"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sz="16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conda remove -n env_name --all 移除自命名虚拟环境</a:t>
            </a:r>
            <a:endParaRPr lang="zh-CN" altLang="en-US" sz="1600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lvl="1"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zh-CN" altLang="en-US" sz="1600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lvl="0"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sz="16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Anaconda Navigator为可视化管理软件</a:t>
            </a:r>
            <a:endParaRPr lang="zh-CN" altLang="en-US" sz="1600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lvl="1"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en-US" altLang="zh-CN" sz="16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我们创建的环境和环境里的安装的包可以在Environments里查看,也可以在这里创建虚拟环境和移除虚拟环境，还可为每个独立的环境安装需要的包</a:t>
            </a:r>
            <a:endParaRPr lang="en-US" altLang="zh-CN" sz="1600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5640" y="4358005"/>
            <a:ext cx="2966720" cy="164020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8339455" y="5998210"/>
            <a:ext cx="287782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sz="12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Anaconda Navigator</a:t>
            </a:r>
            <a:r>
              <a:rPr lang="en-US" altLang="zh-CN" sz="12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 - Environments</a:t>
            </a:r>
            <a:endParaRPr lang="en-US" altLang="zh-CN" sz="1200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527300"/>
            <a:ext cx="3235325" cy="141541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8395970" y="3942715"/>
            <a:ext cx="286639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sz="12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Anaconda Prompt</a:t>
            </a:r>
            <a:r>
              <a:rPr lang="en-US" altLang="zh-CN" sz="12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 - </a:t>
            </a:r>
            <a:r>
              <a:rPr lang="zh-CN" altLang="en-US" sz="12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进入自命名环境</a:t>
            </a:r>
            <a:endParaRPr lang="zh-CN" altLang="en-US" sz="1200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75360" y="1466215"/>
            <a:ext cx="8405495" cy="6965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Anconda</a:t>
            </a: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的使用教程</a:t>
            </a:r>
            <a:endParaRPr lang="zh-CN" alt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sz="16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在Anconda中主要使用的两个程序是Anaconda Prompt 和Anaconda Navigator。</a:t>
            </a:r>
            <a:endParaRPr lang="en-US" altLang="zh-CN" sz="1600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691578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python</a:t>
            </a:r>
            <a:r>
              <a:rPr kumimoji="1" lang="zh-CN" altLang="en-US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安装</a:t>
            </a:r>
            <a:endParaRPr kumimoji="1" lang="zh-CN" altLang="en-US" sz="2800" b="1" i="0" kern="1200" cap="none" spc="0" normalizeH="0" baseline="0" noProof="0" dirty="0">
              <a:solidFill>
                <a:srgbClr val="005171"/>
              </a:solidFill>
              <a:cs typeface="+mn-ea"/>
              <a:sym typeface="+mn-lt"/>
            </a:endParaRPr>
          </a:p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kern="1200" cap="none" spc="0" normalizeH="0" baseline="0" noProof="0" dirty="0">
              <a:solidFill>
                <a:srgbClr val="00517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2019935" y="1430020"/>
            <a:ext cx="8152765" cy="17119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Python</a:t>
            </a: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安装二</a:t>
            </a:r>
            <a:endParaRPr lang="zh-CN" alt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zh-CN" alt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sz="16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直接在系统环境安装对应版本的</a:t>
            </a:r>
            <a:r>
              <a:rPr lang="en-US" altLang="zh-CN" sz="16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Python</a:t>
            </a:r>
            <a:r>
              <a:rPr lang="zh-CN" altLang="en-US" sz="16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1600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zh-CN" altLang="en-US" sz="1600" u="sng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sz="1600" u="sng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官网下载地址：</a:t>
            </a:r>
            <a:r>
              <a:rPr sz="1600" u="sng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https://www.python.org/downloads/</a:t>
            </a:r>
            <a:endParaRPr lang="en-US" altLang="zh-CN" sz="1600" u="sng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94410" y="3485515"/>
            <a:ext cx="3315335" cy="22586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673600" y="3485515"/>
            <a:ext cx="3688715" cy="225869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213485" y="5744210"/>
            <a:ext cx="30226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sz="1400" dirty="0" smtClean="0">
                <a:ea typeface="+mn-lt"/>
                <a:cs typeface="Times New Roman" panose="02020603050405020304" pitchFamily="18" charset="0"/>
                <a:sym typeface="+mn-ea"/>
              </a:rPr>
              <a:t>官网下载界面（注意下载对应版本）</a:t>
            </a:r>
            <a:endParaRPr lang="en-US" altLang="zh-CN" sz="1400" dirty="0" smtClean="0">
              <a:ea typeface="+mn-lt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7"/>
            </p:custDataLst>
          </p:nvPr>
        </p:nvSpPr>
        <p:spPr>
          <a:xfrm>
            <a:off x="4568190" y="5744210"/>
            <a:ext cx="379412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en-US" altLang="zh-CN" sz="1400" dirty="0" smtClean="0">
                <a:ea typeface="+mn-lt"/>
                <a:cs typeface="Times New Roman" panose="02020603050405020304" pitchFamily="18" charset="0"/>
                <a:sym typeface="+mn-ea"/>
              </a:rPr>
              <a:t>python3.9</a:t>
            </a:r>
            <a:r>
              <a:rPr lang="zh-CN" altLang="en-US" sz="1400" dirty="0" smtClean="0">
                <a:ea typeface="+mn-lt"/>
                <a:cs typeface="Times New Roman" panose="02020603050405020304" pitchFamily="18" charset="0"/>
                <a:sym typeface="+mn-ea"/>
              </a:rPr>
              <a:t>安装界面（注意勾选创建环境变量）</a:t>
            </a:r>
            <a:endParaRPr lang="zh-CN" altLang="en-US" sz="1400" dirty="0" smtClean="0">
              <a:ea typeface="+mn-lt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689975" y="4390390"/>
            <a:ext cx="2993390" cy="126555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10"/>
            </p:custDataLst>
          </p:nvPr>
        </p:nvSpPr>
        <p:spPr>
          <a:xfrm>
            <a:off x="8799830" y="5744210"/>
            <a:ext cx="28111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sz="1400" dirty="0" smtClean="0">
                <a:ea typeface="+mn-lt"/>
                <a:cs typeface="Times New Roman" panose="02020603050405020304" pitchFamily="18" charset="0"/>
                <a:sym typeface="+mn-ea"/>
              </a:rPr>
              <a:t>验证安装（提示版本则安装成功）</a:t>
            </a:r>
            <a:endParaRPr lang="zh-CN" altLang="en-US" sz="1400" dirty="0" smtClean="0">
              <a:ea typeface="+mn-lt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726170" y="3302000"/>
            <a:ext cx="2933065" cy="108839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菱形 2"/>
          <p:cNvSpPr/>
          <p:nvPr/>
        </p:nvSpPr>
        <p:spPr>
          <a:xfrm>
            <a:off x="6390005" y="2244725"/>
            <a:ext cx="2353310" cy="2353310"/>
          </a:xfrm>
          <a:prstGeom prst="diamond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bg1"/>
                </a:solidFill>
              </a:rPr>
              <a:t>Pycharm</a:t>
            </a:r>
            <a:endParaRPr lang="en-US" altLang="zh-CN" sz="1600" b="1">
              <a:solidFill>
                <a:schemeClr val="bg1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35972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环境安装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517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菱形 3"/>
          <p:cNvSpPr/>
          <p:nvPr/>
        </p:nvSpPr>
        <p:spPr>
          <a:xfrm>
            <a:off x="9375775" y="2252345"/>
            <a:ext cx="2353310" cy="2353310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C3D594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bg1"/>
                </a:solidFill>
              </a:rPr>
              <a:t>Yolov5</a:t>
            </a:r>
            <a:endParaRPr lang="en-US" altLang="zh-CN" sz="1600" b="1">
              <a:solidFill>
                <a:schemeClr val="bg1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420745" y="2143760"/>
            <a:ext cx="2555240" cy="2555240"/>
            <a:chOff x="14443" y="3535"/>
            <a:chExt cx="4024" cy="4024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grpSpPr>
        <p:sp>
          <p:nvSpPr>
            <p:cNvPr id="5" name="菱形 4"/>
            <p:cNvSpPr/>
            <p:nvPr/>
          </p:nvSpPr>
          <p:spPr>
            <a:xfrm>
              <a:off x="14443" y="3694"/>
              <a:ext cx="3706" cy="3706"/>
            </a:xfrm>
            <a:prstGeom prst="diamon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r>
                <a:rPr lang="en-US" altLang="zh-CN" b="1">
                  <a:solidFill>
                    <a:schemeClr val="bg1"/>
                  </a:solidFill>
                </a:rPr>
                <a:t>Qt</a:t>
              </a:r>
              <a:endParaRPr lang="en-US" altLang="zh-CN" b="1">
                <a:solidFill>
                  <a:schemeClr val="bg1"/>
                </a:solidFill>
              </a:endParaRPr>
            </a:p>
          </p:txBody>
        </p:sp>
        <p:sp>
          <p:nvSpPr>
            <p:cNvPr id="6" name="菱形 5"/>
            <p:cNvSpPr/>
            <p:nvPr/>
          </p:nvSpPr>
          <p:spPr>
            <a:xfrm>
              <a:off x="14443" y="3535"/>
              <a:ext cx="4024" cy="4024"/>
            </a:xfrm>
            <a:prstGeom prst="diamond">
              <a:avLst/>
            </a:prstGeom>
            <a:noFill/>
            <a:ln>
              <a:solidFill>
                <a:schemeClr val="accent2">
                  <a:lumMod val="40000"/>
                  <a:lumOff val="60000"/>
                </a:schemeClr>
              </a:solidFill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" name="菱形 9"/>
          <p:cNvSpPr/>
          <p:nvPr>
            <p:custDataLst>
              <p:tags r:id="rId1"/>
            </p:custDataLst>
          </p:nvPr>
        </p:nvSpPr>
        <p:spPr>
          <a:xfrm>
            <a:off x="653415" y="2244725"/>
            <a:ext cx="2353310" cy="2353310"/>
          </a:xfrm>
          <a:prstGeom prst="diamond">
            <a:avLst/>
          </a:prstGeom>
          <a:solidFill>
            <a:schemeClr val="accent5"/>
          </a:solidFill>
          <a:ln>
            <a:solidFill>
              <a:srgbClr val="FCC196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Anaconda</a:t>
            </a:r>
            <a:endParaRPr lang="en-US" altLang="zh-CN" sz="14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56965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Qt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安装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517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19935" y="1430020"/>
            <a:ext cx="8152765" cy="22047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QT</a:t>
            </a: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安装</a:t>
            </a:r>
            <a:endParaRPr lang="zh-CN" alt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en-US" altLang="zh-CN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sz="16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Qt是一款跨平台C++图形用户界面应用程序开发框架。它既可以开发界面程序，比如pc端的多窗口软件以及嵌入式的单窗口界面(包括安卓界面)；也可以开发非界面程序，例如某些动态链接库程序。</a:t>
            </a:r>
            <a:endParaRPr lang="zh-CN" altLang="en-US" sz="1600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zh-CN" altLang="en-US" sz="1600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sz="1600" u="sng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官网下载地址：https://www.qt.io/download</a:t>
            </a:r>
            <a:endParaRPr lang="zh-CN" altLang="en-US" sz="1600" u="sng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56965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Qt</a:t>
            </a:r>
            <a:r>
              <a:rPr kumimoji="1" lang="zh-CN" altLang="en-US" sz="2800" b="1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安装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517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19935" y="1430020"/>
            <a:ext cx="81527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QT</a:t>
            </a: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安装</a:t>
            </a:r>
            <a:endParaRPr lang="zh-CN" altLang="en-US" sz="1600" u="sng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6" name="图片 5" descr="qt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35405" y="1955165"/>
            <a:ext cx="3287395" cy="2198370"/>
          </a:xfrm>
          <a:prstGeom prst="rect">
            <a:avLst/>
          </a:prstGeom>
        </p:spPr>
      </p:pic>
      <p:pic>
        <p:nvPicPr>
          <p:cNvPr id="3" name="图片 2" descr="qt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850" y="1955165"/>
            <a:ext cx="3272790" cy="2198370"/>
          </a:xfrm>
          <a:prstGeom prst="rect">
            <a:avLst/>
          </a:prstGeom>
        </p:spPr>
      </p:pic>
      <p:pic>
        <p:nvPicPr>
          <p:cNvPr id="4" name="图片 3" descr="qt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5565" y="4240530"/>
            <a:ext cx="3277235" cy="2200910"/>
          </a:xfrm>
          <a:prstGeom prst="rect">
            <a:avLst/>
          </a:prstGeom>
        </p:spPr>
      </p:pic>
      <p:pic>
        <p:nvPicPr>
          <p:cNvPr id="7" name="图片 6" descr="ff694d7964274bcdbcf17b1384de896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1850" y="4239895"/>
            <a:ext cx="3277870" cy="2201545"/>
          </a:xfrm>
          <a:prstGeom prst="rect">
            <a:avLst/>
          </a:prstGeom>
        </p:spPr>
      </p:pic>
      <p:pic>
        <p:nvPicPr>
          <p:cNvPr id="5" name="图片 4" descr="qt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6555" y="4227195"/>
            <a:ext cx="3296920" cy="2214245"/>
          </a:xfrm>
          <a:prstGeom prst="rect">
            <a:avLst/>
          </a:prstGeom>
        </p:spPr>
      </p:pic>
      <p:pic>
        <p:nvPicPr>
          <p:cNvPr id="8" name="图片 7" descr="qt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6710" y="1951355"/>
            <a:ext cx="3352800" cy="225171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56965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Qt</a:t>
            </a:r>
            <a:r>
              <a:rPr kumimoji="1" lang="zh-CN" altLang="en-US" sz="2800" b="1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安装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517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02765" y="1267460"/>
            <a:ext cx="81527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QT</a:t>
            </a: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的配置</a:t>
            </a:r>
            <a:endParaRPr lang="zh-CN" altLang="en-US" sz="1600" u="sng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 descr="Qt环境变量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8590" y="1663700"/>
            <a:ext cx="2058670" cy="2324735"/>
          </a:xfrm>
          <a:prstGeom prst="rect">
            <a:avLst/>
          </a:prstGeom>
        </p:spPr>
      </p:pic>
      <p:pic>
        <p:nvPicPr>
          <p:cNvPr id="5" name="图片 4" descr="Qt环境变量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805" y="1680210"/>
            <a:ext cx="2390140" cy="2316480"/>
          </a:xfrm>
          <a:prstGeom prst="rect">
            <a:avLst/>
          </a:prstGeom>
        </p:spPr>
      </p:pic>
      <p:pic>
        <p:nvPicPr>
          <p:cNvPr id="6" name="图片 5" descr="Qt环境变量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490" y="1710690"/>
            <a:ext cx="4138295" cy="48037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611755" y="1663700"/>
            <a:ext cx="12071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步骤一</a:t>
            </a:r>
            <a:endParaRPr lang="zh-CN" altLang="en-US" sz="1400"/>
          </a:p>
        </p:txBody>
      </p:sp>
      <p:sp>
        <p:nvSpPr>
          <p:cNvPr id="8" name="文本框 7"/>
          <p:cNvSpPr txBox="1"/>
          <p:nvPr/>
        </p:nvSpPr>
        <p:spPr>
          <a:xfrm>
            <a:off x="4764405" y="1663700"/>
            <a:ext cx="12071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步骤二</a:t>
            </a:r>
            <a:endParaRPr lang="zh-CN" altLang="en-US" sz="1400"/>
          </a:p>
        </p:txBody>
      </p:sp>
      <p:sp>
        <p:nvSpPr>
          <p:cNvPr id="9" name="文本框 8"/>
          <p:cNvSpPr txBox="1"/>
          <p:nvPr/>
        </p:nvSpPr>
        <p:spPr>
          <a:xfrm>
            <a:off x="8748395" y="1767840"/>
            <a:ext cx="12071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步骤三</a:t>
            </a:r>
            <a:endParaRPr lang="zh-CN" altLang="en-US" sz="1400"/>
          </a:p>
        </p:txBody>
      </p:sp>
      <p:pic>
        <p:nvPicPr>
          <p:cNvPr id="7" name="图片 6" descr="Qt环境变量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955" y="4017010"/>
            <a:ext cx="2059305" cy="2534920"/>
          </a:xfrm>
          <a:prstGeom prst="rect">
            <a:avLst/>
          </a:prstGeom>
        </p:spPr>
      </p:pic>
      <p:pic>
        <p:nvPicPr>
          <p:cNvPr id="10" name="图片 9" descr="Qt环境变量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210" y="3979545"/>
            <a:ext cx="2259330" cy="255079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439670" y="3996690"/>
            <a:ext cx="12071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步骤四</a:t>
            </a:r>
            <a:endParaRPr lang="zh-CN" altLang="en-US" sz="1400"/>
          </a:p>
        </p:txBody>
      </p:sp>
      <p:sp>
        <p:nvSpPr>
          <p:cNvPr id="12" name="文本框 11"/>
          <p:cNvSpPr txBox="1"/>
          <p:nvPr/>
        </p:nvSpPr>
        <p:spPr>
          <a:xfrm>
            <a:off x="5073650" y="3979545"/>
            <a:ext cx="7607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步骤五</a:t>
            </a:r>
            <a:endParaRPr lang="zh-CN" altLang="en-US" sz="140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56965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Qt</a:t>
            </a:r>
            <a:r>
              <a:rPr kumimoji="1" lang="zh-CN" altLang="en-US" sz="2800" b="1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安装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517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62125" y="1257300"/>
            <a:ext cx="8152765" cy="1414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QT</a:t>
            </a: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的配置</a:t>
            </a:r>
            <a:endParaRPr lang="zh-CN" alt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zh-CN" alt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en-US" altLang="zh-CN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zh-CN" altLang="en-US" sz="1600" u="sng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7" name="图片 6" descr="Qt环境变量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3185" y="1876425"/>
            <a:ext cx="2722880" cy="2638425"/>
          </a:xfrm>
          <a:prstGeom prst="rect">
            <a:avLst/>
          </a:prstGeom>
        </p:spPr>
      </p:pic>
      <p:pic>
        <p:nvPicPr>
          <p:cNvPr id="8" name="图片 7" descr="Qt环境变量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25" y="1876425"/>
            <a:ext cx="2352675" cy="26555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46250" y="4934585"/>
            <a:ext cx="8108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系统环境变量设置完成后，重启电脑。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594100" y="4571365"/>
            <a:ext cx="12071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步骤四</a:t>
            </a:r>
            <a:endParaRPr lang="zh-CN" altLang="en-US" sz="1400"/>
          </a:p>
        </p:txBody>
      </p:sp>
      <p:sp>
        <p:nvSpPr>
          <p:cNvPr id="11" name="文本框 10"/>
          <p:cNvSpPr txBox="1"/>
          <p:nvPr/>
        </p:nvSpPr>
        <p:spPr>
          <a:xfrm>
            <a:off x="7210425" y="4580255"/>
            <a:ext cx="12071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步骤五</a:t>
            </a:r>
            <a:endParaRPr lang="zh-CN" altLang="en-US" sz="140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56965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Qt</a:t>
            </a:r>
            <a:r>
              <a:rPr kumimoji="1" lang="zh-CN" altLang="en-US" sz="2800" b="1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安装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517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35248" y="1442680"/>
            <a:ext cx="6134100" cy="36830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1800" dirty="0" err="1"/>
              <a:t>Qt</a:t>
            </a:r>
            <a:r>
              <a:rPr lang="en-US" altLang="zh-CN" sz="1800" dirty="0"/>
              <a:t> Creator</a:t>
            </a:r>
            <a:r>
              <a:rPr lang="zh-CN" altLang="zh-CN" sz="1800" dirty="0"/>
              <a:t>运行后，进入</a:t>
            </a:r>
            <a:r>
              <a:rPr lang="en-US" altLang="zh-CN" sz="1800" dirty="0" err="1"/>
              <a:t>Qt</a:t>
            </a:r>
            <a:r>
              <a:rPr lang="en-US" altLang="zh-CN" sz="1800" dirty="0"/>
              <a:t> Creator</a:t>
            </a:r>
            <a:r>
              <a:rPr lang="zh-CN" altLang="zh-CN" sz="1800" dirty="0"/>
              <a:t>初始界面，如图所示。</a:t>
            </a:r>
            <a:endParaRPr lang="zh-CN" altLang="zh-CN" sz="1800" dirty="0"/>
          </a:p>
        </p:txBody>
      </p:sp>
      <p:pic>
        <p:nvPicPr>
          <p:cNvPr id="8194" name="图片 1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3380" y="1811058"/>
            <a:ext cx="7742739" cy="4464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56965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Qt</a:t>
            </a:r>
            <a:r>
              <a:rPr kumimoji="1" lang="zh-CN" altLang="en-US" sz="2800" b="1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安装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517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TextBox 2"/>
          <p:cNvSpPr txBox="1"/>
          <p:nvPr/>
        </p:nvSpPr>
        <p:spPr>
          <a:xfrm>
            <a:off x="1046794" y="1267279"/>
            <a:ext cx="978799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0850">
              <a:lnSpc>
                <a:spcPct val="150000"/>
              </a:lnSpc>
            </a:pPr>
            <a:r>
              <a:rPr lang="zh-CN" altLang="zh-CN" dirty="0"/>
              <a:t>在欢迎界面中可以看到最左端的一栏按钮，该栏按钮功能分别如下。</a:t>
            </a:r>
            <a:endParaRPr lang="zh-CN" altLang="zh-CN" dirty="0"/>
          </a:p>
          <a:p>
            <a:pPr indent="450850" fontAlgn="ctr">
              <a:lnSpc>
                <a:spcPct val="150000"/>
              </a:lnSpc>
            </a:pPr>
            <a:r>
              <a:rPr lang="en-US" altLang="zh-CN" b="1" dirty="0">
                <a:sym typeface="Wingdings" panose="05000000000000000000"/>
              </a:rPr>
              <a:t></a:t>
            </a:r>
            <a:r>
              <a:rPr lang="en-US" altLang="zh-CN" b="1" dirty="0"/>
              <a:t> </a:t>
            </a:r>
            <a:r>
              <a:rPr lang="en-US" altLang="zh-CN" b="1" dirty="0" smtClean="0"/>
              <a:t>    </a:t>
            </a:r>
            <a:r>
              <a:rPr lang="zh-CN" altLang="zh-CN" b="1" dirty="0" smtClean="0"/>
              <a:t>（</a:t>
            </a:r>
            <a:r>
              <a:rPr lang="zh-CN" altLang="zh-CN" b="1" dirty="0"/>
              <a:t>欢迎）：</a:t>
            </a:r>
            <a:r>
              <a:rPr lang="zh-CN" altLang="zh-CN" dirty="0"/>
              <a:t>在此处可以选择自带的例子演示，在下一次打开欢迎界面时能够显示最近一次的一些项目，免除自己再去查找的麻烦。</a:t>
            </a:r>
            <a:endParaRPr lang="zh-CN" altLang="zh-CN" dirty="0"/>
          </a:p>
          <a:p>
            <a:pPr indent="450850" fontAlgn="ctr">
              <a:lnSpc>
                <a:spcPct val="150000"/>
              </a:lnSpc>
            </a:pPr>
            <a:r>
              <a:rPr lang="en-US" altLang="zh-CN" b="1" dirty="0">
                <a:sym typeface="Wingdings" panose="05000000000000000000"/>
              </a:rPr>
              <a:t></a:t>
            </a:r>
            <a:r>
              <a:rPr lang="en-US" altLang="zh-CN" b="1" dirty="0"/>
              <a:t> </a:t>
            </a:r>
            <a:r>
              <a:rPr lang="en-US" altLang="zh-CN" b="1" dirty="0" smtClean="0"/>
              <a:t>    </a:t>
            </a:r>
            <a:r>
              <a:rPr lang="zh-CN" altLang="zh-CN" b="1" dirty="0" smtClean="0"/>
              <a:t>（</a:t>
            </a:r>
            <a:r>
              <a:rPr lang="zh-CN" altLang="zh-CN" b="1" dirty="0"/>
              <a:t>编辑）：</a:t>
            </a:r>
            <a:r>
              <a:rPr lang="zh-CN" altLang="zh-CN" dirty="0"/>
              <a:t>在此处编写代码进行程序设计。</a:t>
            </a:r>
            <a:endParaRPr lang="zh-CN" altLang="zh-CN" dirty="0"/>
          </a:p>
          <a:p>
            <a:pPr indent="450850" fontAlgn="ctr">
              <a:lnSpc>
                <a:spcPct val="150000"/>
              </a:lnSpc>
            </a:pPr>
            <a:r>
              <a:rPr lang="en-US" altLang="zh-CN" b="1" dirty="0">
                <a:sym typeface="Wingdings" panose="05000000000000000000"/>
              </a:rPr>
              <a:t></a:t>
            </a:r>
            <a:r>
              <a:rPr lang="en-US" altLang="zh-CN" b="1" dirty="0"/>
              <a:t> </a:t>
            </a:r>
            <a:r>
              <a:rPr lang="en-US" altLang="zh-CN" b="1" dirty="0" smtClean="0"/>
              <a:t>    </a:t>
            </a:r>
            <a:r>
              <a:rPr lang="zh-CN" altLang="zh-CN" b="1" dirty="0" smtClean="0"/>
              <a:t>（</a:t>
            </a:r>
            <a:r>
              <a:rPr lang="zh-CN" altLang="zh-CN" b="1" dirty="0"/>
              <a:t>设计）：</a:t>
            </a:r>
            <a:r>
              <a:rPr lang="zh-CN" altLang="zh-CN" dirty="0"/>
              <a:t>在这里设计图形界面，进行部件属性设置、信号和槽设置及布局设置等操作。</a:t>
            </a:r>
            <a:endParaRPr lang="zh-CN" altLang="zh-CN" dirty="0"/>
          </a:p>
          <a:p>
            <a:pPr indent="450850" fontAlgn="ctr">
              <a:lnSpc>
                <a:spcPct val="150000"/>
              </a:lnSpc>
            </a:pPr>
            <a:r>
              <a:rPr lang="en-US" altLang="zh-CN" b="1" dirty="0">
                <a:sym typeface="Wingdings" panose="05000000000000000000"/>
              </a:rPr>
              <a:t></a:t>
            </a:r>
            <a:r>
              <a:rPr lang="en-US" altLang="zh-CN" b="1" dirty="0"/>
              <a:t> </a:t>
            </a:r>
            <a:r>
              <a:rPr lang="en-US" altLang="zh-CN" b="1" dirty="0" smtClean="0"/>
              <a:t>    </a:t>
            </a:r>
            <a:r>
              <a:rPr lang="zh-CN" altLang="zh-CN" b="1" dirty="0" smtClean="0"/>
              <a:t>（</a:t>
            </a:r>
            <a:r>
              <a:rPr lang="en-US" altLang="zh-CN" b="1" dirty="0"/>
              <a:t>Debug</a:t>
            </a:r>
            <a:r>
              <a:rPr lang="zh-CN" altLang="zh-CN" b="1" dirty="0"/>
              <a:t>）：</a:t>
            </a:r>
            <a:r>
              <a:rPr lang="zh-CN" altLang="zh-CN" dirty="0"/>
              <a:t>在此界面下可以根据需要调试程序，以便跟踪观察程序的运行情况。</a:t>
            </a:r>
            <a:endParaRPr lang="zh-CN" altLang="zh-CN" dirty="0"/>
          </a:p>
          <a:p>
            <a:pPr indent="450850" fontAlgn="ctr">
              <a:lnSpc>
                <a:spcPct val="150000"/>
              </a:lnSpc>
            </a:pPr>
            <a:r>
              <a:rPr lang="en-US" altLang="zh-CN" b="1" dirty="0">
                <a:sym typeface="Wingdings" panose="05000000000000000000"/>
              </a:rPr>
              <a:t></a:t>
            </a:r>
            <a:r>
              <a:rPr lang="en-US" altLang="zh-CN" b="1" dirty="0"/>
              <a:t> </a:t>
            </a:r>
            <a:r>
              <a:rPr lang="en-US" altLang="zh-CN" b="1" dirty="0" smtClean="0"/>
              <a:t>    </a:t>
            </a:r>
            <a:r>
              <a:rPr lang="zh-CN" altLang="zh-CN" b="1" dirty="0" smtClean="0"/>
              <a:t>（</a:t>
            </a:r>
            <a:r>
              <a:rPr lang="zh-CN" altLang="zh-CN" b="1" dirty="0"/>
              <a:t>项目）：</a:t>
            </a:r>
            <a:r>
              <a:rPr lang="zh-CN" altLang="zh-CN" dirty="0"/>
              <a:t>在此界面下可以完成开发环境的相关配置。</a:t>
            </a:r>
            <a:endParaRPr lang="zh-CN" altLang="zh-CN" dirty="0"/>
          </a:p>
          <a:p>
            <a:pPr indent="450850" fontAlgn="ctr">
              <a:lnSpc>
                <a:spcPct val="150000"/>
              </a:lnSpc>
            </a:pPr>
            <a:r>
              <a:rPr lang="en-US" altLang="zh-CN" b="1" dirty="0">
                <a:sym typeface="Wingdings" panose="05000000000000000000"/>
              </a:rPr>
              <a:t></a:t>
            </a:r>
            <a:r>
              <a:rPr lang="en-US" altLang="zh-CN" b="1" dirty="0"/>
              <a:t> </a:t>
            </a:r>
            <a:r>
              <a:rPr lang="en-US" altLang="zh-CN" b="1" dirty="0" smtClean="0"/>
              <a:t>    </a:t>
            </a:r>
            <a:r>
              <a:rPr lang="zh-CN" altLang="zh-CN" b="1" dirty="0" smtClean="0"/>
              <a:t>（</a:t>
            </a:r>
            <a:r>
              <a:rPr lang="zh-CN" altLang="zh-CN" b="1" dirty="0"/>
              <a:t>帮助）：</a:t>
            </a:r>
            <a:r>
              <a:rPr lang="zh-CN" altLang="zh-CN" dirty="0"/>
              <a:t>可以在此处输入关键字，查找相关帮助信息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  <p:pic>
        <p:nvPicPr>
          <p:cNvPr id="9218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108" y="1811387"/>
            <a:ext cx="189758" cy="306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289" y="2665342"/>
            <a:ext cx="201633" cy="325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099" y="3102493"/>
            <a:ext cx="189758" cy="30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632" y="3921053"/>
            <a:ext cx="213508" cy="266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图片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034" y="4272696"/>
            <a:ext cx="201633" cy="336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图片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296" y="4690427"/>
            <a:ext cx="205371" cy="31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56965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Qt</a:t>
            </a:r>
            <a:r>
              <a:rPr kumimoji="1" lang="zh-CN" altLang="en-US" sz="2800" b="1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安装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517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4735" y="1264285"/>
            <a:ext cx="9628505" cy="922020"/>
          </a:xfrm>
          <a:prstGeom prst="rect">
            <a:avLst/>
          </a:prstGeom>
        </p:spPr>
        <p:txBody>
          <a:bodyPr wrap="square">
            <a:spAutoFit/>
          </a:bodyPr>
          <a:p>
            <a:pPr indent="450850" algn="l" fontAlgn="auto">
              <a:lnSpc>
                <a:spcPct val="150000"/>
              </a:lnSpc>
            </a:pPr>
            <a:r>
              <a:rPr lang="zh-CN" altLang="zh-CN" dirty="0">
                <a:sym typeface="+mn-ea"/>
              </a:rPr>
              <a:t>在设计器中用鼠标直接拖曳这些窗口部件，能够高效、快速地实现</a:t>
            </a:r>
            <a:r>
              <a:rPr lang="en-US" altLang="zh-CN" dirty="0">
                <a:sym typeface="+mn-ea"/>
              </a:rPr>
              <a:t>GUI</a:t>
            </a:r>
            <a:r>
              <a:rPr lang="zh-CN" altLang="zh-CN" dirty="0">
                <a:sym typeface="+mn-ea"/>
              </a:rPr>
              <a:t>界面的设计，界面直观形象，所见即所得。</a:t>
            </a:r>
            <a:r>
              <a:rPr lang="en-US" altLang="zh-CN" dirty="0" err="1">
                <a:sym typeface="+mn-ea"/>
              </a:rPr>
              <a:t>Qt</a:t>
            </a:r>
            <a:r>
              <a:rPr lang="en-US" altLang="zh-CN" dirty="0">
                <a:sym typeface="+mn-ea"/>
              </a:rPr>
              <a:t> Designer</a:t>
            </a:r>
            <a:r>
              <a:rPr lang="zh-CN" altLang="zh-CN" dirty="0">
                <a:sym typeface="+mn-ea"/>
              </a:rPr>
              <a:t>界面如图所示</a:t>
            </a:r>
            <a:r>
              <a:rPr lang="zh-CN" altLang="zh-CN" dirty="0" smtClean="0">
                <a:sym typeface="+mn-ea"/>
              </a:rPr>
              <a:t>。</a:t>
            </a:r>
            <a:endParaRPr lang="zh-CN" altLang="zh-CN" sz="1800" dirty="0"/>
          </a:p>
        </p:txBody>
      </p:sp>
      <p:pic>
        <p:nvPicPr>
          <p:cNvPr id="10242" name="Picture 2" descr="1t1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887" y="2186594"/>
            <a:ext cx="7791933" cy="4462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56965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Qt</a:t>
            </a:r>
            <a:r>
              <a:rPr kumimoji="1" lang="zh-CN" altLang="en-US" sz="2800" b="1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安装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517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4735" y="1264285"/>
            <a:ext cx="9628505" cy="922020"/>
          </a:xfrm>
          <a:prstGeom prst="rect">
            <a:avLst/>
          </a:prstGeom>
        </p:spPr>
        <p:txBody>
          <a:bodyPr wrap="square">
            <a:spAutoFit/>
          </a:bodyPr>
          <a:p>
            <a:pPr indent="450850" fontAlgn="auto">
              <a:lnSpc>
                <a:spcPct val="150000"/>
              </a:lnSpc>
            </a:pPr>
            <a:r>
              <a:rPr lang="zh-CN" altLang="zh-CN" dirty="0">
                <a:sym typeface="+mn-ea"/>
              </a:rPr>
              <a:t>进入</a:t>
            </a:r>
            <a:r>
              <a:rPr lang="en-US" altLang="zh-CN" dirty="0" err="1">
                <a:sym typeface="+mn-ea"/>
              </a:rPr>
              <a:t>Qt</a:t>
            </a:r>
            <a:r>
              <a:rPr lang="zh-CN" altLang="zh-CN" dirty="0">
                <a:sym typeface="+mn-ea"/>
              </a:rPr>
              <a:t>设计器主界面后，看到的</a:t>
            </a:r>
            <a:r>
              <a:rPr lang="en-US" altLang="zh-CN" dirty="0">
                <a:sym typeface="+mn-ea"/>
              </a:rPr>
              <a:t>form</a:t>
            </a:r>
            <a:r>
              <a:rPr lang="zh-CN" altLang="zh-CN" dirty="0">
                <a:sym typeface="+mn-ea"/>
              </a:rPr>
              <a:t>部分（如图</a:t>
            </a:r>
            <a:r>
              <a:rPr lang="en-US" altLang="zh-CN" dirty="0">
                <a:sym typeface="+mn-ea"/>
              </a:rPr>
              <a:t>1.14</a:t>
            </a:r>
            <a:r>
              <a:rPr lang="zh-CN" altLang="zh-CN" dirty="0">
                <a:sym typeface="+mn-ea"/>
              </a:rPr>
              <a:t>所示）就是将要设计的顶层窗口部件（顶层窗口部件是其他子窗口部件的载体）</a:t>
            </a:r>
            <a:r>
              <a:rPr lang="zh-CN" altLang="zh-CN" dirty="0" smtClean="0">
                <a:sym typeface="+mn-ea"/>
              </a:rPr>
              <a:t>。</a:t>
            </a:r>
            <a:endParaRPr lang="zh-CN" altLang="zh-CN" sz="1800" dirty="0"/>
          </a:p>
        </p:txBody>
      </p:sp>
      <p:pic>
        <p:nvPicPr>
          <p:cNvPr id="11266" name="Picture 2" descr="1t1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784" y="2472756"/>
            <a:ext cx="5035847" cy="3502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菱形 2"/>
          <p:cNvSpPr/>
          <p:nvPr/>
        </p:nvSpPr>
        <p:spPr>
          <a:xfrm>
            <a:off x="3544570" y="2345690"/>
            <a:ext cx="2353310" cy="2353310"/>
          </a:xfrm>
          <a:prstGeom prst="diamond">
            <a:avLst/>
          </a:prstGeom>
          <a:ln>
            <a:solidFill>
              <a:srgbClr val="FCC196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bg1"/>
                </a:solidFill>
              </a:rPr>
              <a:t>Qt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35972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环境安装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517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菱形 3"/>
          <p:cNvSpPr/>
          <p:nvPr/>
        </p:nvSpPr>
        <p:spPr>
          <a:xfrm>
            <a:off x="9375775" y="2252345"/>
            <a:ext cx="2353310" cy="2353310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C3D594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bg1"/>
                </a:solidFill>
              </a:rPr>
              <a:t>Yolov5</a:t>
            </a:r>
            <a:endParaRPr lang="en-US" altLang="zh-CN" sz="1600" b="1">
              <a:solidFill>
                <a:schemeClr val="bg1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350000" y="2244725"/>
            <a:ext cx="2555240" cy="2555240"/>
            <a:chOff x="14443" y="3535"/>
            <a:chExt cx="4024" cy="4024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grpSpPr>
        <p:sp>
          <p:nvSpPr>
            <p:cNvPr id="5" name="菱形 4"/>
            <p:cNvSpPr/>
            <p:nvPr/>
          </p:nvSpPr>
          <p:spPr>
            <a:xfrm>
              <a:off x="14443" y="3694"/>
              <a:ext cx="3706" cy="3706"/>
            </a:xfrm>
            <a:prstGeom prst="diamond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r>
                <a:rPr lang="en-US" altLang="zh-CN" sz="1600" b="1">
                  <a:solidFill>
                    <a:schemeClr val="bg1"/>
                  </a:solidFill>
                </a:rPr>
                <a:t>Pycharm</a:t>
              </a:r>
              <a:endParaRPr lang="en-US" altLang="zh-CN" sz="1600" b="1">
                <a:solidFill>
                  <a:schemeClr val="bg1"/>
                </a:solidFill>
              </a:endParaRPr>
            </a:p>
          </p:txBody>
        </p:sp>
        <p:sp>
          <p:nvSpPr>
            <p:cNvPr id="6" name="菱形 5"/>
            <p:cNvSpPr/>
            <p:nvPr/>
          </p:nvSpPr>
          <p:spPr>
            <a:xfrm>
              <a:off x="14443" y="3535"/>
              <a:ext cx="4024" cy="4024"/>
            </a:xfrm>
            <a:prstGeom prst="diamond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" name="菱形 9"/>
          <p:cNvSpPr/>
          <p:nvPr>
            <p:custDataLst>
              <p:tags r:id="rId1"/>
            </p:custDataLst>
          </p:nvPr>
        </p:nvSpPr>
        <p:spPr>
          <a:xfrm>
            <a:off x="653415" y="2345690"/>
            <a:ext cx="2353310" cy="2353310"/>
          </a:xfrm>
          <a:prstGeom prst="diamond">
            <a:avLst/>
          </a:prstGeom>
          <a:solidFill>
            <a:schemeClr val="accent5"/>
          </a:solidFill>
          <a:ln>
            <a:solidFill>
              <a:srgbClr val="FCC196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Anaconda</a:t>
            </a:r>
            <a:endParaRPr lang="en-US" altLang="zh-CN" sz="14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56965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Qt</a:t>
            </a:r>
            <a:r>
              <a:rPr kumimoji="1" lang="en-US" altLang="zh-CN" sz="2800" b="1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 &amp; Pycharm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517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5645342" y="2931592"/>
            <a:ext cx="977818" cy="261610"/>
            <a:chOff x="4502977" y="2383587"/>
            <a:chExt cx="977818" cy="261610"/>
          </a:xfrm>
        </p:grpSpPr>
        <p:sp>
          <p:nvSpPr>
            <p:cNvPr id="9" name="TextBox 8"/>
            <p:cNvSpPr txBox="1">
              <a:spLocks noChangeArrowheads="1"/>
            </p:cNvSpPr>
            <p:nvPr/>
          </p:nvSpPr>
          <p:spPr bwMode="auto">
            <a:xfrm>
              <a:off x="4502977" y="2383587"/>
              <a:ext cx="939898" cy="26161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100" smtClean="0">
                  <a:ln w="0"/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+</a:t>
              </a:r>
              <a:r>
                <a:rPr lang="zh-CN" altLang="en-US" sz="1100" smtClean="0">
                  <a:ln w="0"/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版本号</a:t>
              </a:r>
              <a:endParaRPr lang="zh-CN" altLang="en-US" sz="110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cxnSp>
          <p:nvCxnSpPr>
            <p:cNvPr id="14" name="直接箭头连接符 13"/>
            <p:cNvCxnSpPr/>
            <p:nvPr/>
          </p:nvCxnSpPr>
          <p:spPr>
            <a:xfrm>
              <a:off x="4540897" y="2629255"/>
              <a:ext cx="939898" cy="6820"/>
            </a:xfrm>
            <a:prstGeom prst="straightConnector1">
              <a:avLst/>
            </a:prstGeom>
            <a:ln w="2222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8"/>
          <p:cNvSpPr txBox="1">
            <a:spLocks noChangeArrowheads="1"/>
          </p:cNvSpPr>
          <p:nvPr/>
        </p:nvSpPr>
        <p:spPr bwMode="auto">
          <a:xfrm>
            <a:off x="6623160" y="2973798"/>
            <a:ext cx="939898" cy="42056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135" err="1" smtClean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PyQt5</a:t>
            </a:r>
            <a:endParaRPr lang="zh-CN" altLang="en-US" sz="2135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47365" y="4328855"/>
            <a:ext cx="4953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0" smtClean="0">
                <a:latin typeface="Times New Roman" panose="02020603050405020304" pitchFamily="18" charset="0"/>
              </a:rPr>
              <a:t>Qt</a:t>
            </a:r>
            <a:r>
              <a:rPr lang="zh-CN" altLang="zh-CN" kern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官</a:t>
            </a:r>
            <a:r>
              <a:rPr lang="zh-CN" altLang="zh-CN" kern="0">
                <a:latin typeface="Times New Roman" panose="02020603050405020304" pitchFamily="18" charset="0"/>
                <a:cs typeface="Times New Roman" panose="02020603050405020304" pitchFamily="18" charset="0"/>
              </a:rPr>
              <a:t>网：</a:t>
            </a:r>
            <a:r>
              <a:rPr lang="en-US" altLang="zh-CN" kern="0">
                <a:latin typeface="Times New Roman" panose="02020603050405020304" pitchFamily="18" charset="0"/>
                <a:hlinkClick r:id="rId1"/>
              </a:rPr>
              <a:t>https://</a:t>
            </a:r>
            <a:r>
              <a:rPr lang="en-US" altLang="zh-CN" kern="0" smtClean="0">
                <a:latin typeface="Times New Roman" panose="02020603050405020304" pitchFamily="18" charset="0"/>
                <a:hlinkClick r:id="rId1"/>
              </a:rPr>
              <a:t>www.qt.io/cn</a:t>
            </a:r>
            <a:endParaRPr lang="en-US" altLang="zh-CN" kern="0" smtClean="0">
              <a:latin typeface="Times New Roman" panose="02020603050405020304" pitchFamily="18" charset="0"/>
            </a:endParaRPr>
          </a:p>
          <a:p>
            <a:r>
              <a:rPr lang="en-US" altLang="zh-CN" kern="0">
                <a:latin typeface="Times New Roman" panose="02020603050405020304" pitchFamily="18" charset="0"/>
              </a:rPr>
              <a:t>PyQt</a:t>
            </a:r>
            <a:r>
              <a:rPr lang="zh-CN" altLang="zh-CN" kern="0">
                <a:latin typeface="Times New Roman" panose="02020603050405020304" pitchFamily="18" charset="0"/>
                <a:cs typeface="Times New Roman" panose="02020603050405020304" pitchFamily="18" charset="0"/>
              </a:rPr>
              <a:t>官网：</a:t>
            </a:r>
            <a:r>
              <a:rPr lang="en-US" altLang="zh-CN" kern="0">
                <a:latin typeface="Times New Roman" panose="02020603050405020304" pitchFamily="18" charset="0"/>
                <a:hlinkClick r:id="rId2"/>
              </a:rPr>
              <a:t>https://www.riverbankcomputing.com</a:t>
            </a:r>
            <a:r>
              <a:rPr lang="en-US" altLang="zh-CN" kern="0" smtClean="0">
                <a:latin typeface="Times New Roman" panose="02020603050405020304" pitchFamily="18" charset="0"/>
                <a:hlinkClick r:id="rId2"/>
              </a:rPr>
              <a:t>/</a:t>
            </a:r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009629" y="1313075"/>
            <a:ext cx="3554158" cy="609600"/>
            <a:chOff x="76200" y="868310"/>
            <a:chExt cx="3554158" cy="609600"/>
          </a:xfrm>
        </p:grpSpPr>
        <p:sp>
          <p:nvSpPr>
            <p:cNvPr id="18" name="标题 8"/>
            <p:cNvSpPr txBox="1"/>
            <p:nvPr/>
          </p:nvSpPr>
          <p:spPr>
            <a:xfrm>
              <a:off x="1103672" y="868310"/>
              <a:ext cx="2526686" cy="609600"/>
            </a:xfrm>
            <a:prstGeom prst="rect">
              <a:avLst/>
            </a:prstGeom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800" smtClean="0">
                  <a:latin typeface="+mj-lt"/>
                  <a:ea typeface="微软雅黑" panose="020B0503020204020204" pitchFamily="34" charset="-122"/>
                  <a:cs typeface="+mj-cs"/>
                </a:rPr>
                <a:t>Qt</a:t>
              </a:r>
              <a:r>
                <a:rPr lang="zh-CN" altLang="en-US" sz="2800" smtClean="0">
                  <a:latin typeface="+mj-lt"/>
                  <a:ea typeface="微软雅黑" panose="020B0503020204020204" pitchFamily="34" charset="-122"/>
                  <a:cs typeface="+mj-cs"/>
                </a:rPr>
                <a:t>与</a:t>
              </a:r>
              <a:r>
                <a:rPr lang="en-US" altLang="zh-CN" sz="2800" smtClean="0">
                  <a:latin typeface="+mj-lt"/>
                  <a:ea typeface="微软雅黑" panose="020B0503020204020204" pitchFamily="34" charset="-122"/>
                  <a:cs typeface="+mj-cs"/>
                </a:rPr>
                <a:t>PyQt5</a:t>
              </a:r>
              <a:endPara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</a:endParaRPr>
            </a:p>
          </p:txBody>
        </p:sp>
        <p:pic>
          <p:nvPicPr>
            <p:cNvPr id="19" name="Picture 4" descr="按扭1-5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6200" y="895350"/>
              <a:ext cx="1066800" cy="455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1134" y="3299501"/>
            <a:ext cx="761905" cy="59047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7365" y="2437765"/>
            <a:ext cx="1485714" cy="419048"/>
          </a:xfrm>
          <a:prstGeom prst="rect">
            <a:avLst/>
          </a:prstGeom>
        </p:spPr>
      </p:pic>
      <p:sp>
        <p:nvSpPr>
          <p:cNvPr id="6" name="右大括号 5"/>
          <p:cNvSpPr/>
          <p:nvPr/>
        </p:nvSpPr>
        <p:spPr>
          <a:xfrm rot="10800000" flipH="1">
            <a:off x="4447560" y="2696328"/>
            <a:ext cx="295804" cy="969484"/>
          </a:xfrm>
          <a:prstGeom prst="rightBrac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4743364" y="2970788"/>
            <a:ext cx="939898" cy="4205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135" smtClean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PyQt</a:t>
            </a:r>
            <a:endParaRPr lang="zh-CN" altLang="en-US" sz="2135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162550" y="5249624"/>
            <a:ext cx="1981200" cy="595313"/>
          </a:xfrm>
          <a:prstGeom prst="rect">
            <a:avLst/>
          </a:prstGeom>
          <a:solidFill>
            <a:srgbClr val="CC00CC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zh-CN" sz="24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仿宋" panose="02010609060101010101" pitchFamily="49" charset="-122"/>
                <a:sym typeface="+mn-ea"/>
              </a:rPr>
              <a:t>pyqt5-tools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  <a:cs typeface="仿宋" panose="02010609060101010101" pitchFamily="49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510463" y="5249624"/>
            <a:ext cx="2019300" cy="595313"/>
          </a:xfrm>
          <a:prstGeom prst="rect">
            <a:avLst/>
          </a:prstGeom>
          <a:solidFill>
            <a:srgbClr val="FF8A15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p>
            <a:pPr algn="ctr">
              <a:defRPr/>
            </a:pPr>
            <a:r>
              <a:rPr lang="en-US" altLang="zh-CN" sz="24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仿宋" panose="02010609060101010101" pitchFamily="49" charset="-122"/>
                <a:sym typeface="+mn-ea"/>
              </a:rPr>
              <a:t>pyqt5designer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  <a:cs typeface="仿宋" panose="02010609060101010101" pitchFamily="49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067050" y="5250259"/>
            <a:ext cx="1728787" cy="595313"/>
          </a:xfrm>
          <a:prstGeom prst="rect">
            <a:avLst/>
          </a:prstGeom>
          <a:solidFill>
            <a:srgbClr val="00B0F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zh-CN" sz="28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仿宋" panose="02010609060101010101" pitchFamily="49" charset="-122"/>
                <a:sym typeface="+mn-ea"/>
              </a:rPr>
              <a:t>pyqt5</a:t>
            </a:r>
            <a:endParaRPr lang="zh-CN" alt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  <a:cs typeface="仿宋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4" grpId="0"/>
      <p:bldP spid="6" grpId="0" bldLvl="0" animBg="1"/>
      <p:bldP spid="7" grpId="0" bldLvl="0" animBg="1"/>
      <p:bldP spid="2" grpId="0" bldLvl="0" animBg="1"/>
      <p:bldP spid="8" grpId="0" bldLvl="0" animBg="1"/>
      <p:bldP spid="10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56965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Pycharm</a:t>
            </a:r>
            <a:endParaRPr kumimoji="1" lang="en-US" sz="2000" b="1" i="0" u="none" strike="noStrike" kern="1200" cap="none" spc="0" normalizeH="0" baseline="0" noProof="0" dirty="0">
              <a:ln>
                <a:noFill/>
              </a:ln>
              <a:solidFill>
                <a:srgbClr val="00517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19935" y="1430020"/>
            <a:ext cx="8152765" cy="20199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Pycharm</a:t>
            </a: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安装</a:t>
            </a:r>
            <a:endParaRPr lang="zh-CN" alt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en-US" altLang="zh-CN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PyCharm是使用最广泛的一种集成开发环境适用于Python编程语言。它对于代码的检索、提示和补全非常友好，同时便于跨平台开发。</a:t>
            </a:r>
            <a:endParaRPr lang="zh-CN" altLang="en-US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zh-CN" altLang="en-US" sz="1600" u="sng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sz="1600" u="sng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官网下载地址：https://www.jetbrains.com/pycharm/</a:t>
            </a:r>
            <a:endParaRPr lang="zh-CN" altLang="en-US" sz="1600" u="sng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3575050"/>
            <a:ext cx="4820920" cy="242252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493645" y="5997575"/>
            <a:ext cx="128206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sz="1200" dirty="0" smtClean="0">
                <a:ea typeface="+mn-lt"/>
                <a:cs typeface="Times New Roman" panose="02020603050405020304" pitchFamily="18" charset="0"/>
                <a:sym typeface="+mn-ea"/>
              </a:rPr>
              <a:t>官网下载界面</a:t>
            </a:r>
            <a:endParaRPr lang="zh-CN" altLang="en-US" sz="1200" dirty="0" smtClean="0">
              <a:ea typeface="+mn-lt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800" y="3507105"/>
            <a:ext cx="2954020" cy="2432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970" y="3478530"/>
            <a:ext cx="3019425" cy="24892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122670" y="5939155"/>
            <a:ext cx="128206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sz="1200" dirty="0" smtClean="0">
                <a:ea typeface="+mn-lt"/>
                <a:cs typeface="Times New Roman" panose="02020603050405020304" pitchFamily="18" charset="0"/>
                <a:sym typeface="+mn-ea"/>
              </a:rPr>
              <a:t>自定义路径</a:t>
            </a:r>
            <a:endParaRPr lang="zh-CN" sz="1200" dirty="0" smtClean="0">
              <a:ea typeface="+mn-lt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522970" y="5939155"/>
            <a:ext cx="29984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sz="1200" dirty="0" smtClean="0">
                <a:ea typeface="+mn-lt"/>
                <a:cs typeface="Times New Roman" panose="02020603050405020304" pitchFamily="18" charset="0"/>
                <a:sym typeface="+mn-ea"/>
              </a:rPr>
              <a:t>创建快捷方式，添加环境变量，添加鼠标右键菜单，</a:t>
            </a:r>
            <a:r>
              <a:rPr lang="en-US" altLang="zh-CN" sz="1200" dirty="0" smtClean="0">
                <a:ea typeface="+mn-lt"/>
                <a:cs typeface="Times New Roman" panose="02020603050405020304" pitchFamily="18" charset="0"/>
                <a:sym typeface="+mn-ea"/>
              </a:rPr>
              <a:t>py</a:t>
            </a:r>
            <a:r>
              <a:rPr lang="zh-CN" altLang="en-US" sz="1200" dirty="0" smtClean="0">
                <a:ea typeface="+mn-lt"/>
                <a:cs typeface="Times New Roman" panose="02020603050405020304" pitchFamily="18" charset="0"/>
                <a:sym typeface="+mn-ea"/>
              </a:rPr>
              <a:t>文件关联</a:t>
            </a:r>
            <a:r>
              <a:rPr lang="en-US" altLang="zh-CN" sz="1200" dirty="0" smtClean="0">
                <a:ea typeface="+mn-lt"/>
                <a:cs typeface="Times New Roman" panose="02020603050405020304" pitchFamily="18" charset="0"/>
                <a:sym typeface="+mn-ea"/>
              </a:rPr>
              <a:t>pycharm</a:t>
            </a:r>
            <a:endParaRPr lang="en-US" altLang="zh-CN" sz="1200" dirty="0" smtClean="0">
              <a:ea typeface="+mn-lt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56965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Pycharm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517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19935" y="1430020"/>
            <a:ext cx="8152765" cy="6965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Pycharm</a:t>
            </a: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的配置</a:t>
            </a:r>
            <a:endParaRPr lang="zh-CN" alt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zh-CN" altLang="en-US" sz="1600" u="sng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 descr="pycharm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7830" y="2706370"/>
            <a:ext cx="5113655" cy="36925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019935" y="1858010"/>
            <a:ext cx="82689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前面介绍了</a:t>
            </a:r>
            <a:r>
              <a:rPr lang="en-US" altLang="zh-CN"/>
              <a:t>pyqt</a:t>
            </a:r>
            <a:r>
              <a:rPr lang="zh-CN" altLang="en-US"/>
              <a:t>的安装，这里打开</a:t>
            </a:r>
            <a:r>
              <a:rPr lang="en-US" altLang="zh-CN"/>
              <a:t>File-&gt;Settings</a:t>
            </a:r>
            <a:r>
              <a:rPr lang="zh-CN" altLang="en-US"/>
              <a:t>，找到</a:t>
            </a:r>
            <a:r>
              <a:rPr lang="en-US" altLang="zh-CN"/>
              <a:t>Project</a:t>
            </a:r>
            <a:r>
              <a:rPr lang="zh-CN" altLang="en-US"/>
              <a:t>节点下的</a:t>
            </a:r>
            <a:r>
              <a:rPr lang="en-US" altLang="zh-CN"/>
              <a:t>Python Interper</a:t>
            </a:r>
            <a:r>
              <a:rPr lang="zh-CN" altLang="en-US"/>
              <a:t>，会显示已安装</a:t>
            </a:r>
            <a:r>
              <a:rPr lang="en-US" altLang="zh-CN"/>
              <a:t>pyqt</a:t>
            </a:r>
            <a:r>
              <a:rPr lang="zh-CN" altLang="en-US"/>
              <a:t>的扩展库。</a:t>
            </a:r>
            <a:endParaRPr lang="zh-CN" altLang="en-US"/>
          </a:p>
        </p:txBody>
      </p:sp>
      <p:pic>
        <p:nvPicPr>
          <p:cNvPr id="5" name="图片 4" descr="pycharm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935" y="2706370"/>
            <a:ext cx="2710180" cy="369887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56965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Pycharm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517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19935" y="1430020"/>
            <a:ext cx="8152765" cy="6965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Pycharm</a:t>
            </a: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的配置</a:t>
            </a:r>
            <a:r>
              <a:rPr lang="en-US" altLang="zh-CN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-PyQt5</a:t>
            </a: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设计器及转换工具</a:t>
            </a:r>
            <a:endParaRPr lang="zh-CN" alt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zh-CN" altLang="en-US" sz="1600" u="sng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 descr="pycharm4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840" y="1820545"/>
            <a:ext cx="8162290" cy="1471930"/>
          </a:xfrm>
          <a:prstGeom prst="rect">
            <a:avLst/>
          </a:prstGeom>
        </p:spPr>
      </p:pic>
      <p:pic>
        <p:nvPicPr>
          <p:cNvPr id="4" name="图片 3" descr="pycharm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320" y="3292475"/>
            <a:ext cx="4289425" cy="309753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56965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Pycharm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517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19935" y="1430020"/>
            <a:ext cx="8152765" cy="6965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Pycharm</a:t>
            </a: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的配置</a:t>
            </a:r>
            <a:r>
              <a:rPr lang="en-US" altLang="zh-CN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-PyQt5</a:t>
            </a: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设计器及转换工具</a:t>
            </a:r>
            <a:endParaRPr lang="zh-CN" alt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zh-CN" altLang="en-US" sz="1600" u="sng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 descr="pycharm5-1"/>
          <p:cNvPicPr>
            <a:picLocks noChangeAspect="1"/>
          </p:cNvPicPr>
          <p:nvPr/>
        </p:nvPicPr>
        <p:blipFill>
          <a:blip r:embed="rId1"/>
          <a:srcRect l="773"/>
          <a:stretch>
            <a:fillRect/>
          </a:stretch>
        </p:blipFill>
        <p:spPr>
          <a:xfrm>
            <a:off x="1773555" y="1878330"/>
            <a:ext cx="8644890" cy="1030605"/>
          </a:xfrm>
          <a:prstGeom prst="rect">
            <a:avLst/>
          </a:prstGeom>
        </p:spPr>
      </p:pic>
      <p:pic>
        <p:nvPicPr>
          <p:cNvPr id="6" name="图片 5" descr="pycharm5-2"/>
          <p:cNvPicPr>
            <a:picLocks noChangeAspect="1"/>
          </p:cNvPicPr>
          <p:nvPr/>
        </p:nvPicPr>
        <p:blipFill>
          <a:blip r:embed="rId2"/>
          <a:srcRect t="13983"/>
          <a:stretch>
            <a:fillRect/>
          </a:stretch>
        </p:blipFill>
        <p:spPr>
          <a:xfrm>
            <a:off x="1738630" y="2826385"/>
            <a:ext cx="8510905" cy="644525"/>
          </a:xfrm>
          <a:prstGeom prst="rect">
            <a:avLst/>
          </a:prstGeom>
        </p:spPr>
      </p:pic>
      <p:pic>
        <p:nvPicPr>
          <p:cNvPr id="3" name="图片 2" descr="pycharm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845" y="3406775"/>
            <a:ext cx="4307840" cy="311086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56965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Pycharm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517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19935" y="1430020"/>
            <a:ext cx="8152765" cy="6965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Pycharm</a:t>
            </a: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的配置</a:t>
            </a:r>
            <a:r>
              <a:rPr lang="en-US" altLang="zh-CN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-PyQt5</a:t>
            </a: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设计器及转换工具</a:t>
            </a:r>
            <a:endParaRPr lang="zh-CN" alt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zh-CN" altLang="en-US" sz="1600" u="sng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 descr="pycharm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2670" y="3051175"/>
            <a:ext cx="4082415" cy="31483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770380" y="1844040"/>
            <a:ext cx="93878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完成以上配置后，在</a:t>
            </a:r>
            <a:r>
              <a:rPr lang="en-US" altLang="zh-CN"/>
              <a:t>PyCharm</a:t>
            </a:r>
            <a:r>
              <a:rPr lang="zh-CN" altLang="en-US"/>
              <a:t>开发工具的菜单中展开</a:t>
            </a:r>
            <a:r>
              <a:rPr lang="en-US" altLang="zh-CN"/>
              <a:t>Tools-&gt;External Tools</a:t>
            </a:r>
            <a:r>
              <a:rPr lang="zh-CN" altLang="en-US"/>
              <a:t>菜单项，即可看到配置的</a:t>
            </a:r>
            <a:r>
              <a:rPr lang="en-US" altLang="zh-CN"/>
              <a:t>Qt Designer</a:t>
            </a:r>
            <a:r>
              <a:rPr lang="zh-CN" altLang="en-US"/>
              <a:t>和</a:t>
            </a:r>
            <a:r>
              <a:rPr lang="en-US" altLang="zh-CN"/>
              <a:t>PyUIC</a:t>
            </a:r>
            <a:r>
              <a:rPr lang="zh-CN" altLang="en-US"/>
              <a:t>工具。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单击</a:t>
            </a:r>
            <a:r>
              <a:rPr lang="en-US" altLang="zh-CN"/>
              <a:t>“</a:t>
            </a:r>
            <a:r>
              <a:rPr lang="en-US" altLang="zh-CN">
                <a:sym typeface="+mn-ea"/>
              </a:rPr>
              <a:t>Qt Designer</a:t>
            </a:r>
            <a:r>
              <a:rPr lang="en-US" altLang="zh-CN"/>
              <a:t>”</a:t>
            </a:r>
            <a:r>
              <a:rPr lang="zh-CN" altLang="en-US"/>
              <a:t>，可以打开</a:t>
            </a:r>
            <a:r>
              <a:rPr lang="en-US" altLang="zh-CN"/>
              <a:t>QT</a:t>
            </a:r>
            <a:r>
              <a:rPr lang="zh-CN" altLang="en-US"/>
              <a:t>设计器。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选择一个</a:t>
            </a:r>
            <a:r>
              <a:rPr lang="en-US" altLang="zh-CN"/>
              <a:t>.ui</a:t>
            </a:r>
            <a:r>
              <a:rPr lang="zh-CN" altLang="en-US"/>
              <a:t>文件，</a:t>
            </a:r>
            <a:r>
              <a:rPr lang="zh-CN" altLang="en-US">
                <a:sym typeface="+mn-ea"/>
              </a:rPr>
              <a:t>单击</a:t>
            </a:r>
            <a:r>
              <a:rPr lang="en-US" altLang="zh-CN">
                <a:sym typeface="+mn-ea"/>
              </a:rPr>
              <a:t>“PyUIC”</a:t>
            </a:r>
            <a:r>
              <a:rPr lang="zh-CN" altLang="en-US">
                <a:sym typeface="+mn-ea"/>
              </a:rPr>
              <a:t>，可以</a:t>
            </a:r>
            <a:r>
              <a:rPr lang="zh-CN">
                <a:sym typeface="+mn-ea"/>
              </a:rPr>
              <a:t>将选中的</a:t>
            </a:r>
            <a:r>
              <a:rPr lang="en-US" altLang="zh-CN">
                <a:sym typeface="+mn-ea"/>
              </a:rPr>
              <a:t>.ui</a:t>
            </a:r>
            <a:r>
              <a:rPr lang="zh-CN" altLang="en-US">
                <a:sym typeface="+mn-ea"/>
              </a:rPr>
              <a:t>文件转换成</a:t>
            </a:r>
            <a:r>
              <a:rPr lang="en-US" altLang="zh-CN">
                <a:sym typeface="+mn-ea"/>
              </a:rPr>
              <a:t>.py</a:t>
            </a:r>
            <a:r>
              <a:rPr lang="zh-CN" altLang="en-US">
                <a:sym typeface="+mn-ea"/>
              </a:rPr>
              <a:t>代码文件。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菱形 2"/>
          <p:cNvSpPr/>
          <p:nvPr/>
        </p:nvSpPr>
        <p:spPr>
          <a:xfrm>
            <a:off x="3544570" y="2345690"/>
            <a:ext cx="2353310" cy="2353310"/>
          </a:xfrm>
          <a:prstGeom prst="diamond">
            <a:avLst/>
          </a:prstGeom>
          <a:ln>
            <a:solidFill>
              <a:srgbClr val="FCC196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bg1"/>
                </a:solidFill>
              </a:rPr>
              <a:t>Qt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35972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环境安装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517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菱形 3"/>
          <p:cNvSpPr/>
          <p:nvPr/>
        </p:nvSpPr>
        <p:spPr>
          <a:xfrm>
            <a:off x="6315710" y="2345690"/>
            <a:ext cx="2353310" cy="2353310"/>
          </a:xfrm>
          <a:prstGeom prst="diamond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C3D594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bg1"/>
                </a:solidFill>
              </a:rPr>
              <a:t>Pycharm</a:t>
            </a:r>
            <a:endParaRPr lang="en-US" altLang="zh-CN" sz="1600" b="1">
              <a:solidFill>
                <a:schemeClr val="bg1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171305" y="2244725"/>
            <a:ext cx="2555240" cy="2555240"/>
            <a:chOff x="14443" y="3535"/>
            <a:chExt cx="4024" cy="4024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grpSpPr>
        <p:sp>
          <p:nvSpPr>
            <p:cNvPr id="5" name="菱形 4"/>
            <p:cNvSpPr/>
            <p:nvPr/>
          </p:nvSpPr>
          <p:spPr>
            <a:xfrm>
              <a:off x="14443" y="3694"/>
              <a:ext cx="3706" cy="3706"/>
            </a:xfrm>
            <a:prstGeom prst="diamond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r>
                <a:rPr lang="en-US" altLang="zh-CN" b="1">
                  <a:solidFill>
                    <a:schemeClr val="bg1"/>
                  </a:solidFill>
                </a:rPr>
                <a:t>Yolov5</a:t>
              </a:r>
              <a:endParaRPr lang="en-US" altLang="zh-CN" b="1">
                <a:solidFill>
                  <a:schemeClr val="bg1"/>
                </a:solidFill>
              </a:endParaRPr>
            </a:p>
          </p:txBody>
        </p:sp>
        <p:sp>
          <p:nvSpPr>
            <p:cNvPr id="6" name="菱形 5"/>
            <p:cNvSpPr/>
            <p:nvPr/>
          </p:nvSpPr>
          <p:spPr>
            <a:xfrm>
              <a:off x="14443" y="3535"/>
              <a:ext cx="4024" cy="4024"/>
            </a:xfrm>
            <a:prstGeom prst="diamond">
              <a:avLst/>
            </a:prstGeom>
            <a:noFill/>
            <a:ln>
              <a:solidFill>
                <a:schemeClr val="accent6"/>
              </a:solidFill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" name="菱形 9"/>
          <p:cNvSpPr/>
          <p:nvPr>
            <p:custDataLst>
              <p:tags r:id="rId1"/>
            </p:custDataLst>
          </p:nvPr>
        </p:nvSpPr>
        <p:spPr>
          <a:xfrm>
            <a:off x="653415" y="2345690"/>
            <a:ext cx="2353310" cy="2353310"/>
          </a:xfrm>
          <a:prstGeom prst="diamond">
            <a:avLst/>
          </a:prstGeom>
          <a:solidFill>
            <a:schemeClr val="accent5"/>
          </a:solidFill>
          <a:ln>
            <a:solidFill>
              <a:srgbClr val="FCC196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Anaconda</a:t>
            </a:r>
            <a:endParaRPr lang="en-US" altLang="zh-CN" sz="14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49333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yolov5</a:t>
            </a:r>
            <a:r>
              <a:rPr kumimoji="1" lang="zh-CN" altLang="en-US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环境配置</a:t>
            </a:r>
            <a:endParaRPr kumimoji="1" lang="zh-CN" altLang="en-US" sz="2800" b="1" i="0" kern="1200" cap="none" spc="0" normalizeH="0" baseline="0" noProof="0" dirty="0">
              <a:solidFill>
                <a:srgbClr val="00517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9990" y="1264920"/>
            <a:ext cx="10462260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打开</a:t>
            </a:r>
            <a:r>
              <a:rPr lang="en-US" altLang="zh-CN"/>
              <a:t>anaconda prompt </a:t>
            </a:r>
            <a:r>
              <a:rPr lang="zh-CN" altLang="en-US"/>
              <a:t>控制台，创建一个自己的</a:t>
            </a:r>
            <a:r>
              <a:rPr lang="en-US" altLang="zh-CN"/>
              <a:t>yolov5</a:t>
            </a:r>
            <a:r>
              <a:rPr lang="zh-CN" altLang="en-US"/>
              <a:t>环境</a:t>
            </a:r>
            <a:endParaRPr lang="zh-CN" altLang="en-US"/>
          </a:p>
        </p:txBody>
      </p:sp>
      <p:pic>
        <p:nvPicPr>
          <p:cNvPr id="3" name="图片 2" descr="微信截图_20231031210520"/>
          <p:cNvPicPr>
            <a:picLocks noChangeAspect="1"/>
          </p:cNvPicPr>
          <p:nvPr/>
        </p:nvPicPr>
        <p:blipFill>
          <a:blip r:embed="rId1"/>
          <a:srcRect l="204" t="16" r="-204" b="87121"/>
          <a:stretch>
            <a:fillRect/>
          </a:stretch>
        </p:blipFill>
        <p:spPr>
          <a:xfrm>
            <a:off x="1197610" y="1724660"/>
            <a:ext cx="7475220" cy="5067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89990" y="2477770"/>
            <a:ext cx="2574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输入</a:t>
            </a:r>
            <a:r>
              <a:rPr lang="en-US" altLang="zh-CN"/>
              <a:t>y</a:t>
            </a:r>
            <a:endParaRPr lang="en-US" altLang="zh-CN"/>
          </a:p>
        </p:txBody>
      </p:sp>
      <p:pic>
        <p:nvPicPr>
          <p:cNvPr id="5" name="图片 4" descr="微信截图_202310312105201"/>
          <p:cNvPicPr>
            <a:picLocks noChangeAspect="1"/>
          </p:cNvPicPr>
          <p:nvPr/>
        </p:nvPicPr>
        <p:blipFill>
          <a:blip r:embed="rId2"/>
          <a:srcRect b="16048"/>
          <a:stretch>
            <a:fillRect/>
          </a:stretch>
        </p:blipFill>
        <p:spPr>
          <a:xfrm>
            <a:off x="1189990" y="2969260"/>
            <a:ext cx="7482840" cy="327533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74701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yolov5</a:t>
            </a:r>
            <a:r>
              <a:rPr kumimoji="1" lang="zh-CN" altLang="en-US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环境配置</a:t>
            </a:r>
            <a:r>
              <a:rPr kumimoji="1" lang="en-US" sz="2800" b="1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——Pytorch</a:t>
            </a:r>
            <a:endParaRPr kumimoji="1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171"/>
              </a:solidFill>
              <a:effectLst/>
              <a:uLnTx/>
              <a:uFillTx/>
              <a:cs typeface="+mn-ea"/>
              <a:sym typeface="+mn-lt"/>
            </a:endParaRPr>
          </a:p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kern="1200" cap="none" spc="0" normalizeH="0" baseline="0" noProof="0" dirty="0">
              <a:solidFill>
                <a:srgbClr val="00517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36345" y="1332230"/>
            <a:ext cx="10462260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激活环境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236345" y="3670935"/>
            <a:ext cx="4458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查看当前环境下的库，目前没有任何东西</a:t>
            </a:r>
            <a:endParaRPr lang="zh-CN" altLang="en-US"/>
          </a:p>
        </p:txBody>
      </p:sp>
      <p:pic>
        <p:nvPicPr>
          <p:cNvPr id="6" name="图片 5" descr="微信截图_20231031210741"/>
          <p:cNvPicPr>
            <a:picLocks noChangeAspect="1"/>
          </p:cNvPicPr>
          <p:nvPr/>
        </p:nvPicPr>
        <p:blipFill>
          <a:blip r:embed="rId1"/>
          <a:srcRect b="56475"/>
          <a:stretch>
            <a:fillRect/>
          </a:stretch>
        </p:blipFill>
        <p:spPr>
          <a:xfrm>
            <a:off x="1284605" y="1694815"/>
            <a:ext cx="9832975" cy="606425"/>
          </a:xfrm>
          <a:prstGeom prst="rect">
            <a:avLst/>
          </a:prstGeom>
        </p:spPr>
      </p:pic>
      <p:pic>
        <p:nvPicPr>
          <p:cNvPr id="7" name="图片 6" descr="微信截图_202310312108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605" y="4478655"/>
            <a:ext cx="4194175" cy="13874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298055" y="2444115"/>
            <a:ext cx="3101340" cy="33115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298055" y="5866130"/>
            <a:ext cx="31057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作为对比，这是一会儿安装完成后的样子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49333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yolov5</a:t>
            </a:r>
            <a:r>
              <a:rPr kumimoji="1" lang="zh-CN" altLang="en-US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环境配置</a:t>
            </a:r>
            <a:endParaRPr kumimoji="1" lang="zh-CN" altLang="en-US" sz="2800" b="1" i="0" kern="1200" cap="none" spc="0" normalizeH="0" baseline="0" noProof="0" dirty="0">
              <a:solidFill>
                <a:srgbClr val="005171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97280" y="139319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Pytorch</a:t>
            </a: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的安装</a:t>
            </a:r>
            <a:endParaRPr lang="zh-CN" alt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97280" y="1977390"/>
            <a:ext cx="82829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</a:t>
            </a:r>
            <a:r>
              <a:rPr lang="en-US" altLang="zh-CN"/>
              <a:t>pytorch</a:t>
            </a:r>
            <a:r>
              <a:rPr lang="zh-CN" altLang="en-US"/>
              <a:t>之前，最好先配置清华镜像源，否则下载速度很慢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10" name="图片 9" descr="微信截图_2023103121180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r="-234" b="40569"/>
          <a:stretch>
            <a:fillRect/>
          </a:stretch>
        </p:blipFill>
        <p:spPr>
          <a:xfrm>
            <a:off x="1163320" y="2536825"/>
            <a:ext cx="10076180" cy="89281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56965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noProof="0" dirty="0">
                <a:solidFill>
                  <a:srgbClr val="005171"/>
                </a:solidFill>
                <a:cs typeface="+mn-ea"/>
                <a:sym typeface="+mn-lt"/>
              </a:rPr>
              <a:t>yolov5</a:t>
            </a:r>
            <a:r>
              <a:rPr kumimoji="1" lang="zh-CN" altLang="en-US" sz="2800" b="1" noProof="0" dirty="0">
                <a:solidFill>
                  <a:srgbClr val="005171"/>
                </a:solidFill>
                <a:cs typeface="+mn-ea"/>
                <a:sym typeface="+mn-lt"/>
              </a:rPr>
              <a:t>环境配置</a:t>
            </a:r>
            <a:r>
              <a:rPr kumimoji="1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——Pytorch</a:t>
            </a:r>
            <a:endParaRPr kumimoji="1" lang="en-US" sz="2000" b="1" i="0" u="none" strike="noStrike" kern="1200" cap="none" spc="0" normalizeH="0" baseline="0" noProof="0" dirty="0">
              <a:ln>
                <a:noFill/>
              </a:ln>
              <a:solidFill>
                <a:srgbClr val="00517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19935" y="1430020"/>
            <a:ext cx="8152765" cy="4061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Pytorch</a:t>
            </a: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的安装</a:t>
            </a:r>
            <a:endParaRPr lang="zh-CN" alt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zh-CN" altLang="en-US" sz="1600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en-US" sz="16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Pytorch</a:t>
            </a:r>
            <a:r>
              <a:rPr lang="zh-CN" altLang="en-US" sz="16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是一个深度学习的框架。在当前开源的框架中，</a:t>
            </a:r>
            <a:r>
              <a:rPr lang="en-US" altLang="zh-CN" sz="16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Pytorch</a:t>
            </a:r>
            <a:r>
              <a:rPr lang="zh-CN" altLang="en-US" sz="16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在简洁性、易用性、速度这三个方面具有优势。</a:t>
            </a:r>
            <a:endParaRPr lang="zh-CN" altLang="en-US" sz="1600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zh-CN" altLang="en-US" sz="1600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lvl="0"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sz="16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简洁性：PyTorch的设计追求最少的封装，尽量避免重复造轮子。简洁的设计带来的另外一个好处就是代码易于理解。</a:t>
            </a:r>
            <a:endParaRPr lang="zh-CN" altLang="en-US" sz="1600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lvl="0"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sz="16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速度：PyTorch的灵活性是不以速度为代价的。</a:t>
            </a:r>
            <a:endParaRPr lang="zh-CN" altLang="en-US" sz="1600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lvl="0"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sz="16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易用性：</a:t>
            </a:r>
            <a:r>
              <a:rPr lang="zh-CN" altLang="en-US" sz="16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PyTorch的面向对象的接口设计来源于Torch，而Torch的接口设计以灵活易用而著称，尤其是API的设计和模块的接口都与Torch高度一致。</a:t>
            </a:r>
            <a:endParaRPr lang="zh-CN" altLang="en-US" sz="1600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lvl="1"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zh-CN" altLang="en-US" sz="1600" u="sng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sz="1600" u="sng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官网下载地址：</a:t>
            </a:r>
            <a:r>
              <a:rPr lang="zh-CN" altLang="en-US" sz="1600" u="sng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https://pytorch.org/get-started/locally/</a:t>
            </a:r>
            <a:endParaRPr lang="zh-CN" altLang="en-US" sz="1600" u="sng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zh-CN" altLang="en-US" sz="1600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107702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noProof="0" dirty="0">
                <a:solidFill>
                  <a:srgbClr val="005171"/>
                </a:solidFill>
                <a:cs typeface="+mn-ea"/>
                <a:sym typeface="+mn-lt"/>
              </a:rPr>
              <a:t>yolov5</a:t>
            </a:r>
            <a:r>
              <a:rPr kumimoji="1" lang="zh-CN" altLang="en-US" sz="2800" b="1" noProof="0" dirty="0">
                <a:solidFill>
                  <a:srgbClr val="005171"/>
                </a:solidFill>
                <a:cs typeface="+mn-ea"/>
                <a:sym typeface="+mn-lt"/>
              </a:rPr>
              <a:t>环境配置</a:t>
            </a:r>
            <a:r>
              <a:rPr kumimoji="1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——Pytorch</a:t>
            </a:r>
            <a:endParaRPr kumimoji="1" lang="en-US" sz="2000" b="1" i="0" u="none" strike="noStrike" kern="1200" cap="none" spc="0" normalizeH="0" baseline="0" noProof="0" dirty="0">
              <a:ln>
                <a:noFill/>
              </a:ln>
              <a:solidFill>
                <a:srgbClr val="00517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22655" y="1315720"/>
            <a:ext cx="8152765" cy="6965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Pytorch</a:t>
            </a: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的安装</a:t>
            </a:r>
            <a:endParaRPr lang="zh-CN" alt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sz="1600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若下载速度慢推荐使用清华源安装。</a:t>
            </a:r>
            <a:endParaRPr lang="zh-CN" altLang="en-US" sz="1600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图片 4" descr="pytorch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8153" r="15938" b="-454"/>
          <a:stretch>
            <a:fillRect/>
          </a:stretch>
        </p:blipFill>
        <p:spPr>
          <a:xfrm>
            <a:off x="814705" y="2260600"/>
            <a:ext cx="4761230" cy="33394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736725" y="5880735"/>
            <a:ext cx="251841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sz="1400" dirty="0" smtClean="0">
                <a:ea typeface="+mn-lt"/>
                <a:cs typeface="Times New Roman" panose="02020603050405020304" pitchFamily="18" charset="0"/>
                <a:sym typeface="+mn-ea"/>
              </a:rPr>
              <a:t>官网下载界面（选择对应版本）</a:t>
            </a:r>
            <a:endParaRPr lang="zh-CN" altLang="en-US" sz="1400" dirty="0" smtClean="0">
              <a:ea typeface="+mn-lt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921375" y="5527675"/>
            <a:ext cx="5278755" cy="1330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注意：安装前应查看自身计算机</a:t>
            </a:r>
            <a:r>
              <a:rPr lang="en-US" altLang="zh-CN"/>
              <a:t>cuda</a:t>
            </a:r>
            <a:r>
              <a:rPr lang="zh-CN" altLang="en-US"/>
              <a:t>版本，应安装低于自身计算机</a:t>
            </a:r>
            <a:r>
              <a:rPr lang="en-US" altLang="zh-CN"/>
              <a:t>cuda</a:t>
            </a:r>
            <a:r>
              <a:rPr lang="zh-CN" altLang="en-US"/>
              <a:t>版本的</a:t>
            </a:r>
            <a:r>
              <a:rPr lang="en-US" altLang="zh-CN"/>
              <a:t>pytorch</a:t>
            </a:r>
            <a:r>
              <a:rPr lang="zh-CN" altLang="en-US"/>
              <a:t>。例如</a:t>
            </a:r>
            <a:r>
              <a:rPr lang="en-US" altLang="zh-CN"/>
              <a:t>CUDA</a:t>
            </a:r>
            <a:r>
              <a:rPr lang="zh-CN" altLang="en-US"/>
              <a:t>版本是</a:t>
            </a:r>
            <a:r>
              <a:rPr lang="en-US" altLang="zh-CN"/>
              <a:t>v12.1</a:t>
            </a:r>
            <a:r>
              <a:rPr lang="zh-CN" altLang="en-US"/>
              <a:t>，则安装</a:t>
            </a:r>
            <a:r>
              <a:rPr lang="en-US" altLang="zh-CN"/>
              <a:t>11.8</a:t>
            </a:r>
            <a:r>
              <a:rPr lang="zh-CN" altLang="en-US"/>
              <a:t>版本的</a:t>
            </a:r>
            <a:r>
              <a:rPr lang="en-US" altLang="zh-CN"/>
              <a:t>pytorch</a:t>
            </a:r>
            <a:endParaRPr lang="en-US" altLang="zh-CN"/>
          </a:p>
        </p:txBody>
      </p:sp>
      <p:pic>
        <p:nvPicPr>
          <p:cNvPr id="10" name="图片 9" descr="微信截图_20231031211809"/>
          <p:cNvPicPr>
            <a:picLocks noChangeAspect="1"/>
          </p:cNvPicPr>
          <p:nvPr/>
        </p:nvPicPr>
        <p:blipFill>
          <a:blip r:embed="rId3"/>
          <a:srcRect t="76726"/>
          <a:stretch>
            <a:fillRect/>
          </a:stretch>
        </p:blipFill>
        <p:spPr>
          <a:xfrm>
            <a:off x="5575935" y="4298315"/>
            <a:ext cx="5970270" cy="20764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177915" y="1147445"/>
            <a:ext cx="4625975" cy="17703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066155" y="2748915"/>
            <a:ext cx="4849495" cy="1471295"/>
          </a:xfrm>
          <a:prstGeom prst="rect">
            <a:avLst/>
          </a:prstGeom>
        </p:spPr>
      </p:pic>
      <p:pic>
        <p:nvPicPr>
          <p:cNvPr id="13" name="图片 12" descr="微信截图_20231031212528"/>
          <p:cNvPicPr>
            <a:picLocks noChangeAspect="1"/>
          </p:cNvPicPr>
          <p:nvPr/>
        </p:nvPicPr>
        <p:blipFill>
          <a:blip r:embed="rId8"/>
          <a:srcRect t="52740" b="22163"/>
          <a:stretch>
            <a:fillRect/>
          </a:stretch>
        </p:blipFill>
        <p:spPr>
          <a:xfrm>
            <a:off x="5646420" y="4584065"/>
            <a:ext cx="5829935" cy="76771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56965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noProof="0" dirty="0">
                <a:solidFill>
                  <a:srgbClr val="005171"/>
                </a:solidFill>
                <a:cs typeface="+mn-ea"/>
                <a:sym typeface="+mn-lt"/>
              </a:rPr>
              <a:t>yolov5</a:t>
            </a:r>
            <a:r>
              <a:rPr kumimoji="1" lang="zh-CN" altLang="en-US" sz="2800" b="1" noProof="0" dirty="0">
                <a:solidFill>
                  <a:srgbClr val="005171"/>
                </a:solidFill>
                <a:cs typeface="+mn-ea"/>
                <a:sym typeface="+mn-lt"/>
              </a:rPr>
              <a:t>环境配置</a:t>
            </a:r>
            <a:r>
              <a:rPr kumimoji="1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5171"/>
                </a:solidFill>
                <a:effectLst/>
                <a:uLnTx/>
                <a:uFillTx/>
                <a:cs typeface="+mn-ea"/>
                <a:sym typeface="+mn-lt"/>
              </a:rPr>
              <a:t>——Pytorch</a:t>
            </a:r>
            <a:endParaRPr kumimoji="1" lang="en-US" sz="2000" b="1" i="0" u="none" strike="noStrike" kern="1200" cap="none" spc="0" normalizeH="0" baseline="0" noProof="0" dirty="0">
              <a:ln>
                <a:noFill/>
              </a:ln>
              <a:solidFill>
                <a:srgbClr val="00517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51585" y="1345565"/>
            <a:ext cx="8152765" cy="1024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查看自身</a:t>
            </a:r>
            <a:r>
              <a:rPr lang="en-US" altLang="zh-CN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CUDA</a:t>
            </a: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版本</a:t>
            </a:r>
            <a:endParaRPr lang="zh-CN" altLang="en-US" sz="1600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zh-CN" altLang="en-US" sz="1600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en-US" altLang="zh-CN" sz="1600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78560" y="2040255"/>
            <a:ext cx="2524125" cy="29908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212" r="65082"/>
          <a:stretch>
            <a:fillRect/>
          </a:stretch>
        </p:blipFill>
        <p:spPr>
          <a:xfrm>
            <a:off x="3933190" y="1423035"/>
            <a:ext cx="2350135" cy="49764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706235" y="1875155"/>
            <a:ext cx="4981575" cy="437705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49333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yolov5</a:t>
            </a:r>
            <a:r>
              <a:rPr kumimoji="1" lang="zh-CN" altLang="en-US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环境配置</a:t>
            </a:r>
            <a:endParaRPr kumimoji="1" lang="zh-CN" altLang="en-US" sz="2800" b="1" i="0" kern="1200" cap="none" spc="0" normalizeH="0" baseline="0" noProof="0" dirty="0">
              <a:solidFill>
                <a:srgbClr val="005171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814705" y="1345565"/>
            <a:ext cx="815276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下载</a:t>
            </a:r>
            <a:r>
              <a:rPr lang="en-US" altLang="zh-CN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yolov5</a:t>
            </a: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自身环境</a:t>
            </a:r>
            <a:endParaRPr lang="zh-CN" alt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zh-CN" altLang="en-US" sz="1600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Github</a:t>
            </a: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地址：https://github.com/ultralytics/yolov5</a:t>
            </a:r>
            <a:endParaRPr lang="zh-CN" alt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en-US" altLang="zh-CN" sz="1600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28001"/>
          <a:stretch>
            <a:fillRect/>
          </a:stretch>
        </p:blipFill>
        <p:spPr>
          <a:xfrm>
            <a:off x="1251585" y="2499360"/>
            <a:ext cx="4509770" cy="25457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964680" y="1345565"/>
            <a:ext cx="4663440" cy="41452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147560" y="5718810"/>
            <a:ext cx="4229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解压后的文件夹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49333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yolov5</a:t>
            </a:r>
            <a:r>
              <a:rPr kumimoji="1" lang="zh-CN" altLang="en-US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环境配置</a:t>
            </a:r>
            <a:endParaRPr kumimoji="1" lang="zh-CN" altLang="en-US" sz="2800" b="1" i="0" kern="1200" cap="none" spc="0" normalizeH="0" baseline="0" noProof="0" dirty="0">
              <a:solidFill>
                <a:srgbClr val="00517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4900" y="1413510"/>
            <a:ext cx="7047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来到</a:t>
            </a:r>
            <a:r>
              <a:rPr lang="en-US" altLang="zh-CN"/>
              <a:t>yolo-master</a:t>
            </a:r>
            <a:r>
              <a:rPr lang="zh-CN" altLang="en-US"/>
              <a:t>目录下，输入命令安装剩余环境</a:t>
            </a:r>
            <a:endParaRPr lang="zh-CN" altLang="en-US"/>
          </a:p>
          <a:p>
            <a:r>
              <a:rPr lang="en-US" altLang="zh-CN"/>
              <a:t>pip install -r .\requirements.txt</a:t>
            </a:r>
            <a:endParaRPr lang="en-US" altLang="zh-CN"/>
          </a:p>
        </p:txBody>
      </p:sp>
      <p:pic>
        <p:nvPicPr>
          <p:cNvPr id="3" name="图片 2" descr="微信截图_202310312130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900" y="3158490"/>
            <a:ext cx="7429500" cy="769620"/>
          </a:xfrm>
          <a:prstGeom prst="rect">
            <a:avLst/>
          </a:prstGeom>
        </p:spPr>
      </p:pic>
      <p:pic>
        <p:nvPicPr>
          <p:cNvPr id="4" name="图片 3" descr="微信截图_202310312129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0" y="2168525"/>
            <a:ext cx="5120640" cy="1905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04900" y="2701290"/>
            <a:ext cx="2011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安装完成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04900" y="4253230"/>
            <a:ext cx="8373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运行测试代码，发现模型下载速度较慢，可复制网址到浏览器下载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58240" y="4690110"/>
            <a:ext cx="7353300" cy="172974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49333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yolov5</a:t>
            </a:r>
            <a:r>
              <a:rPr kumimoji="1" lang="zh-CN" altLang="en-US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环境配置</a:t>
            </a:r>
            <a:endParaRPr kumimoji="1" lang="zh-CN" altLang="en-US" sz="2800" b="1" i="0" kern="1200" cap="none" spc="0" normalizeH="0" baseline="0" noProof="0" dirty="0">
              <a:solidFill>
                <a:srgbClr val="005171"/>
              </a:solidFill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91515" y="1973580"/>
            <a:ext cx="4579620" cy="414528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48030" y="1184910"/>
            <a:ext cx="43357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将下载好的模型文件放到文件夹，重新运行测试文件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10" name="图片 9" descr="微信截图_202310312137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4495" y="1254125"/>
            <a:ext cx="6385560" cy="147383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745480" y="2952750"/>
            <a:ext cx="4762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此时可以得到检测结果</a:t>
            </a:r>
            <a:endParaRPr lang="zh-CN" altLang="en-US"/>
          </a:p>
        </p:txBody>
      </p:sp>
      <p:pic>
        <p:nvPicPr>
          <p:cNvPr id="12" name="图片 11" descr="zida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4810" y="4088765"/>
            <a:ext cx="3745230" cy="2106930"/>
          </a:xfrm>
          <a:prstGeom prst="rect">
            <a:avLst/>
          </a:prstGeom>
        </p:spPr>
      </p:pic>
      <p:pic>
        <p:nvPicPr>
          <p:cNvPr id="13" name="图片 12" descr="bu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9275" y="3630930"/>
            <a:ext cx="2108835" cy="281241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49333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yolov5</a:t>
            </a:r>
            <a:r>
              <a:rPr kumimoji="1" lang="zh-CN" altLang="en-US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模型训练</a:t>
            </a:r>
            <a:endParaRPr kumimoji="1" lang="zh-CN" altLang="en-US" sz="2800" b="1" i="0" kern="1200" cap="none" spc="0" normalizeH="0" baseline="0" noProof="0" dirty="0">
              <a:solidFill>
                <a:srgbClr val="005171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97280" y="139319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数据标注</a:t>
            </a:r>
            <a:endParaRPr lang="zh-CN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97280" y="1977390"/>
            <a:ext cx="8115300" cy="1148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/>
              <a:t>请同学们自行拍摄数据集并进行训练，在训练数据前，需要对数据进行标注，标注数据需要用到</a:t>
            </a:r>
            <a:r>
              <a:rPr lang="en-US" altLang="zh-CN"/>
              <a:t>labelimg</a:t>
            </a:r>
            <a:r>
              <a:rPr lang="zh-CN" altLang="en-US"/>
              <a:t>，请自行参照教程下载并标注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https://blog.csdn.net/Dontla/article/details/102662815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49333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yolov5</a:t>
            </a:r>
            <a:r>
              <a:rPr kumimoji="1" lang="zh-CN" altLang="en-US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模型训练</a:t>
            </a:r>
            <a:endParaRPr kumimoji="1" lang="zh-CN" altLang="en-US" sz="2800" b="1" i="0" kern="1200" cap="none" spc="0" normalizeH="0" baseline="0" noProof="0" dirty="0">
              <a:solidFill>
                <a:srgbClr val="005171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97280" y="139319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数据集处理</a:t>
            </a:r>
            <a:endParaRPr lang="zh-CN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507105" y="3970655"/>
            <a:ext cx="1733550" cy="6477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28420" y="3580130"/>
            <a:ext cx="1304925" cy="14287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70940" y="2117725"/>
            <a:ext cx="5462905" cy="1174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将标注好的数据按照约</a:t>
            </a:r>
            <a:r>
              <a:rPr lang="en-US" altLang="zh-CN"/>
              <a:t>8:2</a:t>
            </a:r>
            <a:r>
              <a:rPr lang="zh-CN" altLang="en-US"/>
              <a:t>的比例分为训练集和测试集，并且分为</a:t>
            </a:r>
            <a:r>
              <a:rPr lang="en-US" altLang="zh-CN"/>
              <a:t>images(</a:t>
            </a:r>
            <a:r>
              <a:rPr lang="zh-CN" altLang="en-US"/>
              <a:t>图像</a:t>
            </a:r>
            <a:r>
              <a:rPr lang="en-US" altLang="zh-CN"/>
              <a:t>)</a:t>
            </a:r>
            <a:r>
              <a:rPr lang="zh-CN" altLang="en-US"/>
              <a:t>和</a:t>
            </a:r>
            <a:r>
              <a:rPr lang="en-US" altLang="zh-CN"/>
              <a:t>labels(</a:t>
            </a:r>
            <a:r>
              <a:rPr lang="zh-CN" altLang="en-US"/>
              <a:t>标签</a:t>
            </a:r>
            <a:r>
              <a:rPr lang="en-US" altLang="zh-CN"/>
              <a:t>)</a:t>
            </a:r>
            <a:r>
              <a:rPr lang="zh-CN" altLang="en-US"/>
              <a:t>文件夹，并且图片和标签的名称需要一一对应。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487920" y="2721610"/>
            <a:ext cx="847725" cy="17145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189720" y="2297430"/>
            <a:ext cx="1628775" cy="25622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633345" y="5410200"/>
            <a:ext cx="1588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文件结构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372475" y="5215890"/>
            <a:ext cx="191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标签和图像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49333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yolov5</a:t>
            </a:r>
            <a:r>
              <a:rPr kumimoji="1" lang="zh-CN" altLang="en-US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模型训练</a:t>
            </a:r>
            <a:endParaRPr kumimoji="1" lang="zh-CN" altLang="en-US" sz="2800" b="1" i="0" kern="1200" cap="none" spc="0" normalizeH="0" baseline="0" noProof="0" dirty="0">
              <a:solidFill>
                <a:srgbClr val="005171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97280" y="139319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修改配置文件</a:t>
            </a:r>
            <a:endParaRPr lang="zh-CN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09650" y="1920240"/>
            <a:ext cx="5055870" cy="3474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/>
              <a:t>修改创建一个新的</a:t>
            </a:r>
            <a:r>
              <a:rPr lang="en-US" altLang="zh-CN"/>
              <a:t>yaml</a:t>
            </a:r>
            <a:r>
              <a:rPr lang="zh-CN" altLang="en-US"/>
              <a:t>文件，配置修改如图所示。</a:t>
            </a:r>
            <a:r>
              <a:rPr lang="en-US" altLang="zh-CN"/>
              <a:t>train:</a:t>
            </a:r>
            <a:r>
              <a:rPr lang="zh-CN" altLang="en-US"/>
              <a:t>训练集的位置</a:t>
            </a:r>
            <a:endParaRPr lang="zh-CN" altLang="en-US"/>
          </a:p>
          <a:p>
            <a:r>
              <a:rPr lang="en-US" altLang="zh-CN"/>
              <a:t>val:</a:t>
            </a:r>
            <a:r>
              <a:rPr lang="zh-CN" altLang="en-US"/>
              <a:t>验证集的位置</a:t>
            </a:r>
            <a:endParaRPr lang="zh-CN" altLang="en-US"/>
          </a:p>
          <a:p>
            <a:r>
              <a:rPr lang="en-US" altLang="zh-CN"/>
              <a:t>names:</a:t>
            </a:r>
            <a:r>
              <a:rPr lang="zh-CN" altLang="en-US"/>
              <a:t>目标类别的名称列表，按顺序与目标类别的索引对应。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r="37993"/>
          <a:stretch>
            <a:fillRect/>
          </a:stretch>
        </p:blipFill>
        <p:spPr>
          <a:xfrm>
            <a:off x="6278245" y="1920240"/>
            <a:ext cx="5289550" cy="336423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49333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yolov5</a:t>
            </a:r>
            <a:r>
              <a:rPr kumimoji="1" lang="zh-CN" altLang="en-US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模型训练</a:t>
            </a:r>
            <a:endParaRPr kumimoji="1" lang="zh-CN" altLang="en-US" sz="2800" b="1" i="0" kern="1200" cap="none" spc="0" normalizeH="0" baseline="0" noProof="0" dirty="0">
              <a:solidFill>
                <a:srgbClr val="005171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97280" y="139319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模型训练</a:t>
            </a:r>
            <a:endParaRPr lang="zh-CN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97280" y="1977390"/>
            <a:ext cx="8282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在自己创建的虚拟环境中，输入指令开始训练模型</a:t>
            </a:r>
            <a:endParaRPr lang="zh-CN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85545" y="2561590"/>
            <a:ext cx="6343650" cy="4762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85545" y="3780790"/>
            <a:ext cx="10429875" cy="9906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97280" y="3304540"/>
            <a:ext cx="6460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等待训练完成</a:t>
            </a:r>
            <a:r>
              <a:rPr lang="en-US" altLang="zh-CN"/>
              <a:t>...</a:t>
            </a:r>
            <a:r>
              <a:rPr lang="zh-CN" altLang="en-US"/>
              <a:t>时间较长，建议提前在宿舍完成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49333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yolov5</a:t>
            </a:r>
            <a:r>
              <a:rPr kumimoji="1" lang="zh-CN" altLang="en-US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环境配置</a:t>
            </a:r>
            <a:endParaRPr kumimoji="1" lang="zh-CN" altLang="en-US" sz="2800" b="1" i="0" kern="1200" cap="none" spc="0" normalizeH="0" baseline="0" noProof="0" dirty="0">
              <a:solidFill>
                <a:srgbClr val="005171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97280" y="139319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defTabSz="1147445" fontAlgn="base">
              <a:lnSpc>
                <a:spcPct val="100000"/>
              </a:lnSpc>
              <a:spcBef>
                <a:spcPts val="64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b="1" dirty="0" smtClean="0">
                <a:solidFill>
                  <a:sysClr val="windowText" lastClr="000000"/>
                </a:solidFill>
                <a:ea typeface="+mn-lt"/>
                <a:cs typeface="Times New Roman" panose="02020603050405020304" pitchFamily="18" charset="0"/>
                <a:sym typeface="+mn-ea"/>
              </a:rPr>
              <a:t>获取结果</a:t>
            </a:r>
            <a:endParaRPr lang="zh-CN" altLang="en-US" b="1" dirty="0" smtClean="0">
              <a:solidFill>
                <a:sysClr val="windowText" lastClr="000000"/>
              </a:solidFill>
              <a:ea typeface="+mn-lt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97280" y="1977390"/>
            <a:ext cx="4451985" cy="1010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训练完后的模型储存在如下路径</a:t>
            </a:r>
            <a:r>
              <a:rPr lang="en-US" altLang="zh-CN"/>
              <a:t>runs/train/exp</a:t>
            </a:r>
            <a:r>
              <a:rPr lang="zh-CN" altLang="en-US"/>
              <a:t>中，其中</a:t>
            </a:r>
            <a:r>
              <a:rPr lang="en-US" altLang="zh-CN"/>
              <a:t>best.pt</a:t>
            </a:r>
            <a:r>
              <a:rPr lang="zh-CN" altLang="en-US"/>
              <a:t>为性能最高的模型，</a:t>
            </a:r>
            <a:r>
              <a:rPr lang="en-US" altLang="zh-CN"/>
              <a:t>last.pt</a:t>
            </a:r>
            <a:r>
              <a:rPr lang="zh-CN" altLang="en-US"/>
              <a:t>为最后一次训练的模型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727065" y="1605280"/>
            <a:ext cx="5798185" cy="20535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793105" y="4882515"/>
            <a:ext cx="1133475" cy="6477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501765" y="3953510"/>
            <a:ext cx="4069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模型训练结果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5"/>
          <p:cNvSpPr/>
          <p:nvPr/>
        </p:nvSpPr>
        <p:spPr>
          <a:xfrm rot="5400000">
            <a:off x="203098" y="204688"/>
            <a:ext cx="876303" cy="466928"/>
          </a:xfrm>
          <a:custGeom>
            <a:avLst/>
            <a:gdLst>
              <a:gd name="connsiteX0" fmla="*/ 0 w 876303"/>
              <a:gd name="connsiteY0" fmla="*/ 466927 h 466928"/>
              <a:gd name="connsiteX1" fmla="*/ 0 w 876303"/>
              <a:gd name="connsiteY1" fmla="*/ 0 h 466928"/>
              <a:gd name="connsiteX2" fmla="*/ 642839 w 876303"/>
              <a:gd name="connsiteY2" fmla="*/ 0 h 466928"/>
              <a:gd name="connsiteX3" fmla="*/ 876303 w 876303"/>
              <a:gd name="connsiteY3" fmla="*/ 233464 h 466928"/>
              <a:gd name="connsiteX4" fmla="*/ 876302 w 876303"/>
              <a:gd name="connsiteY4" fmla="*/ 233464 h 466928"/>
              <a:gd name="connsiteX5" fmla="*/ 642838 w 876303"/>
              <a:gd name="connsiteY5" fmla="*/ 466928 h 4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3" h="466928">
                <a:moveTo>
                  <a:pt x="0" y="466927"/>
                </a:moveTo>
                <a:lnTo>
                  <a:pt x="0" y="0"/>
                </a:lnTo>
                <a:lnTo>
                  <a:pt x="642839" y="0"/>
                </a:lnTo>
                <a:cubicBezTo>
                  <a:pt x="771778" y="0"/>
                  <a:pt x="876303" y="104525"/>
                  <a:pt x="876303" y="233464"/>
                </a:cubicBezTo>
                <a:lnTo>
                  <a:pt x="876302" y="233464"/>
                </a:lnTo>
                <a:cubicBezTo>
                  <a:pt x="876302" y="362403"/>
                  <a:pt x="771777" y="466928"/>
                  <a:pt x="642838" y="466928"/>
                </a:cubicBezTo>
                <a:close/>
              </a:path>
            </a:pathLst>
          </a:custGeom>
          <a:solidFill>
            <a:srgbClr val="0051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468110" y="469108"/>
            <a:ext cx="346278" cy="34627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椭圆 7"/>
          <p:cNvSpPr/>
          <p:nvPr/>
        </p:nvSpPr>
        <p:spPr>
          <a:xfrm>
            <a:off x="534771" y="545238"/>
            <a:ext cx="212956" cy="194018"/>
          </a:xfrm>
          <a:custGeom>
            <a:avLst/>
            <a:gdLst>
              <a:gd name="connsiteX0" fmla="*/ 138332 w 334963"/>
              <a:gd name="connsiteY0" fmla="*/ 262313 h 305176"/>
              <a:gd name="connsiteX1" fmla="*/ 143587 w 334963"/>
              <a:gd name="connsiteY1" fmla="*/ 267671 h 305176"/>
              <a:gd name="connsiteX2" fmla="*/ 143587 w 334963"/>
              <a:gd name="connsiteY2" fmla="*/ 279726 h 305176"/>
              <a:gd name="connsiteX3" fmla="*/ 169863 w 334963"/>
              <a:gd name="connsiteY3" fmla="*/ 291781 h 305176"/>
              <a:gd name="connsiteX4" fmla="*/ 196139 w 334963"/>
              <a:gd name="connsiteY4" fmla="*/ 279726 h 305176"/>
              <a:gd name="connsiteX5" fmla="*/ 196139 w 334963"/>
              <a:gd name="connsiteY5" fmla="*/ 267671 h 305176"/>
              <a:gd name="connsiteX6" fmla="*/ 201394 w 334963"/>
              <a:gd name="connsiteY6" fmla="*/ 262313 h 305176"/>
              <a:gd name="connsiteX7" fmla="*/ 207963 w 334963"/>
              <a:gd name="connsiteY7" fmla="*/ 267671 h 305176"/>
              <a:gd name="connsiteX8" fmla="*/ 207963 w 334963"/>
              <a:gd name="connsiteY8" fmla="*/ 283745 h 305176"/>
              <a:gd name="connsiteX9" fmla="*/ 204022 w 334963"/>
              <a:gd name="connsiteY9" fmla="*/ 289102 h 305176"/>
              <a:gd name="connsiteX10" fmla="*/ 172491 w 334963"/>
              <a:gd name="connsiteY10" fmla="*/ 303837 h 305176"/>
              <a:gd name="connsiteX11" fmla="*/ 169863 w 334963"/>
              <a:gd name="connsiteY11" fmla="*/ 305176 h 305176"/>
              <a:gd name="connsiteX12" fmla="*/ 167236 w 334963"/>
              <a:gd name="connsiteY12" fmla="*/ 303837 h 305176"/>
              <a:gd name="connsiteX13" fmla="*/ 135705 w 334963"/>
              <a:gd name="connsiteY13" fmla="*/ 289102 h 305176"/>
              <a:gd name="connsiteX14" fmla="*/ 131763 w 334963"/>
              <a:gd name="connsiteY14" fmla="*/ 283745 h 305176"/>
              <a:gd name="connsiteX15" fmla="*/ 131763 w 334963"/>
              <a:gd name="connsiteY15" fmla="*/ 267671 h 305176"/>
              <a:gd name="connsiteX16" fmla="*/ 138332 w 334963"/>
              <a:gd name="connsiteY16" fmla="*/ 262313 h 305176"/>
              <a:gd name="connsiteX17" fmla="*/ 128043 w 334963"/>
              <a:gd name="connsiteY17" fmla="*/ 230563 h 305176"/>
              <a:gd name="connsiteX18" fmla="*/ 125413 w 334963"/>
              <a:gd name="connsiteY18" fmla="*/ 233341 h 305176"/>
              <a:gd name="connsiteX19" fmla="*/ 125413 w 334963"/>
              <a:gd name="connsiteY19" fmla="*/ 238898 h 305176"/>
              <a:gd name="connsiteX20" fmla="*/ 128043 w 334963"/>
              <a:gd name="connsiteY20" fmla="*/ 241676 h 305176"/>
              <a:gd name="connsiteX21" fmla="*/ 206922 w 334963"/>
              <a:gd name="connsiteY21" fmla="*/ 241676 h 305176"/>
              <a:gd name="connsiteX22" fmla="*/ 209551 w 334963"/>
              <a:gd name="connsiteY22" fmla="*/ 238898 h 305176"/>
              <a:gd name="connsiteX23" fmla="*/ 209551 w 334963"/>
              <a:gd name="connsiteY23" fmla="*/ 233341 h 305176"/>
              <a:gd name="connsiteX24" fmla="*/ 206922 w 334963"/>
              <a:gd name="connsiteY24" fmla="*/ 230563 h 305176"/>
              <a:gd name="connsiteX25" fmla="*/ 128043 w 334963"/>
              <a:gd name="connsiteY25" fmla="*/ 230563 h 305176"/>
              <a:gd name="connsiteX26" fmla="*/ 128781 w 334963"/>
              <a:gd name="connsiteY26" fmla="*/ 219451 h 305176"/>
              <a:gd name="connsiteX27" fmla="*/ 207769 w 334963"/>
              <a:gd name="connsiteY27" fmla="*/ 219451 h 305176"/>
              <a:gd name="connsiteX28" fmla="*/ 222250 w 334963"/>
              <a:gd name="connsiteY28" fmla="*/ 233556 h 305176"/>
              <a:gd name="connsiteX29" fmla="*/ 222250 w 334963"/>
              <a:gd name="connsiteY29" fmla="*/ 238684 h 305176"/>
              <a:gd name="connsiteX30" fmla="*/ 207769 w 334963"/>
              <a:gd name="connsiteY30" fmla="*/ 252789 h 305176"/>
              <a:gd name="connsiteX31" fmla="*/ 128781 w 334963"/>
              <a:gd name="connsiteY31" fmla="*/ 252789 h 305176"/>
              <a:gd name="connsiteX32" fmla="*/ 114300 w 334963"/>
              <a:gd name="connsiteY32" fmla="*/ 238684 h 305176"/>
              <a:gd name="connsiteX33" fmla="*/ 114300 w 334963"/>
              <a:gd name="connsiteY33" fmla="*/ 233556 h 305176"/>
              <a:gd name="connsiteX34" fmla="*/ 128781 w 334963"/>
              <a:gd name="connsiteY34" fmla="*/ 219451 h 305176"/>
              <a:gd name="connsiteX35" fmla="*/ 266120 w 334963"/>
              <a:gd name="connsiteY35" fmla="*/ 168353 h 305176"/>
              <a:gd name="connsiteX36" fmla="*/ 305614 w 334963"/>
              <a:gd name="connsiteY36" fmla="*/ 198019 h 305176"/>
              <a:gd name="connsiteX37" fmla="*/ 306930 w 334963"/>
              <a:gd name="connsiteY37" fmla="*/ 205758 h 305176"/>
              <a:gd name="connsiteX38" fmla="*/ 301664 w 334963"/>
              <a:gd name="connsiteY38" fmla="*/ 208338 h 305176"/>
              <a:gd name="connsiteX39" fmla="*/ 299032 w 334963"/>
              <a:gd name="connsiteY39" fmla="*/ 207048 h 305176"/>
              <a:gd name="connsiteX40" fmla="*/ 259538 w 334963"/>
              <a:gd name="connsiteY40" fmla="*/ 178672 h 305176"/>
              <a:gd name="connsiteX41" fmla="*/ 258221 w 334963"/>
              <a:gd name="connsiteY41" fmla="*/ 169643 h 305176"/>
              <a:gd name="connsiteX42" fmla="*/ 266120 w 334963"/>
              <a:gd name="connsiteY42" fmla="*/ 168353 h 305176"/>
              <a:gd name="connsiteX43" fmla="*/ 75093 w 334963"/>
              <a:gd name="connsiteY43" fmla="*/ 166503 h 305176"/>
              <a:gd name="connsiteX44" fmla="*/ 83067 w 334963"/>
              <a:gd name="connsiteY44" fmla="*/ 167810 h 305176"/>
              <a:gd name="connsiteX45" fmla="*/ 81738 w 334963"/>
              <a:gd name="connsiteY45" fmla="*/ 175654 h 305176"/>
              <a:gd name="connsiteX46" fmla="*/ 39208 w 334963"/>
              <a:gd name="connsiteY46" fmla="*/ 207031 h 305176"/>
              <a:gd name="connsiteX47" fmla="*/ 35221 w 334963"/>
              <a:gd name="connsiteY47" fmla="*/ 208338 h 305176"/>
              <a:gd name="connsiteX48" fmla="*/ 31233 w 334963"/>
              <a:gd name="connsiteY48" fmla="*/ 205723 h 305176"/>
              <a:gd name="connsiteX49" fmla="*/ 32562 w 334963"/>
              <a:gd name="connsiteY49" fmla="*/ 197879 h 305176"/>
              <a:gd name="connsiteX50" fmla="*/ 75093 w 334963"/>
              <a:gd name="connsiteY50" fmla="*/ 166503 h 305176"/>
              <a:gd name="connsiteX51" fmla="*/ 284569 w 334963"/>
              <a:gd name="connsiteY51" fmla="*/ 98801 h 305176"/>
              <a:gd name="connsiteX52" fmla="*/ 329795 w 334963"/>
              <a:gd name="connsiteY52" fmla="*/ 98801 h 305176"/>
              <a:gd name="connsiteX53" fmla="*/ 334963 w 334963"/>
              <a:gd name="connsiteY53" fmla="*/ 104975 h 305176"/>
              <a:gd name="connsiteX54" fmla="*/ 329795 w 334963"/>
              <a:gd name="connsiteY54" fmla="*/ 109914 h 305176"/>
              <a:gd name="connsiteX55" fmla="*/ 284569 w 334963"/>
              <a:gd name="connsiteY55" fmla="*/ 109914 h 305176"/>
              <a:gd name="connsiteX56" fmla="*/ 279400 w 334963"/>
              <a:gd name="connsiteY56" fmla="*/ 104975 h 305176"/>
              <a:gd name="connsiteX57" fmla="*/ 284569 w 334963"/>
              <a:gd name="connsiteY57" fmla="*/ 98801 h 305176"/>
              <a:gd name="connsiteX58" fmla="*/ 5340 w 334963"/>
              <a:gd name="connsiteY58" fmla="*/ 98801 h 305176"/>
              <a:gd name="connsiteX59" fmla="*/ 53398 w 334963"/>
              <a:gd name="connsiteY59" fmla="*/ 98801 h 305176"/>
              <a:gd name="connsiteX60" fmla="*/ 58738 w 334963"/>
              <a:gd name="connsiteY60" fmla="*/ 104975 h 305176"/>
              <a:gd name="connsiteX61" fmla="*/ 53398 w 334963"/>
              <a:gd name="connsiteY61" fmla="*/ 109914 h 305176"/>
              <a:gd name="connsiteX62" fmla="*/ 5340 w 334963"/>
              <a:gd name="connsiteY62" fmla="*/ 109914 h 305176"/>
              <a:gd name="connsiteX63" fmla="*/ 0 w 334963"/>
              <a:gd name="connsiteY63" fmla="*/ 104975 h 305176"/>
              <a:gd name="connsiteX64" fmla="*/ 5340 w 334963"/>
              <a:gd name="connsiteY64" fmla="*/ 98801 h 305176"/>
              <a:gd name="connsiteX65" fmla="*/ 164887 w 334963"/>
              <a:gd name="connsiteY65" fmla="*/ 36888 h 305176"/>
              <a:gd name="connsiteX66" fmla="*/ 171451 w 334963"/>
              <a:gd name="connsiteY66" fmla="*/ 43604 h 305176"/>
              <a:gd name="connsiteX67" fmla="*/ 164887 w 334963"/>
              <a:gd name="connsiteY67" fmla="*/ 48977 h 305176"/>
              <a:gd name="connsiteX68" fmla="*/ 115003 w 334963"/>
              <a:gd name="connsiteY68" fmla="*/ 100022 h 305176"/>
              <a:gd name="connsiteX69" fmla="*/ 109752 w 334963"/>
              <a:gd name="connsiteY69" fmla="*/ 106738 h 305176"/>
              <a:gd name="connsiteX70" fmla="*/ 103188 w 334963"/>
              <a:gd name="connsiteY70" fmla="*/ 100022 h 305176"/>
              <a:gd name="connsiteX71" fmla="*/ 164887 w 334963"/>
              <a:gd name="connsiteY71" fmla="*/ 36888 h 305176"/>
              <a:gd name="connsiteX72" fmla="*/ 169069 w 334963"/>
              <a:gd name="connsiteY72" fmla="*/ 9901 h 305176"/>
              <a:gd name="connsiteX73" fmla="*/ 258763 w 334963"/>
              <a:gd name="connsiteY73" fmla="*/ 99286 h 305176"/>
              <a:gd name="connsiteX74" fmla="*/ 240297 w 334963"/>
              <a:gd name="connsiteY74" fmla="*/ 154495 h 305176"/>
              <a:gd name="connsiteX75" fmla="*/ 221830 w 334963"/>
              <a:gd name="connsiteY75" fmla="*/ 208389 h 305176"/>
              <a:gd name="connsiteX76" fmla="*/ 217873 w 334963"/>
              <a:gd name="connsiteY76" fmla="*/ 214962 h 305176"/>
              <a:gd name="connsiteX77" fmla="*/ 211278 w 334963"/>
              <a:gd name="connsiteY77" fmla="*/ 212333 h 305176"/>
              <a:gd name="connsiteX78" fmla="*/ 231064 w 334963"/>
              <a:gd name="connsiteY78" fmla="*/ 147923 h 305176"/>
              <a:gd name="connsiteX79" fmla="*/ 248211 w 334963"/>
              <a:gd name="connsiteY79" fmla="*/ 99286 h 305176"/>
              <a:gd name="connsiteX80" fmla="*/ 169069 w 334963"/>
              <a:gd name="connsiteY80" fmla="*/ 21731 h 305176"/>
              <a:gd name="connsiteX81" fmla="*/ 89927 w 334963"/>
              <a:gd name="connsiteY81" fmla="*/ 99286 h 305176"/>
              <a:gd name="connsiteX82" fmla="*/ 107075 w 334963"/>
              <a:gd name="connsiteY82" fmla="*/ 146608 h 305176"/>
              <a:gd name="connsiteX83" fmla="*/ 107075 w 334963"/>
              <a:gd name="connsiteY83" fmla="*/ 147923 h 305176"/>
              <a:gd name="connsiteX84" fmla="*/ 128179 w 334963"/>
              <a:gd name="connsiteY84" fmla="*/ 212333 h 305176"/>
              <a:gd name="connsiteX85" fmla="*/ 122903 w 334963"/>
              <a:gd name="connsiteY85" fmla="*/ 216276 h 305176"/>
              <a:gd name="connsiteX86" fmla="*/ 120265 w 334963"/>
              <a:gd name="connsiteY86" fmla="*/ 214962 h 305176"/>
              <a:gd name="connsiteX87" fmla="*/ 117627 w 334963"/>
              <a:gd name="connsiteY87" fmla="*/ 207075 h 305176"/>
              <a:gd name="connsiteX88" fmla="*/ 97842 w 334963"/>
              <a:gd name="connsiteY88" fmla="*/ 154495 h 305176"/>
              <a:gd name="connsiteX89" fmla="*/ 79375 w 334963"/>
              <a:gd name="connsiteY89" fmla="*/ 99286 h 305176"/>
              <a:gd name="connsiteX90" fmla="*/ 169069 w 334963"/>
              <a:gd name="connsiteY90" fmla="*/ 9901 h 305176"/>
              <a:gd name="connsiteX91" fmla="*/ 39107 w 334963"/>
              <a:gd name="connsiteY91" fmla="*/ 1482 h 305176"/>
              <a:gd name="connsiteX92" fmla="*/ 79917 w 334963"/>
              <a:gd name="connsiteY92" fmla="*/ 31115 h 305176"/>
              <a:gd name="connsiteX93" fmla="*/ 81234 w 334963"/>
              <a:gd name="connsiteY93" fmla="*/ 40544 h 305176"/>
              <a:gd name="connsiteX94" fmla="*/ 75968 w 334963"/>
              <a:gd name="connsiteY94" fmla="*/ 43238 h 305176"/>
              <a:gd name="connsiteX95" fmla="*/ 72019 w 334963"/>
              <a:gd name="connsiteY95" fmla="*/ 41891 h 305176"/>
              <a:gd name="connsiteX96" fmla="*/ 32525 w 334963"/>
              <a:gd name="connsiteY96" fmla="*/ 10911 h 305176"/>
              <a:gd name="connsiteX97" fmla="*/ 31208 w 334963"/>
              <a:gd name="connsiteY97" fmla="*/ 2829 h 305176"/>
              <a:gd name="connsiteX98" fmla="*/ 39107 w 334963"/>
              <a:gd name="connsiteY98" fmla="*/ 1482 h 305176"/>
              <a:gd name="connsiteX99" fmla="*/ 299086 w 334963"/>
              <a:gd name="connsiteY99" fmla="*/ 1451 h 305176"/>
              <a:gd name="connsiteX100" fmla="*/ 306944 w 334963"/>
              <a:gd name="connsiteY100" fmla="*/ 2782 h 305176"/>
              <a:gd name="connsiteX101" fmla="*/ 305634 w 334963"/>
              <a:gd name="connsiteY101" fmla="*/ 10771 h 305176"/>
              <a:gd name="connsiteX102" fmla="*/ 267653 w 334963"/>
              <a:gd name="connsiteY102" fmla="*/ 38732 h 305176"/>
              <a:gd name="connsiteX103" fmla="*/ 265033 w 334963"/>
              <a:gd name="connsiteY103" fmla="*/ 40063 h 305176"/>
              <a:gd name="connsiteX104" fmla="*/ 259795 w 334963"/>
              <a:gd name="connsiteY104" fmla="*/ 37400 h 305176"/>
              <a:gd name="connsiteX105" fmla="*/ 261104 w 334963"/>
              <a:gd name="connsiteY105" fmla="*/ 29411 h 3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63" h="305176">
                <a:moveTo>
                  <a:pt x="138332" y="262313"/>
                </a:moveTo>
                <a:cubicBezTo>
                  <a:pt x="140960" y="262313"/>
                  <a:pt x="143587" y="264992"/>
                  <a:pt x="143587" y="267671"/>
                </a:cubicBezTo>
                <a:cubicBezTo>
                  <a:pt x="143587" y="267671"/>
                  <a:pt x="143587" y="267671"/>
                  <a:pt x="143587" y="279726"/>
                </a:cubicBezTo>
                <a:cubicBezTo>
                  <a:pt x="143587" y="279726"/>
                  <a:pt x="143587" y="279726"/>
                  <a:pt x="169863" y="291781"/>
                </a:cubicBezTo>
                <a:cubicBezTo>
                  <a:pt x="169863" y="291781"/>
                  <a:pt x="169863" y="291781"/>
                  <a:pt x="196139" y="279726"/>
                </a:cubicBezTo>
                <a:cubicBezTo>
                  <a:pt x="196139" y="279726"/>
                  <a:pt x="196139" y="279726"/>
                  <a:pt x="196139" y="267671"/>
                </a:cubicBezTo>
                <a:cubicBezTo>
                  <a:pt x="196139" y="264992"/>
                  <a:pt x="198767" y="262313"/>
                  <a:pt x="201394" y="262313"/>
                </a:cubicBezTo>
                <a:cubicBezTo>
                  <a:pt x="205336" y="262313"/>
                  <a:pt x="207963" y="264992"/>
                  <a:pt x="207963" y="267671"/>
                </a:cubicBezTo>
                <a:cubicBezTo>
                  <a:pt x="207963" y="267671"/>
                  <a:pt x="207963" y="267671"/>
                  <a:pt x="207963" y="283745"/>
                </a:cubicBezTo>
                <a:cubicBezTo>
                  <a:pt x="207963" y="285084"/>
                  <a:pt x="206649" y="287763"/>
                  <a:pt x="204022" y="289102"/>
                </a:cubicBezTo>
                <a:cubicBezTo>
                  <a:pt x="204022" y="289102"/>
                  <a:pt x="204022" y="289102"/>
                  <a:pt x="172491" y="303837"/>
                </a:cubicBezTo>
                <a:cubicBezTo>
                  <a:pt x="171177" y="303837"/>
                  <a:pt x="171177" y="305176"/>
                  <a:pt x="169863" y="305176"/>
                </a:cubicBezTo>
                <a:cubicBezTo>
                  <a:pt x="168549" y="305176"/>
                  <a:pt x="168549" y="303837"/>
                  <a:pt x="167236" y="303837"/>
                </a:cubicBezTo>
                <a:cubicBezTo>
                  <a:pt x="167236" y="303837"/>
                  <a:pt x="167236" y="303837"/>
                  <a:pt x="135705" y="289102"/>
                </a:cubicBezTo>
                <a:cubicBezTo>
                  <a:pt x="133077" y="287763"/>
                  <a:pt x="131763" y="286423"/>
                  <a:pt x="131763" y="283745"/>
                </a:cubicBezTo>
                <a:cubicBezTo>
                  <a:pt x="131763" y="283745"/>
                  <a:pt x="131763" y="283745"/>
                  <a:pt x="131763" y="267671"/>
                </a:cubicBezTo>
                <a:cubicBezTo>
                  <a:pt x="131763" y="264992"/>
                  <a:pt x="134391" y="262313"/>
                  <a:pt x="138332" y="262313"/>
                </a:cubicBezTo>
                <a:close/>
                <a:moveTo>
                  <a:pt x="128043" y="230563"/>
                </a:moveTo>
                <a:cubicBezTo>
                  <a:pt x="126728" y="230563"/>
                  <a:pt x="125413" y="231952"/>
                  <a:pt x="125413" y="233341"/>
                </a:cubicBezTo>
                <a:cubicBezTo>
                  <a:pt x="125413" y="233341"/>
                  <a:pt x="125413" y="233341"/>
                  <a:pt x="125413" y="238898"/>
                </a:cubicBezTo>
                <a:cubicBezTo>
                  <a:pt x="125413" y="240287"/>
                  <a:pt x="126728" y="241676"/>
                  <a:pt x="128043" y="241676"/>
                </a:cubicBezTo>
                <a:cubicBezTo>
                  <a:pt x="128043" y="241676"/>
                  <a:pt x="128043" y="241676"/>
                  <a:pt x="206922" y="241676"/>
                </a:cubicBezTo>
                <a:cubicBezTo>
                  <a:pt x="208237" y="241676"/>
                  <a:pt x="209551" y="240287"/>
                  <a:pt x="209551" y="238898"/>
                </a:cubicBezTo>
                <a:cubicBezTo>
                  <a:pt x="209551" y="238898"/>
                  <a:pt x="209551" y="238898"/>
                  <a:pt x="209551" y="233341"/>
                </a:cubicBezTo>
                <a:cubicBezTo>
                  <a:pt x="209551" y="231952"/>
                  <a:pt x="208237" y="230563"/>
                  <a:pt x="206922" y="230563"/>
                </a:cubicBezTo>
                <a:cubicBezTo>
                  <a:pt x="206922" y="230563"/>
                  <a:pt x="206922" y="230563"/>
                  <a:pt x="128043" y="230563"/>
                </a:cubicBezTo>
                <a:close/>
                <a:moveTo>
                  <a:pt x="128781" y="219451"/>
                </a:moveTo>
                <a:cubicBezTo>
                  <a:pt x="128781" y="219451"/>
                  <a:pt x="128781" y="219451"/>
                  <a:pt x="207769" y="219451"/>
                </a:cubicBezTo>
                <a:cubicBezTo>
                  <a:pt x="215668" y="219451"/>
                  <a:pt x="222250" y="225862"/>
                  <a:pt x="222250" y="233556"/>
                </a:cubicBezTo>
                <a:cubicBezTo>
                  <a:pt x="222250" y="233556"/>
                  <a:pt x="222250" y="233556"/>
                  <a:pt x="222250" y="238684"/>
                </a:cubicBezTo>
                <a:cubicBezTo>
                  <a:pt x="222250" y="246378"/>
                  <a:pt x="215668" y="252789"/>
                  <a:pt x="207769" y="252789"/>
                </a:cubicBezTo>
                <a:cubicBezTo>
                  <a:pt x="207769" y="252789"/>
                  <a:pt x="207769" y="252789"/>
                  <a:pt x="128781" y="252789"/>
                </a:cubicBezTo>
                <a:cubicBezTo>
                  <a:pt x="120883" y="252789"/>
                  <a:pt x="114300" y="246378"/>
                  <a:pt x="114300" y="238684"/>
                </a:cubicBezTo>
                <a:cubicBezTo>
                  <a:pt x="114300" y="238684"/>
                  <a:pt x="114300" y="238684"/>
                  <a:pt x="114300" y="233556"/>
                </a:cubicBezTo>
                <a:cubicBezTo>
                  <a:pt x="114300" y="225862"/>
                  <a:pt x="120883" y="219451"/>
                  <a:pt x="128781" y="219451"/>
                </a:cubicBezTo>
                <a:close/>
                <a:moveTo>
                  <a:pt x="266120" y="168353"/>
                </a:moveTo>
                <a:cubicBezTo>
                  <a:pt x="266120" y="168353"/>
                  <a:pt x="266120" y="168353"/>
                  <a:pt x="305614" y="198019"/>
                </a:cubicBezTo>
                <a:cubicBezTo>
                  <a:pt x="308247" y="199309"/>
                  <a:pt x="309563" y="203179"/>
                  <a:pt x="306930" y="205758"/>
                </a:cubicBezTo>
                <a:cubicBezTo>
                  <a:pt x="305614" y="207048"/>
                  <a:pt x="304297" y="208338"/>
                  <a:pt x="301664" y="208338"/>
                </a:cubicBezTo>
                <a:cubicBezTo>
                  <a:pt x="301664" y="208338"/>
                  <a:pt x="300348" y="208338"/>
                  <a:pt x="299032" y="207048"/>
                </a:cubicBezTo>
                <a:cubicBezTo>
                  <a:pt x="299032" y="207048"/>
                  <a:pt x="299032" y="207048"/>
                  <a:pt x="259538" y="178672"/>
                </a:cubicBezTo>
                <a:cubicBezTo>
                  <a:pt x="256905" y="176092"/>
                  <a:pt x="255588" y="172222"/>
                  <a:pt x="258221" y="169643"/>
                </a:cubicBezTo>
                <a:cubicBezTo>
                  <a:pt x="259538" y="167063"/>
                  <a:pt x="263487" y="167063"/>
                  <a:pt x="266120" y="168353"/>
                </a:cubicBezTo>
                <a:close/>
                <a:moveTo>
                  <a:pt x="75093" y="166503"/>
                </a:moveTo>
                <a:cubicBezTo>
                  <a:pt x="77751" y="163888"/>
                  <a:pt x="81738" y="165195"/>
                  <a:pt x="83067" y="167810"/>
                </a:cubicBezTo>
                <a:cubicBezTo>
                  <a:pt x="85725" y="170425"/>
                  <a:pt x="84396" y="174347"/>
                  <a:pt x="81738" y="175654"/>
                </a:cubicBezTo>
                <a:cubicBezTo>
                  <a:pt x="81738" y="175654"/>
                  <a:pt x="81738" y="175654"/>
                  <a:pt x="39208" y="207031"/>
                </a:cubicBezTo>
                <a:cubicBezTo>
                  <a:pt x="37879" y="208338"/>
                  <a:pt x="36550" y="208338"/>
                  <a:pt x="35221" y="208338"/>
                </a:cubicBezTo>
                <a:cubicBezTo>
                  <a:pt x="33892" y="208338"/>
                  <a:pt x="31233" y="207031"/>
                  <a:pt x="31233" y="205723"/>
                </a:cubicBezTo>
                <a:cubicBezTo>
                  <a:pt x="28575" y="203109"/>
                  <a:pt x="29904" y="199187"/>
                  <a:pt x="32562" y="197879"/>
                </a:cubicBezTo>
                <a:cubicBezTo>
                  <a:pt x="32562" y="197879"/>
                  <a:pt x="32562" y="197879"/>
                  <a:pt x="75093" y="166503"/>
                </a:cubicBezTo>
                <a:close/>
                <a:moveTo>
                  <a:pt x="284569" y="98801"/>
                </a:moveTo>
                <a:cubicBezTo>
                  <a:pt x="284569" y="98801"/>
                  <a:pt x="284569" y="98801"/>
                  <a:pt x="329795" y="98801"/>
                </a:cubicBezTo>
                <a:cubicBezTo>
                  <a:pt x="332379" y="98801"/>
                  <a:pt x="334963" y="101271"/>
                  <a:pt x="334963" y="104975"/>
                </a:cubicBezTo>
                <a:cubicBezTo>
                  <a:pt x="334963" y="107444"/>
                  <a:pt x="332379" y="109914"/>
                  <a:pt x="329795" y="109914"/>
                </a:cubicBezTo>
                <a:cubicBezTo>
                  <a:pt x="329795" y="109914"/>
                  <a:pt x="329795" y="109914"/>
                  <a:pt x="284569" y="109914"/>
                </a:cubicBezTo>
                <a:cubicBezTo>
                  <a:pt x="281985" y="109914"/>
                  <a:pt x="279400" y="107444"/>
                  <a:pt x="279400" y="104975"/>
                </a:cubicBezTo>
                <a:cubicBezTo>
                  <a:pt x="279400" y="101271"/>
                  <a:pt x="281985" y="98801"/>
                  <a:pt x="284569" y="98801"/>
                </a:cubicBezTo>
                <a:close/>
                <a:moveTo>
                  <a:pt x="5340" y="98801"/>
                </a:moveTo>
                <a:cubicBezTo>
                  <a:pt x="5340" y="98801"/>
                  <a:pt x="5340" y="98801"/>
                  <a:pt x="53398" y="98801"/>
                </a:cubicBezTo>
                <a:cubicBezTo>
                  <a:pt x="56068" y="98801"/>
                  <a:pt x="58738" y="101271"/>
                  <a:pt x="58738" y="104975"/>
                </a:cubicBezTo>
                <a:cubicBezTo>
                  <a:pt x="58738" y="107444"/>
                  <a:pt x="56068" y="109914"/>
                  <a:pt x="53398" y="109914"/>
                </a:cubicBezTo>
                <a:cubicBezTo>
                  <a:pt x="53398" y="109914"/>
                  <a:pt x="53398" y="109914"/>
                  <a:pt x="5340" y="109914"/>
                </a:cubicBezTo>
                <a:cubicBezTo>
                  <a:pt x="2670" y="109914"/>
                  <a:pt x="0" y="107444"/>
                  <a:pt x="0" y="104975"/>
                </a:cubicBezTo>
                <a:cubicBezTo>
                  <a:pt x="0" y="101271"/>
                  <a:pt x="2670" y="98801"/>
                  <a:pt x="5340" y="98801"/>
                </a:cubicBezTo>
                <a:close/>
                <a:moveTo>
                  <a:pt x="164887" y="36888"/>
                </a:moveTo>
                <a:cubicBezTo>
                  <a:pt x="168826" y="36888"/>
                  <a:pt x="171451" y="40918"/>
                  <a:pt x="171451" y="43604"/>
                </a:cubicBezTo>
                <a:cubicBezTo>
                  <a:pt x="171451" y="46291"/>
                  <a:pt x="168826" y="48977"/>
                  <a:pt x="164887" y="48977"/>
                </a:cubicBezTo>
                <a:cubicBezTo>
                  <a:pt x="137320" y="48977"/>
                  <a:pt x="115003" y="71813"/>
                  <a:pt x="115003" y="100022"/>
                </a:cubicBezTo>
                <a:cubicBezTo>
                  <a:pt x="115003" y="104051"/>
                  <a:pt x="112377" y="106738"/>
                  <a:pt x="109752" y="106738"/>
                </a:cubicBezTo>
                <a:cubicBezTo>
                  <a:pt x="105814" y="106738"/>
                  <a:pt x="103188" y="104051"/>
                  <a:pt x="103188" y="100022"/>
                </a:cubicBezTo>
                <a:cubicBezTo>
                  <a:pt x="103188" y="65097"/>
                  <a:pt x="130756" y="36888"/>
                  <a:pt x="164887" y="36888"/>
                </a:cubicBezTo>
                <a:close/>
                <a:moveTo>
                  <a:pt x="169069" y="9901"/>
                </a:moveTo>
                <a:cubicBezTo>
                  <a:pt x="219192" y="9901"/>
                  <a:pt x="258763" y="50650"/>
                  <a:pt x="258763" y="99286"/>
                </a:cubicBezTo>
                <a:cubicBezTo>
                  <a:pt x="258763" y="120318"/>
                  <a:pt x="253487" y="138721"/>
                  <a:pt x="240297" y="154495"/>
                </a:cubicBezTo>
                <a:cubicBezTo>
                  <a:pt x="215235" y="189986"/>
                  <a:pt x="221830" y="207075"/>
                  <a:pt x="221830" y="208389"/>
                </a:cubicBezTo>
                <a:cubicBezTo>
                  <a:pt x="223149" y="211018"/>
                  <a:pt x="221830" y="213647"/>
                  <a:pt x="217873" y="214962"/>
                </a:cubicBezTo>
                <a:cubicBezTo>
                  <a:pt x="215235" y="216276"/>
                  <a:pt x="212597" y="214962"/>
                  <a:pt x="211278" y="212333"/>
                </a:cubicBezTo>
                <a:cubicBezTo>
                  <a:pt x="209959" y="211018"/>
                  <a:pt x="200726" y="188672"/>
                  <a:pt x="231064" y="147923"/>
                </a:cubicBezTo>
                <a:cubicBezTo>
                  <a:pt x="241616" y="133463"/>
                  <a:pt x="248211" y="117689"/>
                  <a:pt x="248211" y="99286"/>
                </a:cubicBezTo>
                <a:cubicBezTo>
                  <a:pt x="248211" y="55908"/>
                  <a:pt x="212597" y="21731"/>
                  <a:pt x="169069" y="21731"/>
                </a:cubicBezTo>
                <a:cubicBezTo>
                  <a:pt x="125541" y="21731"/>
                  <a:pt x="89927" y="55908"/>
                  <a:pt x="89927" y="99286"/>
                </a:cubicBezTo>
                <a:cubicBezTo>
                  <a:pt x="89927" y="116375"/>
                  <a:pt x="96523" y="133463"/>
                  <a:pt x="107075" y="146608"/>
                </a:cubicBezTo>
                <a:cubicBezTo>
                  <a:pt x="107075" y="147923"/>
                  <a:pt x="107075" y="147923"/>
                  <a:pt x="107075" y="147923"/>
                </a:cubicBezTo>
                <a:cubicBezTo>
                  <a:pt x="137413" y="189986"/>
                  <a:pt x="129498" y="211018"/>
                  <a:pt x="128179" y="212333"/>
                </a:cubicBezTo>
                <a:cubicBezTo>
                  <a:pt x="126860" y="214962"/>
                  <a:pt x="124222" y="216276"/>
                  <a:pt x="122903" y="216276"/>
                </a:cubicBezTo>
                <a:cubicBezTo>
                  <a:pt x="121584" y="216276"/>
                  <a:pt x="120265" y="216276"/>
                  <a:pt x="120265" y="214962"/>
                </a:cubicBezTo>
                <a:cubicBezTo>
                  <a:pt x="117627" y="213647"/>
                  <a:pt x="116308" y="211018"/>
                  <a:pt x="117627" y="207075"/>
                </a:cubicBezTo>
                <a:cubicBezTo>
                  <a:pt x="117627" y="207075"/>
                  <a:pt x="124222" y="191301"/>
                  <a:pt x="97842" y="154495"/>
                </a:cubicBezTo>
                <a:cubicBezTo>
                  <a:pt x="84651" y="138721"/>
                  <a:pt x="79375" y="120318"/>
                  <a:pt x="79375" y="99286"/>
                </a:cubicBezTo>
                <a:cubicBezTo>
                  <a:pt x="79375" y="50650"/>
                  <a:pt x="118946" y="9901"/>
                  <a:pt x="169069" y="9901"/>
                </a:cubicBezTo>
                <a:close/>
                <a:moveTo>
                  <a:pt x="39107" y="1482"/>
                </a:moveTo>
                <a:cubicBezTo>
                  <a:pt x="39107" y="1482"/>
                  <a:pt x="39107" y="1482"/>
                  <a:pt x="79917" y="31115"/>
                </a:cubicBezTo>
                <a:cubicBezTo>
                  <a:pt x="82550" y="33809"/>
                  <a:pt x="82550" y="37850"/>
                  <a:pt x="81234" y="40544"/>
                </a:cubicBezTo>
                <a:cubicBezTo>
                  <a:pt x="79917" y="41891"/>
                  <a:pt x="78601" y="43238"/>
                  <a:pt x="75968" y="43238"/>
                </a:cubicBezTo>
                <a:cubicBezTo>
                  <a:pt x="74651" y="43238"/>
                  <a:pt x="73335" y="41891"/>
                  <a:pt x="72019" y="41891"/>
                </a:cubicBezTo>
                <a:lnTo>
                  <a:pt x="32525" y="10911"/>
                </a:lnTo>
                <a:cubicBezTo>
                  <a:pt x="29892" y="8217"/>
                  <a:pt x="28575" y="5523"/>
                  <a:pt x="31208" y="2829"/>
                </a:cubicBezTo>
                <a:cubicBezTo>
                  <a:pt x="32525" y="135"/>
                  <a:pt x="36474" y="-1212"/>
                  <a:pt x="39107" y="1482"/>
                </a:cubicBezTo>
                <a:close/>
                <a:moveTo>
                  <a:pt x="299086" y="1451"/>
                </a:moveTo>
                <a:cubicBezTo>
                  <a:pt x="301705" y="-1212"/>
                  <a:pt x="305634" y="119"/>
                  <a:pt x="306944" y="2782"/>
                </a:cubicBezTo>
                <a:cubicBezTo>
                  <a:pt x="309563" y="5445"/>
                  <a:pt x="308254" y="8108"/>
                  <a:pt x="305634" y="10771"/>
                </a:cubicBezTo>
                <a:cubicBezTo>
                  <a:pt x="305634" y="10771"/>
                  <a:pt x="305634" y="10771"/>
                  <a:pt x="267653" y="38732"/>
                </a:cubicBezTo>
                <a:cubicBezTo>
                  <a:pt x="266343" y="40063"/>
                  <a:pt x="265033" y="40063"/>
                  <a:pt x="265033" y="40063"/>
                </a:cubicBezTo>
                <a:cubicBezTo>
                  <a:pt x="262414" y="40063"/>
                  <a:pt x="261104" y="38732"/>
                  <a:pt x="259795" y="37400"/>
                </a:cubicBezTo>
                <a:cubicBezTo>
                  <a:pt x="257175" y="34737"/>
                  <a:pt x="258485" y="30743"/>
                  <a:pt x="261104" y="29411"/>
                </a:cubicBezTo>
                <a:close/>
              </a:path>
            </a:pathLst>
          </a:custGeom>
          <a:solidFill>
            <a:srgbClr val="7AC8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09650" y="353695"/>
            <a:ext cx="35972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kern="1200" cap="none" spc="0" normalizeH="0" baseline="0" noProof="0" dirty="0">
                <a:solidFill>
                  <a:srgbClr val="005171"/>
                </a:solidFill>
                <a:cs typeface="+mn-ea"/>
                <a:sym typeface="+mn-lt"/>
              </a:rPr>
              <a:t>参考资料</a:t>
            </a:r>
            <a:endParaRPr kumimoji="1" lang="zh-CN" altLang="en-US" sz="2800" b="1" i="0" kern="1200" cap="none" spc="0" normalizeH="0" baseline="0" noProof="0" dirty="0">
              <a:solidFill>
                <a:srgbClr val="005171"/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53465" y="1456055"/>
            <a:ext cx="9178925" cy="4655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对于本教程存在一些疏漏与不足之处，请多包涵。如有描述不够详尽之阙，请同学们参考以下视频教程。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anaconda &amp; Pycharm </a:t>
            </a:r>
            <a:r>
              <a:rPr lang="zh-CN" altLang="en-US"/>
              <a:t>教程：</a:t>
            </a:r>
            <a:endParaRPr lang="zh-CN" altLang="en-US"/>
          </a:p>
          <a:p>
            <a:r>
              <a:rPr lang="en-US" altLang="zh-CN"/>
              <a:t>B</a:t>
            </a:r>
            <a:r>
              <a:rPr lang="zh-CN" altLang="en-US"/>
              <a:t>站：BV1Vu411Y7gL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pyQt</a:t>
            </a:r>
            <a:r>
              <a:rPr lang="zh-CN" altLang="en-US"/>
              <a:t>教程：</a:t>
            </a:r>
            <a:endParaRPr lang="zh-CN" altLang="en-US"/>
          </a:p>
          <a:p>
            <a:r>
              <a:rPr lang="en-US" altLang="zh-CN"/>
              <a:t>B</a:t>
            </a:r>
            <a:r>
              <a:rPr lang="zh-CN" altLang="en-US"/>
              <a:t>站：BV1LT4y1e72X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Yolov5</a:t>
            </a:r>
            <a:r>
              <a:rPr lang="zh-CN" altLang="en-US"/>
              <a:t>环境配置：</a:t>
            </a:r>
            <a:endParaRPr lang="zh-CN" altLang="en-US"/>
          </a:p>
          <a:p>
            <a:r>
              <a:rPr lang="en-US" altLang="zh-CN"/>
              <a:t>B</a:t>
            </a:r>
            <a:r>
              <a:rPr lang="zh-CN" altLang="en-US"/>
              <a:t>站：BV1G24y1G7qm</a:t>
            </a:r>
            <a:r>
              <a:rPr lang="en-US" altLang="zh-CN"/>
              <a:t> </a:t>
            </a:r>
            <a:endParaRPr lang="en-US" altLang="zh-CN"/>
          </a:p>
          <a:p>
            <a:r>
              <a:rPr lang="zh-CN" altLang="en-US"/>
              <a:t>此教程安装的</a:t>
            </a:r>
            <a:r>
              <a:rPr lang="en-US" altLang="zh-CN"/>
              <a:t>miniconda</a:t>
            </a:r>
            <a:r>
              <a:rPr lang="zh-CN" altLang="en-US"/>
              <a:t>版本与本</a:t>
            </a:r>
            <a:r>
              <a:rPr lang="en-US" altLang="zh-CN"/>
              <a:t>PPT</a:t>
            </a:r>
            <a:r>
              <a:rPr lang="zh-CN" altLang="en-US"/>
              <a:t>中的</a:t>
            </a:r>
            <a:r>
              <a:rPr lang="en-US" altLang="zh-CN"/>
              <a:t>anaconda</a:t>
            </a:r>
            <a:r>
              <a:rPr lang="zh-CN" altLang="en-US"/>
              <a:t>不同，选择其中一个安装即可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83"/>
          <p:cNvSpPr txBox="1"/>
          <p:nvPr/>
        </p:nvSpPr>
        <p:spPr>
          <a:xfrm>
            <a:off x="5065851" y="2247542"/>
            <a:ext cx="221488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8000" b="1" dirty="0">
                <a:gradFill>
                  <a:gsLst>
                    <a:gs pos="0">
                      <a:prstClr val="white"/>
                    </a:gs>
                    <a:gs pos="100000">
                      <a:srgbClr val="CCFFFF"/>
                    </a:gs>
                  </a:gsLst>
                  <a:lin ang="5400000" scaled="1"/>
                </a:gradFill>
                <a:cs typeface="+mn-ea"/>
                <a:sym typeface="+mn-lt"/>
              </a:rPr>
              <a:t>谢谢</a:t>
            </a:r>
            <a:endParaRPr lang="zh-CN" altLang="en-US" sz="8000" b="1" dirty="0">
              <a:gradFill>
                <a:gsLst>
                  <a:gs pos="0">
                    <a:prstClr val="white"/>
                  </a:gs>
                  <a:gs pos="100000">
                    <a:srgbClr val="CCFFFF"/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4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4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4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3000"/>
                                  </p:iterate>
                                  <p:childTnLst>
                                    <p:animMotion origin="layout" path="M -3.54167E-6 2.22222E-6 L 0.17657 2.22222E-6 " pathEditMode="relative" rAng="0" ptsTypes="AA">
                                      <p:cBhvr>
                                        <p:cTn id="11" dur="96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ags/tag1.xml><?xml version="1.0" encoding="utf-8"?>
<p:tagLst xmlns:p="http://schemas.openxmlformats.org/presentationml/2006/main">
  <p:tag name="PA" val="v4.3.1"/>
</p:tagLst>
</file>

<file path=ppt/tags/tag2.xml><?xml version="1.0" encoding="utf-8"?>
<p:tagLst xmlns:p="http://schemas.openxmlformats.org/presentationml/2006/main">
  <p:tag name="PA" val="v4.3.1"/>
</p:tagLst>
</file>

<file path=ppt/tags/tag3.xml><?xml version="1.0" encoding="utf-8"?>
<p:tagLst xmlns:p="http://schemas.openxmlformats.org/presentationml/2006/main">
  <p:tag name="PA" val="v4.3.1"/>
</p:tagLst>
</file>

<file path=ppt/tags/tag4.xml><?xml version="1.0" encoding="utf-8"?>
<p:tagLst xmlns:p="http://schemas.openxmlformats.org/presentationml/2006/main">
  <p:tag name="PA" val="v4.3.1"/>
</p:tagLst>
</file>

<file path=ppt/tags/tag5.xml><?xml version="1.0" encoding="utf-8"?>
<p:tagLst xmlns:p="http://schemas.openxmlformats.org/presentationml/2006/main">
  <p:tag name="PA" val="v4.3.1"/>
</p:tagLst>
</file>

<file path=ppt/tags/tag6.xml><?xml version="1.0" encoding="utf-8"?>
<p:tagLst xmlns:p="http://schemas.openxmlformats.org/presentationml/2006/main">
  <p:tag name="PA" val="v4.3.1"/>
</p:tagLst>
</file>

<file path=ppt/tags/tag7.xml><?xml version="1.0" encoding="utf-8"?>
<p:tagLst xmlns:p="http://schemas.openxmlformats.org/presentationml/2006/main">
  <p:tag name="PA" val="v4.3.1"/>
</p:tagLst>
</file>

<file path=ppt/tags/tag8.xml><?xml version="1.0" encoding="utf-8"?>
<p:tagLst xmlns:p="http://schemas.openxmlformats.org/presentationml/2006/main">
  <p:tag name="PA" val="v4.3.1"/>
</p:tagLst>
</file>

<file path=ppt/tags/tag9.xml><?xml version="1.0" encoding="utf-8"?>
<p:tagLst xmlns:p="http://schemas.openxmlformats.org/presentationml/2006/main">
  <p:tag name="PA" val="v4.3.1"/>
</p:tagLst>
</file>

<file path=ppt/tags/tag10.xml><?xml version="1.0" encoding="utf-8"?>
<p:tagLst xmlns:p="http://schemas.openxmlformats.org/presentationml/2006/main">
  <p:tag name="PA" val="v4.3.1"/>
</p:tagLst>
</file>

<file path=ppt/tags/tag11.xml><?xml version="1.0" encoding="utf-8"?>
<p:tagLst xmlns:p="http://schemas.openxmlformats.org/presentationml/2006/main">
  <p:tag name="PA" val="v4.3.1"/>
</p:tagLst>
</file>

<file path=ppt/tags/tag12.xml><?xml version="1.0" encoding="utf-8"?>
<p:tagLst xmlns:p="http://schemas.openxmlformats.org/presentationml/2006/main">
  <p:tag name="PA" val="v4.3.1"/>
</p:tagLst>
</file>

<file path=ppt/tags/tag13.xml><?xml version="1.0" encoding="utf-8"?>
<p:tagLst xmlns:p="http://schemas.openxmlformats.org/presentationml/2006/main">
  <p:tag name="PA" val="v4.3.1"/>
</p:tagLst>
</file>

<file path=ppt/tags/tag14.xml><?xml version="1.0" encoding="utf-8"?>
<p:tagLst xmlns:p="http://schemas.openxmlformats.org/presentationml/2006/main">
  <p:tag name="PA" val="v4.3.1"/>
</p:tagLst>
</file>

<file path=ppt/tags/tag15.xml><?xml version="1.0" encoding="utf-8"?>
<p:tagLst xmlns:p="http://schemas.openxmlformats.org/presentationml/2006/main">
  <p:tag name="PA" val="v4.3.1"/>
</p:tagLst>
</file>

<file path=ppt/tags/tag16.xml><?xml version="1.0" encoding="utf-8"?>
<p:tagLst xmlns:p="http://schemas.openxmlformats.org/presentationml/2006/main">
  <p:tag name="PA" val="v4.3.1"/>
</p:tagLst>
</file>

<file path=ppt/tags/tag17.xml><?xml version="1.0" encoding="utf-8"?>
<p:tagLst xmlns:p="http://schemas.openxmlformats.org/presentationml/2006/main">
  <p:tag name="PA" val="v4.3.1"/>
</p:tagLst>
</file>

<file path=ppt/tags/tag18.xml><?xml version="1.0" encoding="utf-8"?>
<p:tagLst xmlns:p="http://schemas.openxmlformats.org/presentationml/2006/main">
  <p:tag name="PA" val="v4.3.1"/>
</p:tagLst>
</file>

<file path=ppt/tags/tag19.xml><?xml version="1.0" encoding="utf-8"?>
<p:tagLst xmlns:p="http://schemas.openxmlformats.org/presentationml/2006/main">
  <p:tag name="PA" val="v4.3.1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UNIT_PLACING_PICTURE_USER_VIEWPORT" val="{&quot;height&quot;:5414,&quot;width&quot;:8099}"/>
</p:tagLst>
</file>

<file path=ppt/tags/tag31.xml><?xml version="1.0" encoding="utf-8"?>
<p:tagLst xmlns:p="http://schemas.openxmlformats.org/presentationml/2006/main">
  <p:tag name="KSO_WM_UNIT_PLACING_PICTURE_USER_VIEWPORT" val="{&quot;height&quot;:7030.291338582677,&quot;width&quot;:12193.289763779527}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UNIT_PLACING_PICTURE_USER_VIEWPORT" val="{&quot;height&quot;:5506,&quot;width&quot;:11965}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COMMONDATA" val="eyJoZGlkIjoiMGUyNzFjZDYxNzg2MTYyNDE0NDM0YWY3MzNjZGNlY2IifQ=="/>
  <p:tag name="KSO_WPP_MARK_KEY" val="a8e486c8-5021-4604-b49a-e28f1288c611"/>
  <p:tag name="commondata" val="eyJoZGlkIjoiZmRjMjU5ZTFhOWI2MDVmNWE4MGFhNGFhZjhjMjdiYjAifQ=="/>
</p:tagLst>
</file>

<file path=ppt/theme/theme1.xml><?xml version="1.0" encoding="utf-8"?>
<a:theme xmlns:a="http://schemas.openxmlformats.org/drawingml/2006/main" name="第一PPT，www.1ppt.com ">
  <a:themeElements>
    <a:clrScheme name="PitchLabs Default">
      <a:dk1>
        <a:srgbClr val="27282D"/>
      </a:dk1>
      <a:lt1>
        <a:srgbClr val="FFFFFF"/>
      </a:lt1>
      <a:dk2>
        <a:srgbClr val="424859"/>
      </a:dk2>
      <a:lt2>
        <a:srgbClr val="EAEAEA"/>
      </a:lt2>
      <a:accent1>
        <a:srgbClr val="F4397A"/>
      </a:accent1>
      <a:accent2>
        <a:srgbClr val="F35208"/>
      </a:accent2>
      <a:accent3>
        <a:srgbClr val="F2C901"/>
      </a:accent3>
      <a:accent4>
        <a:srgbClr val="01E0AD"/>
      </a:accent4>
      <a:accent5>
        <a:srgbClr val="70C3D6"/>
      </a:accent5>
      <a:accent6>
        <a:srgbClr val="3A4AAF"/>
      </a:accent6>
      <a:hlink>
        <a:srgbClr val="01E0AD"/>
      </a:hlink>
      <a:folHlink>
        <a:srgbClr val="70C3D6"/>
      </a:folHlink>
    </a:clrScheme>
    <a:fontScheme name="j21wfmou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 ">
  <a:themeElements>
    <a:clrScheme name="自定义 1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9ED6"/>
      </a:accent1>
      <a:accent2>
        <a:srgbClr val="F69618"/>
      </a:accent2>
      <a:accent3>
        <a:srgbClr val="9BB531"/>
      </a:accent3>
      <a:accent4>
        <a:srgbClr val="03AB99"/>
      </a:accent4>
      <a:accent5>
        <a:srgbClr val="566372"/>
      </a:accent5>
      <a:accent6>
        <a:srgbClr val="70AD47"/>
      </a:accent6>
      <a:hlink>
        <a:srgbClr val="0563C1"/>
      </a:hlink>
      <a:folHlink>
        <a:srgbClr val="954F72"/>
      </a:folHlink>
    </a:clrScheme>
    <a:fontScheme name="j21wfmou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4104</Words>
  <Application>WPS 演示</Application>
  <PresentationFormat>宽屏</PresentationFormat>
  <Paragraphs>371</Paragraphs>
  <Slides>40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59" baseType="lpstr">
      <vt:lpstr>Arial</vt:lpstr>
      <vt:lpstr>宋体</vt:lpstr>
      <vt:lpstr>Wingdings</vt:lpstr>
      <vt:lpstr>Lato</vt:lpstr>
      <vt:lpstr>Calibri</vt:lpstr>
      <vt:lpstr>小米兰亭</vt:lpstr>
      <vt:lpstr>方正兰亭粗黑简体</vt:lpstr>
      <vt:lpstr>黑体</vt:lpstr>
      <vt:lpstr>微软雅黑</vt:lpstr>
      <vt:lpstr>Calibri</vt:lpstr>
      <vt:lpstr>等线</vt:lpstr>
      <vt:lpstr>Times New Roman</vt:lpstr>
      <vt:lpstr>Arial Unicode MS</vt:lpstr>
      <vt:lpstr>Wingdings</vt:lpstr>
      <vt:lpstr>隶书</vt:lpstr>
      <vt:lpstr>仿宋</vt:lpstr>
      <vt:lpstr>Verdana</vt:lpstr>
      <vt:lpstr>第一PPT，www.1ppt.com </vt:lpstr>
      <vt:lpstr>第一PPT，www.1ppt.com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美林</cp:lastModifiedBy>
  <cp:revision>300</cp:revision>
  <dcterms:created xsi:type="dcterms:W3CDTF">2019-06-19T02:08:00Z</dcterms:created>
  <dcterms:modified xsi:type="dcterms:W3CDTF">2024-12-18T08:15:39Z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DAF950BA6B4B46D9B9932F81B9358AA9_13</vt:lpwstr>
  </property>
</Properties>
</file>