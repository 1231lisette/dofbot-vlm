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3"/>
  </p:sldMasterIdLst>
  <p:notesMasterIdLst>
    <p:notesMasterId r:id="rId5"/>
  </p:notesMasterIdLst>
  <p:handoutMasterIdLst>
    <p:handoutMasterId r:id="rId19"/>
  </p:handoutMasterIdLst>
  <p:sldIdLst>
    <p:sldId id="831" r:id="rId4"/>
    <p:sldId id="509" r:id="rId6"/>
    <p:sldId id="791" r:id="rId7"/>
    <p:sldId id="792" r:id="rId8"/>
    <p:sldId id="913" r:id="rId9"/>
    <p:sldId id="788" r:id="rId10"/>
    <p:sldId id="786" r:id="rId11"/>
    <p:sldId id="1097" r:id="rId12"/>
    <p:sldId id="1136" r:id="rId13"/>
    <p:sldId id="1015" r:id="rId14"/>
    <p:sldId id="814" r:id="rId15"/>
    <p:sldId id="870" r:id="rId16"/>
    <p:sldId id="872" r:id="rId17"/>
    <p:sldId id="1014" r:id="rId18"/>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6"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ung yuchen" initials="L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171"/>
    <a:srgbClr val="FF0000"/>
    <a:srgbClr val="FF89B9"/>
    <a:srgbClr val="C3D594"/>
    <a:srgbClr val="91C7EE"/>
    <a:srgbClr val="FCBD8E"/>
    <a:srgbClr val="FCC196"/>
    <a:srgbClr val="FB9E13"/>
    <a:srgbClr val="009ED6"/>
    <a:srgbClr val="D9F1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746"/>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27.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EC9A6E8-2E7F-4236-A8B6-E28576BFB565}"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1.png"/><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Arrow: Chevron 29"/>
          <p:cNvSpPr/>
          <p:nvPr userDrawn="1"/>
        </p:nvSpPr>
        <p:spPr>
          <a:xfrm>
            <a:off x="425177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0" name="Arrow: Chevron 29"/>
          <p:cNvSpPr/>
          <p:nvPr userDrawn="1"/>
        </p:nvSpPr>
        <p:spPr>
          <a:xfrm>
            <a:off x="110852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1" name="Rectangle 30"/>
          <p:cNvSpPr/>
          <p:nvPr userDrawn="1"/>
        </p:nvSpPr>
        <p:spPr>
          <a:xfrm>
            <a:off x="-1" y="537029"/>
            <a:ext cx="12192001" cy="5783942"/>
          </a:xfrm>
          <a:prstGeom prst="rect">
            <a:avLst/>
          </a:prstGeom>
          <a:solidFill>
            <a:srgbClr val="005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Arrow: Chevron 31"/>
          <p:cNvSpPr/>
          <p:nvPr userDrawn="1"/>
        </p:nvSpPr>
        <p:spPr>
          <a:xfrm flipH="1">
            <a:off x="-2305051"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 name="Arrow: Chevron 31"/>
          <p:cNvSpPr/>
          <p:nvPr userDrawn="1"/>
        </p:nvSpPr>
        <p:spPr>
          <a:xfrm flipH="1">
            <a:off x="857249"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Tree>
  </p:cSld>
  <p:clrMapOvr>
    <a:masterClrMapping/>
  </p:clrMapOvr>
  <p:transition spd="slow"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grpSp>
        <p:nvGrpSpPr>
          <p:cNvPr id="24" name="Group 23"/>
          <p:cNvGrpSpPr/>
          <p:nvPr userDrawn="1"/>
        </p:nvGrpSpPr>
        <p:grpSpPr>
          <a:xfrm>
            <a:off x="-1712688" y="350"/>
            <a:ext cx="13904688" cy="3726598"/>
            <a:chOff x="-1712688" y="-297946"/>
            <a:chExt cx="15017690" cy="4024894"/>
          </a:xfrm>
        </p:grpSpPr>
        <p:sp>
          <p:nvSpPr>
            <p:cNvPr id="25" name="Arrow: Chevron 24"/>
            <p:cNvSpPr/>
            <p:nvPr/>
          </p:nvSpPr>
          <p:spPr>
            <a:xfrm flipH="1">
              <a:off x="-1712688" y="-297946"/>
              <a:ext cx="3577684" cy="4024894"/>
            </a:xfrm>
            <a:prstGeom prst="chevron">
              <a:avLst>
                <a:gd name="adj" fmla="val 5646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6" name="Rectangle 25"/>
            <p:cNvSpPr/>
            <p:nvPr/>
          </p:nvSpPr>
          <p:spPr>
            <a:xfrm>
              <a:off x="-1" y="1"/>
              <a:ext cx="13305003"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Arrow: Chevron 26"/>
            <p:cNvSpPr/>
            <p:nvPr/>
          </p:nvSpPr>
          <p:spPr>
            <a:xfrm>
              <a:off x="297630" y="-297946"/>
              <a:ext cx="3577684" cy="4024894"/>
            </a:xfrm>
            <a:prstGeom prst="chevron">
              <a:avLst>
                <a:gd name="adj" fmla="val 56464"/>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8" name="Right Triangle 27"/>
            <p:cNvSpPr/>
            <p:nvPr/>
          </p:nvSpPr>
          <p:spPr>
            <a:xfrm rot="13500000">
              <a:off x="-447090" y="1267412"/>
              <a:ext cx="894177" cy="894177"/>
            </a:xfrm>
            <a:prstGeom prst="rtTriangl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29" name="Rectangle 28"/>
          <p:cNvSpPr/>
          <p:nvPr userDrawn="1"/>
        </p:nvSpPr>
        <p:spPr>
          <a:xfrm>
            <a:off x="0" y="6734628"/>
            <a:ext cx="12192000" cy="1378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Title 1"/>
          <p:cNvSpPr>
            <a:spLocks noGrp="1"/>
          </p:cNvSpPr>
          <p:nvPr>
            <p:ph type="title"/>
          </p:nvPr>
        </p:nvSpPr>
        <p:spPr>
          <a:xfrm>
            <a:off x="3606315" y="1494176"/>
            <a:ext cx="8337528" cy="738943"/>
          </a:xfrm>
        </p:spPr>
        <p:txBody>
          <a:bodyPr anchor="b">
            <a:normAutofit/>
          </a:bodyPr>
          <a:lstStyle>
            <a:lvl1pPr algn="l">
              <a:defRPr lang="id-ID" sz="4000" kern="1200" dirty="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23" name="Freeform: Shape 22"/>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Arrow: Chevron 11"/>
          <p:cNvSpPr/>
          <p:nvPr userDrawn="1"/>
        </p:nvSpPr>
        <p:spPr>
          <a:xfrm flipH="1">
            <a:off x="10145043" y="5889840"/>
            <a:ext cx="1258200" cy="967739"/>
          </a:xfrm>
          <a:prstGeom prst="chevron">
            <a:avLst>
              <a:gd name="adj" fmla="val 3765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4" name="Rectangle 13"/>
          <p:cNvSpPr/>
          <p:nvPr userDrawn="1"/>
        </p:nvSpPr>
        <p:spPr>
          <a:xfrm>
            <a:off x="0" y="6360342"/>
            <a:ext cx="12192000" cy="497658"/>
          </a:xfrm>
          <a:prstGeom prst="rect">
            <a:avLst/>
          </a:prstGeom>
          <a:solidFill>
            <a:schemeClr val="tx2"/>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Arrow: Chevron 17"/>
          <p:cNvSpPr/>
          <p:nvPr userDrawn="1"/>
        </p:nvSpPr>
        <p:spPr>
          <a:xfrm>
            <a:off x="10556429" y="5889840"/>
            <a:ext cx="1258200" cy="967739"/>
          </a:xfrm>
          <a:prstGeom prst="chevron">
            <a:avLst>
              <a:gd name="adj" fmla="val 3765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9" name="Right Triangle 18"/>
          <p:cNvSpPr/>
          <p:nvPr userDrawn="1"/>
        </p:nvSpPr>
        <p:spPr>
          <a:xfrm rot="13500000">
            <a:off x="-413952" y="346615"/>
            <a:ext cx="827907" cy="827907"/>
          </a:xfrm>
          <a:prstGeom prst="rtTriangl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itle 1"/>
          <p:cNvSpPr>
            <a:spLocks noGrp="1"/>
          </p:cNvSpPr>
          <p:nvPr>
            <p:ph type="title"/>
          </p:nvPr>
        </p:nvSpPr>
        <p:spPr>
          <a:xfrm>
            <a:off x="791590" y="430490"/>
            <a:ext cx="10105250" cy="738943"/>
          </a:xfrm>
        </p:spPr>
        <p:txBody>
          <a:bodyPr anchor="ctr">
            <a:normAutofit/>
          </a:bodyPr>
          <a:lstStyle>
            <a:lvl1pPr>
              <a:defRPr lang="id-ID" sz="4000" kern="1200" dirty="0">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17" name="Freeform: Shape 16"/>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Slide Number Placeholder 7"/>
          <p:cNvSpPr>
            <a:spLocks noGrp="1"/>
          </p:cNvSpPr>
          <p:nvPr>
            <p:ph type="sldNum" sz="quarter" idx="12"/>
          </p:nvPr>
        </p:nvSpPr>
        <p:spPr>
          <a:xfrm>
            <a:off x="10925868" y="6187883"/>
            <a:ext cx="656771" cy="365125"/>
          </a:xfrm>
        </p:spPr>
        <p:txBody>
          <a:bodyPr/>
          <a:lstStyle>
            <a:lvl1pPr algn="ctr">
              <a:defRPr sz="2000">
                <a:solidFill>
                  <a:schemeClr val="bg1"/>
                </a:solidFill>
              </a:defRPr>
            </a:lvl1pPr>
          </a:lstStyle>
          <a:p>
            <a:fld id="{7C95316B-B8B5-4650-AC04-9D895B83FAD8}" type="slidenum">
              <a:rPr lang="id-ID" smtClean="0"/>
            </a:fld>
            <a:endParaRPr lang="id-ID" dirty="0"/>
          </a:p>
        </p:txBody>
      </p:sp>
    </p:spTree>
  </p:cSld>
  <p:clrMapOvr>
    <a:masterClrMapping/>
  </p:clrMapOvr>
  <p:transition spd="slow"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pSp>
        <p:nvGrpSpPr>
          <p:cNvPr id="29" name="Group 28"/>
          <p:cNvGrpSpPr/>
          <p:nvPr userDrawn="1"/>
        </p:nvGrpSpPr>
        <p:grpSpPr>
          <a:xfrm>
            <a:off x="-798288" y="0"/>
            <a:ext cx="12990288" cy="1756977"/>
            <a:chOff x="-798288" y="0"/>
            <a:chExt cx="15673087" cy="2119834"/>
          </a:xfrm>
        </p:grpSpPr>
        <p:sp>
          <p:nvSpPr>
            <p:cNvPr id="30" name="Arrow: Chevron 29"/>
            <p:cNvSpPr/>
            <p:nvPr/>
          </p:nvSpPr>
          <p:spPr>
            <a:xfrm flipH="1">
              <a:off x="-798288" y="0"/>
              <a:ext cx="1884297" cy="2119834"/>
            </a:xfrm>
            <a:prstGeom prst="chevron">
              <a:avLst>
                <a:gd name="adj" fmla="val 5646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1" name="Rectangle 30"/>
            <p:cNvSpPr/>
            <p:nvPr/>
          </p:nvSpPr>
          <p:spPr>
            <a:xfrm>
              <a:off x="-1" y="203200"/>
              <a:ext cx="14874800" cy="17126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Arrow: Chevron 32"/>
            <p:cNvSpPr/>
            <p:nvPr/>
          </p:nvSpPr>
          <p:spPr>
            <a:xfrm>
              <a:off x="260508" y="0"/>
              <a:ext cx="1884296" cy="2119834"/>
            </a:xfrm>
            <a:prstGeom prst="chevron">
              <a:avLst>
                <a:gd name="adj" fmla="val 56464"/>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grpSp>
      <p:sp>
        <p:nvSpPr>
          <p:cNvPr id="49" name="Freeform: Shape 48"/>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itle 1"/>
          <p:cNvSpPr>
            <a:spLocks noGrp="1"/>
          </p:cNvSpPr>
          <p:nvPr>
            <p:ph type="title"/>
          </p:nvPr>
        </p:nvSpPr>
        <p:spPr>
          <a:xfrm>
            <a:off x="1756540" y="515504"/>
            <a:ext cx="9292533" cy="725347"/>
          </a:xfrm>
        </p:spPr>
        <p:txBody>
          <a:bodyPr anchor="ctr">
            <a:normAutofit/>
          </a:bodyPr>
          <a:lstStyle>
            <a:lvl1pPr algn="l">
              <a:defRPr lang="id-ID" sz="4000" kern="1200" dirty="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32" name="Slide Number Placeholder 5"/>
          <p:cNvSpPr>
            <a:spLocks noGrp="1"/>
          </p:cNvSpPr>
          <p:nvPr>
            <p:ph type="sldNum" sz="quarter" idx="12"/>
          </p:nvPr>
        </p:nvSpPr>
        <p:spPr>
          <a:xfrm>
            <a:off x="10896840" y="6274970"/>
            <a:ext cx="656771" cy="365125"/>
          </a:xfrm>
        </p:spPr>
        <p:txBody>
          <a:bodyPr/>
          <a:lstStyle>
            <a:lvl1pPr algn="ctr">
              <a:defRPr sz="1800">
                <a:solidFill>
                  <a:schemeClr val="tx2">
                    <a:lumMod val="75000"/>
                  </a:schemeClr>
                </a:solidFill>
              </a:defRPr>
            </a:lvl1pPr>
          </a:lstStyle>
          <a:p>
            <a:fld id="{7C95316B-B8B5-4650-AC04-9D895B83FAD8}" type="slidenum">
              <a:rPr lang="id-ID" smtClean="0"/>
            </a:fld>
            <a:endParaRPr lang="id-ID" dirty="0"/>
          </a:p>
        </p:txBody>
      </p:sp>
      <p:sp>
        <p:nvSpPr>
          <p:cNvPr id="34" name="Rectangle 33"/>
          <p:cNvSpPr/>
          <p:nvPr userDrawn="1"/>
        </p:nvSpPr>
        <p:spPr>
          <a:xfrm>
            <a:off x="0" y="6734628"/>
            <a:ext cx="12192000" cy="1378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22" name="Group 21"/>
          <p:cNvGrpSpPr/>
          <p:nvPr userDrawn="1"/>
        </p:nvGrpSpPr>
        <p:grpSpPr>
          <a:xfrm>
            <a:off x="-413954" y="1565701"/>
            <a:ext cx="12605954" cy="3726598"/>
            <a:chOff x="-309997" y="-297946"/>
            <a:chExt cx="13614999" cy="4024894"/>
          </a:xfrm>
        </p:grpSpPr>
        <p:sp>
          <p:nvSpPr>
            <p:cNvPr id="24" name="Arrow: Chevron 23"/>
            <p:cNvSpPr/>
            <p:nvPr/>
          </p:nvSpPr>
          <p:spPr>
            <a:xfrm flipH="1">
              <a:off x="7717000" y="-297946"/>
              <a:ext cx="3577684" cy="4024894"/>
            </a:xfrm>
            <a:prstGeom prst="chevron">
              <a:avLst>
                <a:gd name="adj" fmla="val 5646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6" name="Rectangle 25"/>
            <p:cNvSpPr/>
            <p:nvPr/>
          </p:nvSpPr>
          <p:spPr>
            <a:xfrm>
              <a:off x="137092" y="1"/>
              <a:ext cx="1316791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Arrow: Chevron 26"/>
            <p:cNvSpPr/>
            <p:nvPr/>
          </p:nvSpPr>
          <p:spPr>
            <a:xfrm>
              <a:off x="9727318" y="-297946"/>
              <a:ext cx="3577684" cy="4024894"/>
            </a:xfrm>
            <a:prstGeom prst="chevron">
              <a:avLst>
                <a:gd name="adj" fmla="val 56464"/>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8" name="Right Triangle 27"/>
            <p:cNvSpPr/>
            <p:nvPr/>
          </p:nvSpPr>
          <p:spPr>
            <a:xfrm rot="13500000">
              <a:off x="-309997" y="1267411"/>
              <a:ext cx="894177" cy="894177"/>
            </a:xfrm>
            <a:prstGeom prst="rtTriangl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2" name="Title 1"/>
          <p:cNvSpPr>
            <a:spLocks noGrp="1"/>
          </p:cNvSpPr>
          <p:nvPr>
            <p:ph type="title"/>
          </p:nvPr>
        </p:nvSpPr>
        <p:spPr>
          <a:xfrm>
            <a:off x="722520" y="2883806"/>
            <a:ext cx="7366096" cy="1104900"/>
          </a:xfrm>
        </p:spPr>
        <p:txBody>
          <a:bodyPr anchor="ctr">
            <a:normAutofit/>
          </a:bodyPr>
          <a:lstStyle>
            <a:lvl1pPr algn="l">
              <a:defRPr lang="id-ID" sz="4000" kern="1200" dirty="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25" name="Freeform: Shape 24"/>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11" name="Arrow: Chevron 10"/>
          <p:cNvSpPr/>
          <p:nvPr userDrawn="1"/>
        </p:nvSpPr>
        <p:spPr>
          <a:xfrm flipH="1">
            <a:off x="10145043" y="5889840"/>
            <a:ext cx="1258200" cy="967739"/>
          </a:xfrm>
          <a:prstGeom prst="chevron">
            <a:avLst>
              <a:gd name="adj" fmla="val 3765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2" name="Rectangle 11"/>
          <p:cNvSpPr/>
          <p:nvPr userDrawn="1"/>
        </p:nvSpPr>
        <p:spPr>
          <a:xfrm>
            <a:off x="0" y="6360342"/>
            <a:ext cx="12192000" cy="497658"/>
          </a:xfrm>
          <a:prstGeom prst="rect">
            <a:avLst/>
          </a:prstGeom>
          <a:solidFill>
            <a:schemeClr val="tx2"/>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Arrow: Chevron 12"/>
          <p:cNvSpPr/>
          <p:nvPr userDrawn="1"/>
        </p:nvSpPr>
        <p:spPr>
          <a:xfrm>
            <a:off x="10556429" y="5889840"/>
            <a:ext cx="1258200" cy="967739"/>
          </a:xfrm>
          <a:prstGeom prst="chevron">
            <a:avLst>
              <a:gd name="adj" fmla="val 3765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5" name="Slide Number Placeholder 5"/>
          <p:cNvSpPr>
            <a:spLocks noGrp="1"/>
          </p:cNvSpPr>
          <p:nvPr>
            <p:ph type="sldNum" sz="quarter" idx="12"/>
          </p:nvPr>
        </p:nvSpPr>
        <p:spPr>
          <a:xfrm>
            <a:off x="10925868" y="6187883"/>
            <a:ext cx="656771" cy="365125"/>
          </a:xfrm>
        </p:spPr>
        <p:txBody>
          <a:bodyPr/>
          <a:lstStyle>
            <a:lvl1pPr algn="ctr">
              <a:defRPr sz="1800">
                <a:solidFill>
                  <a:schemeClr val="bg1"/>
                </a:solidFill>
              </a:defRPr>
            </a:lvl1pPr>
          </a:lstStyle>
          <a:p>
            <a:fld id="{7C95316B-B8B5-4650-AC04-9D895B83FAD8}" type="slidenum">
              <a:rPr lang="id-ID" smtClean="0"/>
            </a:fld>
            <a:endParaRPr lang="id-ID" dirty="0"/>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Shape 1"/>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2" name="Arrow: Chevron 20"/>
          <p:cNvSpPr/>
          <p:nvPr userDrawn="1"/>
        </p:nvSpPr>
        <p:spPr>
          <a:xfrm>
            <a:off x="491852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1" name="Arrow: Chevron 20"/>
          <p:cNvSpPr/>
          <p:nvPr userDrawn="1"/>
        </p:nvSpPr>
        <p:spPr>
          <a:xfrm>
            <a:off x="171812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2" name="Rectangle 21"/>
          <p:cNvSpPr/>
          <p:nvPr userDrawn="1"/>
        </p:nvSpPr>
        <p:spPr>
          <a:xfrm>
            <a:off x="-1" y="537029"/>
            <a:ext cx="12192001" cy="5783942"/>
          </a:xfrm>
          <a:prstGeom prst="rect">
            <a:avLst/>
          </a:prstGeom>
          <a:solidFill>
            <a:srgbClr val="005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Arrow: Chevron 22"/>
          <p:cNvSpPr/>
          <p:nvPr userDrawn="1"/>
        </p:nvSpPr>
        <p:spPr>
          <a:xfrm flipH="1">
            <a:off x="-1733551"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 name="Arrow: Chevron 22"/>
          <p:cNvSpPr/>
          <p:nvPr userDrawn="1"/>
        </p:nvSpPr>
        <p:spPr>
          <a:xfrm flipH="1">
            <a:off x="1466849"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A4064C-B1C8-4B8F-82B1-6A8D1A5749D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11" name="TextBox 10"/>
          <p:cNvSpPr txBox="1"/>
          <p:nvPr userDrawn="1"/>
        </p:nvSpPr>
        <p:spPr>
          <a:xfrm>
            <a:off x="2168961" y="6739570"/>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black"/>
                </a:solidFill>
                <a:effectLst/>
                <a:uLnTx/>
                <a:uFillTx/>
                <a:hlinkClick r:id="rId2"/>
              </a:rPr>
              <a:t>PPT</a:t>
            </a:r>
            <a:r>
              <a:rPr kumimoji="0" lang="zh-CN" altLang="en-US" sz="100" b="0" i="0" u="none" strike="noStrike" kern="0" cap="none" spc="0" normalizeH="0" baseline="0" noProof="0" dirty="0" smtClean="0">
                <a:ln>
                  <a:noFill/>
                </a:ln>
                <a:solidFill>
                  <a:prstClr val="black"/>
                </a:solidFill>
                <a:effectLst/>
                <a:uLnTx/>
                <a:uFillTx/>
                <a:hlinkClick r:id="rId2"/>
              </a:rPr>
              <a:t>下载</a:t>
            </a:r>
            <a:r>
              <a:rPr kumimoji="0" lang="zh-CN" altLang="en-US" sz="100" b="0" i="0" u="none" strike="noStrike" kern="0" cap="none" spc="0" normalizeH="0" baseline="0" noProof="0" dirty="0" smtClean="0">
                <a:ln>
                  <a:noFill/>
                </a:ln>
                <a:solidFill>
                  <a:prstClr val="black"/>
                </a:solidFill>
                <a:effectLst/>
                <a:uLnTx/>
                <a:uFillTx/>
              </a:rPr>
              <a:t> </a:t>
            </a:r>
            <a:r>
              <a:rPr kumimoji="0" lang="en-US" altLang="zh-CN" sz="100" b="0" i="0" u="none" strike="noStrike" kern="0" cap="none" spc="0" normalizeH="0" baseline="0" noProof="0" dirty="0" smtClean="0">
                <a:ln>
                  <a:noFill/>
                </a:ln>
                <a:solidFill>
                  <a:prstClr val="black"/>
                </a:solidFill>
                <a:effectLst/>
                <a:uLnTx/>
                <a:uFillTx/>
              </a:rPr>
              <a:t>http://www.1ppt.com/xiazai/</a:t>
            </a:r>
            <a:endParaRPr kumimoji="0" lang="en-US" altLang="zh-CN" sz="100" b="0" i="0" u="none" strike="noStrike" kern="0" cap="none" spc="0" normalizeH="0" baseline="0" noProof="0" dirty="0" smtClean="0">
              <a:ln>
                <a:noFill/>
              </a:ln>
              <a:solidFill>
                <a:prstClr val="black"/>
              </a:solidFill>
              <a:effectLst/>
              <a:uLnTx/>
              <a:uFillTx/>
            </a:endParaRPr>
          </a:p>
        </p:txBody>
      </p:sp>
    </p:spTree>
  </p:cSld>
  <p:clrMapOvr>
    <a:masterClrMapping/>
  </p:clrMapOvr>
  <p:transition spd="slow" advTm="0">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空白">
    <p:bg>
      <p:bgPr>
        <a:gradFill>
          <a:gsLst>
            <a:gs pos="0">
              <a:srgbClr val="7AC861"/>
            </a:gs>
            <a:gs pos="100000">
              <a:srgbClr val="005171"/>
            </a:gs>
          </a:gsLst>
          <a:lin ang="5400000" scaled="1"/>
        </a:gra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5" name="矩形 4"/>
          <p:cNvSpPr/>
          <p:nvPr userDrawn="1"/>
        </p:nvSpPr>
        <p:spPr>
          <a:xfrm>
            <a:off x="139700" y="160200"/>
            <a:ext cx="11912600" cy="6537600"/>
          </a:xfrm>
          <a:prstGeom prst="rect">
            <a:avLst/>
          </a:prstGeom>
          <a:solidFill>
            <a:schemeClr val="bg1"/>
          </a:solidFill>
          <a:ln>
            <a:noFill/>
          </a:ln>
          <a:effectLst>
            <a:outerShdw blurRad="1651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10" name="PA-圆角矩形 6"/>
          <p:cNvSpPr/>
          <p:nvPr userDrawn="1">
            <p:custDataLst>
              <p:tags r:id="rId2"/>
            </p:custDataLst>
          </p:nvPr>
        </p:nvSpPr>
        <p:spPr>
          <a:xfrm>
            <a:off x="486368" y="1088840"/>
            <a:ext cx="11219264" cy="43013"/>
          </a:xfrm>
          <a:prstGeom prst="roundRect">
            <a:avLst>
              <a:gd name="adj" fmla="val 50000"/>
            </a:avLst>
          </a:prstGeom>
          <a:gradFill>
            <a:gsLst>
              <a:gs pos="0">
                <a:schemeClr val="bg1">
                  <a:lumMod val="7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Tree>
  </p:cSld>
  <p:clrMapOvr>
    <a:masterClrMapping/>
  </p:clrMapOvr>
  <p:transition spd="slow" advTm="0">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5" name="矩形 4"/>
          <p:cNvSpPr/>
          <p:nvPr userDrawn="1"/>
        </p:nvSpPr>
        <p:spPr>
          <a:xfrm>
            <a:off x="139700" y="160200"/>
            <a:ext cx="11912600" cy="6537600"/>
          </a:xfrm>
          <a:prstGeom prst="rect">
            <a:avLst/>
          </a:prstGeom>
          <a:solidFill>
            <a:srgbClr val="F7F7F7"/>
          </a:solidFill>
          <a:ln>
            <a:noFill/>
          </a:ln>
          <a:effectLst>
            <a:outerShdw blurRad="1651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6" name="组合 5"/>
          <p:cNvGrpSpPr/>
          <p:nvPr userDrawn="1"/>
        </p:nvGrpSpPr>
        <p:grpSpPr>
          <a:xfrm>
            <a:off x="1130904" y="430797"/>
            <a:ext cx="3279182" cy="580925"/>
            <a:chOff x="426045" y="440323"/>
            <a:chExt cx="3279182" cy="580925"/>
          </a:xfrm>
        </p:grpSpPr>
        <p:sp>
          <p:nvSpPr>
            <p:cNvPr id="7" name="矩形 6"/>
            <p:cNvSpPr/>
            <p:nvPr/>
          </p:nvSpPr>
          <p:spPr>
            <a:xfrm>
              <a:off x="426045" y="440323"/>
              <a:ext cx="3279182"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rPr>
                <a:t>正弦函数的图像与性质</a:t>
              </a:r>
              <a:endPar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endParaRPr>
            </a:p>
          </p:txBody>
        </p:sp>
        <p:sp>
          <p:nvSpPr>
            <p:cNvPr id="8" name="矩形 7"/>
            <p:cNvSpPr/>
            <p:nvPr/>
          </p:nvSpPr>
          <p:spPr>
            <a:xfrm>
              <a:off x="426045" y="821193"/>
              <a:ext cx="3166285" cy="2000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rPr>
                <a:t>THE IMAGE AND PROPERTIES OF SINUSOIDAL FUNCTION</a:t>
              </a:r>
              <a:endParaRPr kumimoji="0" lang="zh-CN" altLang="en-US"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endParaRPr>
            </a:p>
          </p:txBody>
        </p:sp>
      </p:grpSp>
      <p:pic>
        <p:nvPicPr>
          <p:cNvPr id="9" name="图片 8"/>
          <p:cNvPicPr>
            <a:picLocks noChangeAspect="1"/>
          </p:cNvPicPr>
          <p:nvPr userDrawn="1"/>
        </p:nvPicPr>
        <p:blipFill>
          <a:blip r:embed="rId2" cstate="screen"/>
          <a:stretch>
            <a:fillRect/>
          </a:stretch>
        </p:blipFill>
        <p:spPr>
          <a:xfrm>
            <a:off x="486368" y="416508"/>
            <a:ext cx="691329" cy="609693"/>
          </a:xfrm>
          <a:prstGeom prst="rect">
            <a:avLst/>
          </a:prstGeom>
        </p:spPr>
      </p:pic>
      <p:sp>
        <p:nvSpPr>
          <p:cNvPr id="10" name="PA-圆角矩形 6"/>
          <p:cNvSpPr/>
          <p:nvPr userDrawn="1">
            <p:custDataLst>
              <p:tags r:id="rId3"/>
            </p:custDataLst>
          </p:nvPr>
        </p:nvSpPr>
        <p:spPr>
          <a:xfrm>
            <a:off x="486368" y="1088840"/>
            <a:ext cx="11219264" cy="43013"/>
          </a:xfrm>
          <a:prstGeom prst="roundRect">
            <a:avLst>
              <a:gd name="adj" fmla="val 50000"/>
            </a:avLst>
          </a:prstGeom>
          <a:gradFill>
            <a:gsLst>
              <a:gs pos="0">
                <a:schemeClr val="bg1">
                  <a:lumMod val="7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11" name="PA-PA_椭圆 1"/>
          <p:cNvSpPr/>
          <p:nvPr userDrawn="1">
            <p:custDataLst>
              <p:tags r:id="rId4"/>
            </p:custDataLst>
          </p:nvPr>
        </p:nvSpPr>
        <p:spPr>
          <a:xfrm>
            <a:off x="5268686"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2" name="PA-PA_椭圆 1"/>
          <p:cNvSpPr/>
          <p:nvPr userDrawn="1">
            <p:custDataLst>
              <p:tags r:id="rId5"/>
            </p:custDataLst>
          </p:nvPr>
        </p:nvSpPr>
        <p:spPr>
          <a:xfrm>
            <a:off x="6940509"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3" name="PA-PA_椭圆 1"/>
          <p:cNvSpPr/>
          <p:nvPr userDrawn="1">
            <p:custDataLst>
              <p:tags r:id="rId6"/>
            </p:custDataLst>
          </p:nvPr>
        </p:nvSpPr>
        <p:spPr>
          <a:xfrm>
            <a:off x="8612332" y="490753"/>
            <a:ext cx="1421477" cy="446739"/>
          </a:xfrm>
          <a:prstGeom prst="roundRect">
            <a:avLst>
              <a:gd name="adj" fmla="val 50000"/>
            </a:avLst>
          </a:prstGeom>
          <a:solidFill>
            <a:schemeClr val="accent1"/>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4" name="PA-PA_椭圆 1"/>
          <p:cNvSpPr/>
          <p:nvPr userDrawn="1">
            <p:custDataLst>
              <p:tags r:id="rId7"/>
            </p:custDataLst>
          </p:nvPr>
        </p:nvSpPr>
        <p:spPr>
          <a:xfrm>
            <a:off x="10284155"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5" name="PA-矩形 6"/>
          <p:cNvSpPr/>
          <p:nvPr userDrawn="1">
            <p:custDataLst>
              <p:tags r:id="rId8"/>
            </p:custDataLst>
          </p:nvPr>
        </p:nvSpPr>
        <p:spPr>
          <a:xfrm>
            <a:off x="10442675"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教学效果</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6" name="PA-矩形 7"/>
          <p:cNvSpPr/>
          <p:nvPr userDrawn="1">
            <p:custDataLst>
              <p:tags r:id="rId9"/>
            </p:custDataLst>
          </p:nvPr>
        </p:nvSpPr>
        <p:spPr>
          <a:xfrm>
            <a:off x="8769073"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教学过程</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7" name="PA-矩形 8"/>
          <p:cNvSpPr/>
          <p:nvPr userDrawn="1">
            <p:custDataLst>
              <p:tags r:id="rId10"/>
            </p:custDataLst>
          </p:nvPr>
        </p:nvSpPr>
        <p:spPr>
          <a:xfrm>
            <a:off x="7095471"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教学策略</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8" name="PA-矩形 9"/>
          <p:cNvSpPr/>
          <p:nvPr userDrawn="1">
            <p:custDataLst>
              <p:tags r:id="rId11"/>
            </p:custDataLst>
          </p:nvPr>
        </p:nvSpPr>
        <p:spPr>
          <a:xfrm>
            <a:off x="5421869" y="533096"/>
            <a:ext cx="1107997"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教学分析</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Tree>
  </p:cSld>
  <p:clrMapOvr>
    <a:masterClrMapping/>
  </p:clrMapOvr>
  <p:transition spd="slow" advTm="0">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3_空白">
    <p:bg>
      <p:bgPr>
        <a:solidFill>
          <a:schemeClr val="accent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5" name="矩形 4"/>
          <p:cNvSpPr/>
          <p:nvPr userDrawn="1"/>
        </p:nvSpPr>
        <p:spPr>
          <a:xfrm>
            <a:off x="139700" y="160200"/>
            <a:ext cx="11912600" cy="6537600"/>
          </a:xfrm>
          <a:prstGeom prst="rect">
            <a:avLst/>
          </a:prstGeom>
          <a:solidFill>
            <a:srgbClr val="F7F7F7"/>
          </a:solidFill>
          <a:ln>
            <a:noFill/>
          </a:ln>
          <a:effectLst>
            <a:outerShdw blurRad="1651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6" name="组合 5"/>
          <p:cNvGrpSpPr/>
          <p:nvPr userDrawn="1"/>
        </p:nvGrpSpPr>
        <p:grpSpPr>
          <a:xfrm>
            <a:off x="1130904" y="430797"/>
            <a:ext cx="3279182" cy="580925"/>
            <a:chOff x="426045" y="440323"/>
            <a:chExt cx="3279182" cy="580925"/>
          </a:xfrm>
        </p:grpSpPr>
        <p:sp>
          <p:nvSpPr>
            <p:cNvPr id="7" name="矩形 6"/>
            <p:cNvSpPr/>
            <p:nvPr/>
          </p:nvSpPr>
          <p:spPr>
            <a:xfrm>
              <a:off x="426045" y="440323"/>
              <a:ext cx="3279182"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rPr>
                <a:t>正弦函数的图像与性质</a:t>
              </a:r>
              <a:endPar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endParaRPr>
            </a:p>
          </p:txBody>
        </p:sp>
        <p:sp>
          <p:nvSpPr>
            <p:cNvPr id="8" name="矩形 7"/>
            <p:cNvSpPr/>
            <p:nvPr/>
          </p:nvSpPr>
          <p:spPr>
            <a:xfrm>
              <a:off x="426045" y="821193"/>
              <a:ext cx="3166285" cy="2000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rPr>
                <a:t>THE IMAGE AND PROPERTIES OF SINUSOIDAL FUNCTION</a:t>
              </a:r>
              <a:endParaRPr kumimoji="0" lang="zh-CN" altLang="en-US"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endParaRPr>
            </a:p>
          </p:txBody>
        </p:sp>
      </p:grpSp>
      <p:pic>
        <p:nvPicPr>
          <p:cNvPr id="9" name="图片 8"/>
          <p:cNvPicPr>
            <a:picLocks noChangeAspect="1"/>
          </p:cNvPicPr>
          <p:nvPr userDrawn="1"/>
        </p:nvPicPr>
        <p:blipFill>
          <a:blip r:embed="rId2" cstate="screen"/>
          <a:stretch>
            <a:fillRect/>
          </a:stretch>
        </p:blipFill>
        <p:spPr>
          <a:xfrm>
            <a:off x="486368" y="416508"/>
            <a:ext cx="691329" cy="609693"/>
          </a:xfrm>
          <a:prstGeom prst="rect">
            <a:avLst/>
          </a:prstGeom>
        </p:spPr>
      </p:pic>
      <p:sp>
        <p:nvSpPr>
          <p:cNvPr id="10" name="PA-圆角矩形 6"/>
          <p:cNvSpPr/>
          <p:nvPr userDrawn="1">
            <p:custDataLst>
              <p:tags r:id="rId3"/>
            </p:custDataLst>
          </p:nvPr>
        </p:nvSpPr>
        <p:spPr>
          <a:xfrm>
            <a:off x="486368" y="1088840"/>
            <a:ext cx="11219264" cy="43013"/>
          </a:xfrm>
          <a:prstGeom prst="roundRect">
            <a:avLst>
              <a:gd name="adj" fmla="val 50000"/>
            </a:avLst>
          </a:prstGeom>
          <a:gradFill>
            <a:gsLst>
              <a:gs pos="0">
                <a:schemeClr val="bg1">
                  <a:lumMod val="7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11" name="PA-PA_椭圆 1"/>
          <p:cNvSpPr/>
          <p:nvPr userDrawn="1">
            <p:custDataLst>
              <p:tags r:id="rId4"/>
            </p:custDataLst>
          </p:nvPr>
        </p:nvSpPr>
        <p:spPr>
          <a:xfrm>
            <a:off x="5268686"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2" name="PA-PA_椭圆 1"/>
          <p:cNvSpPr/>
          <p:nvPr userDrawn="1">
            <p:custDataLst>
              <p:tags r:id="rId5"/>
            </p:custDataLst>
          </p:nvPr>
        </p:nvSpPr>
        <p:spPr>
          <a:xfrm>
            <a:off x="6940509"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3" name="PA-PA_椭圆 1"/>
          <p:cNvSpPr/>
          <p:nvPr userDrawn="1">
            <p:custDataLst>
              <p:tags r:id="rId6"/>
            </p:custDataLst>
          </p:nvPr>
        </p:nvSpPr>
        <p:spPr>
          <a:xfrm>
            <a:off x="8612332" y="490753"/>
            <a:ext cx="1421477" cy="446739"/>
          </a:xfrm>
          <a:prstGeom prst="roundRect">
            <a:avLst>
              <a:gd name="adj" fmla="val 50000"/>
            </a:avLst>
          </a:prstGeom>
          <a:solidFill>
            <a:schemeClr val="accent1"/>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4" name="PA-PA_椭圆 1"/>
          <p:cNvSpPr/>
          <p:nvPr userDrawn="1">
            <p:custDataLst>
              <p:tags r:id="rId7"/>
            </p:custDataLst>
          </p:nvPr>
        </p:nvSpPr>
        <p:spPr>
          <a:xfrm>
            <a:off x="10284155"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5" name="PA-矩形 6"/>
          <p:cNvSpPr/>
          <p:nvPr userDrawn="1">
            <p:custDataLst>
              <p:tags r:id="rId8"/>
            </p:custDataLst>
          </p:nvPr>
        </p:nvSpPr>
        <p:spPr>
          <a:xfrm>
            <a:off x="10442675"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教学效果</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6" name="PA-矩形 7"/>
          <p:cNvSpPr/>
          <p:nvPr userDrawn="1">
            <p:custDataLst>
              <p:tags r:id="rId9"/>
            </p:custDataLst>
          </p:nvPr>
        </p:nvSpPr>
        <p:spPr>
          <a:xfrm>
            <a:off x="8769073"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教学过程</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7" name="PA-矩形 8"/>
          <p:cNvSpPr/>
          <p:nvPr userDrawn="1">
            <p:custDataLst>
              <p:tags r:id="rId10"/>
            </p:custDataLst>
          </p:nvPr>
        </p:nvSpPr>
        <p:spPr>
          <a:xfrm>
            <a:off x="7095471"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教学策略</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8" name="PA-矩形 9"/>
          <p:cNvSpPr/>
          <p:nvPr userDrawn="1">
            <p:custDataLst>
              <p:tags r:id="rId11"/>
            </p:custDataLst>
          </p:nvPr>
        </p:nvSpPr>
        <p:spPr>
          <a:xfrm>
            <a:off x="5421869" y="533096"/>
            <a:ext cx="1107997"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教学分析</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grpSp>
        <p:nvGrpSpPr>
          <p:cNvPr id="19" name="组合 18"/>
          <p:cNvGrpSpPr/>
          <p:nvPr userDrawn="1"/>
        </p:nvGrpSpPr>
        <p:grpSpPr>
          <a:xfrm>
            <a:off x="47624" y="2161827"/>
            <a:ext cx="1731479" cy="551245"/>
            <a:chOff x="47624" y="2161827"/>
            <a:chExt cx="1731479" cy="551245"/>
          </a:xfrm>
        </p:grpSpPr>
        <p:sp>
          <p:nvSpPr>
            <p:cNvPr id="20" name="直角三角形 19"/>
            <p:cNvSpPr/>
            <p:nvPr/>
          </p:nvSpPr>
          <p:spPr>
            <a:xfrm rot="16200000" flipH="1">
              <a:off x="41676" y="2615046"/>
              <a:ext cx="103976" cy="92075"/>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21" name="组合 20"/>
            <p:cNvGrpSpPr/>
            <p:nvPr/>
          </p:nvGrpSpPr>
          <p:grpSpPr>
            <a:xfrm>
              <a:off x="47624" y="2161827"/>
              <a:ext cx="1731479" cy="447270"/>
              <a:chOff x="47624" y="2136427"/>
              <a:chExt cx="1731479" cy="447270"/>
            </a:xfrm>
          </p:grpSpPr>
          <p:sp>
            <p:nvSpPr>
              <p:cNvPr id="23" name="五边形 61"/>
              <p:cNvSpPr/>
              <p:nvPr/>
            </p:nvSpPr>
            <p:spPr>
              <a:xfrm>
                <a:off x="47624" y="2136427"/>
                <a:ext cx="1731479" cy="447270"/>
              </a:xfrm>
              <a:prstGeom prst="homePlate">
                <a:avLst/>
              </a:prstGeom>
              <a:solidFill>
                <a:srgbClr val="E3E7EC"/>
              </a:solidFill>
              <a:ln>
                <a:noFill/>
              </a:ln>
              <a:effectLst>
                <a:outerShdw blurRad="635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24" name="矩形 23"/>
              <p:cNvSpPr/>
              <p:nvPr/>
            </p:nvSpPr>
            <p:spPr>
              <a:xfrm>
                <a:off x="507007" y="2178679"/>
                <a:ext cx="1107996" cy="369332"/>
              </a:xfrm>
              <a:prstGeom prst="rect">
                <a:avLst/>
              </a:prstGeom>
            </p:spPr>
            <p:txBody>
              <a:bodyPr wrap="none">
                <a:spAutoFit/>
              </a:bodyPr>
              <a:lstStyle/>
              <a:p>
                <a:pPr lvl="0">
                  <a:defRPr/>
                </a:pPr>
                <a:r>
                  <a:rPr lang="zh-CN" altLang="en-US" dirty="0">
                    <a:solidFill>
                      <a:schemeClr val="accent5"/>
                    </a:solidFill>
                    <a:latin typeface="+mn-ea"/>
                  </a:rPr>
                  <a:t>课前导学</a:t>
                </a:r>
                <a:endParaRPr kumimoji="0" lang="zh-CN" altLang="en-US" sz="1800" b="0" i="0" u="none" strike="noStrike" kern="1200" cap="none" spc="0" normalizeH="0" baseline="0" noProof="0" dirty="0">
                  <a:ln>
                    <a:noFill/>
                  </a:ln>
                  <a:solidFill>
                    <a:schemeClr val="accent5"/>
                  </a:solidFill>
                  <a:effectLst/>
                  <a:uLnTx/>
                  <a:uFillTx/>
                  <a:latin typeface="+mn-ea"/>
                </a:endParaRPr>
              </a:p>
            </p:txBody>
          </p:sp>
        </p:grpSp>
        <p:sp>
          <p:nvSpPr>
            <p:cNvPr id="22" name="任意多边形: 形状 21"/>
            <p:cNvSpPr/>
            <p:nvPr/>
          </p:nvSpPr>
          <p:spPr bwMode="auto">
            <a:xfrm>
              <a:off x="258214" y="2238678"/>
              <a:ext cx="293895" cy="293568"/>
            </a:xfrm>
            <a:custGeom>
              <a:avLst/>
              <a:gdLst>
                <a:gd name="connsiteX0" fmla="*/ 41356 w 293895"/>
                <a:gd name="connsiteY0" fmla="*/ 79826 h 293568"/>
                <a:gd name="connsiteX1" fmla="*/ 45328 w 293895"/>
                <a:gd name="connsiteY1" fmla="*/ 81993 h 293568"/>
                <a:gd name="connsiteX2" fmla="*/ 58330 w 293895"/>
                <a:gd name="connsiteY2" fmla="*/ 101489 h 293568"/>
                <a:gd name="connsiteX3" fmla="*/ 71332 w 293895"/>
                <a:gd name="connsiteY3" fmla="*/ 81993 h 293568"/>
                <a:gd name="connsiteX4" fmla="*/ 75665 w 293895"/>
                <a:gd name="connsiteY4" fmla="*/ 79826 h 293568"/>
                <a:gd name="connsiteX5" fmla="*/ 90473 w 293895"/>
                <a:gd name="connsiteY5" fmla="*/ 81632 h 293568"/>
                <a:gd name="connsiteX6" fmla="*/ 103474 w 293895"/>
                <a:gd name="connsiteY6" fmla="*/ 87769 h 293568"/>
                <a:gd name="connsiteX7" fmla="*/ 117198 w 293895"/>
                <a:gd name="connsiteY7" fmla="*/ 104378 h 293568"/>
                <a:gd name="connsiteX8" fmla="*/ 120088 w 293895"/>
                <a:gd name="connsiteY8" fmla="*/ 107266 h 293568"/>
                <a:gd name="connsiteX9" fmla="*/ 125866 w 293895"/>
                <a:gd name="connsiteY9" fmla="*/ 107988 h 293568"/>
                <a:gd name="connsiteX10" fmla="*/ 128394 w 293895"/>
                <a:gd name="connsiteY10" fmla="*/ 106183 h 293568"/>
                <a:gd name="connsiteX11" fmla="*/ 144285 w 293895"/>
                <a:gd name="connsiteY11" fmla="*/ 94268 h 293568"/>
                <a:gd name="connsiteX12" fmla="*/ 160898 w 293895"/>
                <a:gd name="connsiteY12" fmla="*/ 116292 h 293568"/>
                <a:gd name="connsiteX13" fmla="*/ 143924 w 293895"/>
                <a:gd name="connsiteY13" fmla="*/ 128568 h 293568"/>
                <a:gd name="connsiteX14" fmla="*/ 126588 w 293895"/>
                <a:gd name="connsiteY14" fmla="*/ 138678 h 293568"/>
                <a:gd name="connsiteX15" fmla="*/ 113587 w 293895"/>
                <a:gd name="connsiteY15" fmla="*/ 137594 h 293568"/>
                <a:gd name="connsiteX16" fmla="*/ 96974 w 293895"/>
                <a:gd name="connsiteY16" fmla="*/ 122791 h 293568"/>
                <a:gd name="connsiteX17" fmla="*/ 93362 w 293895"/>
                <a:gd name="connsiteY17" fmla="*/ 118820 h 293568"/>
                <a:gd name="connsiteX18" fmla="*/ 89028 w 293895"/>
                <a:gd name="connsiteY18" fmla="*/ 279848 h 293568"/>
                <a:gd name="connsiteX19" fmla="*/ 73860 w 293895"/>
                <a:gd name="connsiteY19" fmla="*/ 293568 h 293568"/>
                <a:gd name="connsiteX20" fmla="*/ 60858 w 293895"/>
                <a:gd name="connsiteY20" fmla="*/ 288874 h 293568"/>
                <a:gd name="connsiteX21" fmla="*/ 55802 w 293895"/>
                <a:gd name="connsiteY21" fmla="*/ 288874 h 293568"/>
                <a:gd name="connsiteX22" fmla="*/ 42800 w 293895"/>
                <a:gd name="connsiteY22" fmla="*/ 293568 h 293568"/>
                <a:gd name="connsiteX23" fmla="*/ 27993 w 293895"/>
                <a:gd name="connsiteY23" fmla="*/ 279848 h 293568"/>
                <a:gd name="connsiteX24" fmla="*/ 25104 w 293895"/>
                <a:gd name="connsiteY24" fmla="*/ 185253 h 293568"/>
                <a:gd name="connsiteX25" fmla="*/ 21131 w 293895"/>
                <a:gd name="connsiteY25" fmla="*/ 184892 h 293568"/>
                <a:gd name="connsiteX26" fmla="*/ 5240 w 293895"/>
                <a:gd name="connsiteY26" fmla="*/ 172977 h 293568"/>
                <a:gd name="connsiteX27" fmla="*/ 4518 w 293895"/>
                <a:gd name="connsiteY27" fmla="*/ 92102 h 293568"/>
                <a:gd name="connsiteX28" fmla="*/ 14991 w 293895"/>
                <a:gd name="connsiteY28" fmla="*/ 83076 h 293568"/>
                <a:gd name="connsiteX29" fmla="*/ 41356 w 293895"/>
                <a:gd name="connsiteY29" fmla="*/ 79826 h 293568"/>
                <a:gd name="connsiteX30" fmla="*/ 59052 w 293895"/>
                <a:gd name="connsiteY30" fmla="*/ 14115 h 293568"/>
                <a:gd name="connsiteX31" fmla="*/ 82889 w 293895"/>
                <a:gd name="connsiteY31" fmla="*/ 40472 h 293568"/>
                <a:gd name="connsiteX32" fmla="*/ 57969 w 293895"/>
                <a:gd name="connsiteY32" fmla="*/ 71161 h 293568"/>
                <a:gd name="connsiteX33" fmla="*/ 33771 w 293895"/>
                <a:gd name="connsiteY33" fmla="*/ 39389 h 293568"/>
                <a:gd name="connsiteX34" fmla="*/ 59052 w 293895"/>
                <a:gd name="connsiteY34" fmla="*/ 14115 h 293568"/>
                <a:gd name="connsiteX35" fmla="*/ 292940 w 293895"/>
                <a:gd name="connsiteY35" fmla="*/ 8550 h 293568"/>
                <a:gd name="connsiteX36" fmla="*/ 292442 w 293895"/>
                <a:gd name="connsiteY36" fmla="*/ 13335 h 293568"/>
                <a:gd name="connsiteX37" fmla="*/ 221932 w 293895"/>
                <a:gd name="connsiteY37" fmla="*/ 76523 h 293568"/>
                <a:gd name="connsiteX38" fmla="*/ 208553 w 293895"/>
                <a:gd name="connsiteY38" fmla="*/ 67858 h 293568"/>
                <a:gd name="connsiteX39" fmla="*/ 204575 w 293895"/>
                <a:gd name="connsiteY39" fmla="*/ 29944 h 293568"/>
                <a:gd name="connsiteX40" fmla="*/ 217231 w 293895"/>
                <a:gd name="connsiteY40" fmla="*/ 28500 h 293568"/>
                <a:gd name="connsiteX41" fmla="*/ 223740 w 293895"/>
                <a:gd name="connsiteY41" fmla="*/ 47998 h 293568"/>
                <a:gd name="connsiteX42" fmla="*/ 287742 w 293895"/>
                <a:gd name="connsiteY42" fmla="*/ 8641 h 293568"/>
                <a:gd name="connsiteX43" fmla="*/ 292940 w 293895"/>
                <a:gd name="connsiteY43" fmla="*/ 8550 h 293568"/>
                <a:gd name="connsiteX44" fmla="*/ 184695 w 293895"/>
                <a:gd name="connsiteY44" fmla="*/ 0 h 293568"/>
                <a:gd name="connsiteX45" fmla="*/ 273204 w 293895"/>
                <a:gd name="connsiteY45" fmla="*/ 0 h 293568"/>
                <a:gd name="connsiteX46" fmla="*/ 277539 w 293895"/>
                <a:gd name="connsiteY46" fmla="*/ 1445 h 293568"/>
                <a:gd name="connsiteX47" fmla="*/ 258754 w 293895"/>
                <a:gd name="connsiteY47" fmla="*/ 13728 h 293568"/>
                <a:gd name="connsiteX48" fmla="*/ 212873 w 293895"/>
                <a:gd name="connsiteY48" fmla="*/ 13728 h 293568"/>
                <a:gd name="connsiteX49" fmla="*/ 210345 w 293895"/>
                <a:gd name="connsiteY49" fmla="*/ 13728 h 293568"/>
                <a:gd name="connsiteX50" fmla="*/ 191559 w 293895"/>
                <a:gd name="connsiteY50" fmla="*/ 13728 h 293568"/>
                <a:gd name="connsiteX51" fmla="*/ 191559 w 293895"/>
                <a:gd name="connsiteY51" fmla="*/ 88509 h 293568"/>
                <a:gd name="connsiteX52" fmla="*/ 215041 w 293895"/>
                <a:gd name="connsiteY52" fmla="*/ 88509 h 293568"/>
                <a:gd name="connsiteX53" fmla="*/ 223711 w 293895"/>
                <a:gd name="connsiteY53" fmla="*/ 88509 h 293568"/>
                <a:gd name="connsiteX54" fmla="*/ 266340 w 293895"/>
                <a:gd name="connsiteY54" fmla="*/ 88509 h 293568"/>
                <a:gd name="connsiteX55" fmla="*/ 266340 w 293895"/>
                <a:gd name="connsiteY55" fmla="*/ 54912 h 293568"/>
                <a:gd name="connsiteX56" fmla="*/ 280068 w 293895"/>
                <a:gd name="connsiteY56" fmla="*/ 41545 h 293568"/>
                <a:gd name="connsiteX57" fmla="*/ 280068 w 293895"/>
                <a:gd name="connsiteY57" fmla="*/ 95373 h 293568"/>
                <a:gd name="connsiteX58" fmla="*/ 273204 w 293895"/>
                <a:gd name="connsiteY58" fmla="*/ 102237 h 293568"/>
                <a:gd name="connsiteX59" fmla="*/ 184695 w 293895"/>
                <a:gd name="connsiteY59" fmla="*/ 102237 h 293568"/>
                <a:gd name="connsiteX60" fmla="*/ 177831 w 293895"/>
                <a:gd name="connsiteY60" fmla="*/ 95373 h 293568"/>
                <a:gd name="connsiteX61" fmla="*/ 177831 w 293895"/>
                <a:gd name="connsiteY61" fmla="*/ 6864 h 293568"/>
                <a:gd name="connsiteX62" fmla="*/ 184695 w 293895"/>
                <a:gd name="connsiteY62" fmla="*/ 0 h 29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93895" h="293568">
                  <a:moveTo>
                    <a:pt x="41356" y="79826"/>
                  </a:moveTo>
                  <a:cubicBezTo>
                    <a:pt x="42800" y="79826"/>
                    <a:pt x="44606" y="80548"/>
                    <a:pt x="45328" y="81993"/>
                  </a:cubicBezTo>
                  <a:cubicBezTo>
                    <a:pt x="58330" y="101489"/>
                    <a:pt x="58330" y="101489"/>
                    <a:pt x="58330" y="101489"/>
                  </a:cubicBezTo>
                  <a:cubicBezTo>
                    <a:pt x="71332" y="81993"/>
                    <a:pt x="71332" y="81993"/>
                    <a:pt x="71332" y="81993"/>
                  </a:cubicBezTo>
                  <a:cubicBezTo>
                    <a:pt x="72415" y="80548"/>
                    <a:pt x="73860" y="79826"/>
                    <a:pt x="75665" y="79826"/>
                  </a:cubicBezTo>
                  <a:cubicBezTo>
                    <a:pt x="90473" y="81632"/>
                    <a:pt x="90473" y="81632"/>
                    <a:pt x="90473" y="81632"/>
                  </a:cubicBezTo>
                  <a:cubicBezTo>
                    <a:pt x="98057" y="82715"/>
                    <a:pt x="100585" y="84520"/>
                    <a:pt x="103474" y="87769"/>
                  </a:cubicBezTo>
                  <a:cubicBezTo>
                    <a:pt x="108531" y="94268"/>
                    <a:pt x="113226" y="100045"/>
                    <a:pt x="117198" y="104378"/>
                  </a:cubicBezTo>
                  <a:cubicBezTo>
                    <a:pt x="118282" y="105461"/>
                    <a:pt x="119004" y="106544"/>
                    <a:pt x="120088" y="107266"/>
                  </a:cubicBezTo>
                  <a:cubicBezTo>
                    <a:pt x="121532" y="109071"/>
                    <a:pt x="124060" y="109071"/>
                    <a:pt x="125866" y="107988"/>
                  </a:cubicBezTo>
                  <a:cubicBezTo>
                    <a:pt x="126588" y="107266"/>
                    <a:pt x="127672" y="106905"/>
                    <a:pt x="128394" y="106183"/>
                  </a:cubicBezTo>
                  <a:cubicBezTo>
                    <a:pt x="132367" y="103295"/>
                    <a:pt x="139590" y="97879"/>
                    <a:pt x="144285" y="94268"/>
                  </a:cubicBezTo>
                  <a:cubicBezTo>
                    <a:pt x="157287" y="84159"/>
                    <a:pt x="174622" y="105822"/>
                    <a:pt x="160898" y="116292"/>
                  </a:cubicBezTo>
                  <a:cubicBezTo>
                    <a:pt x="155842" y="119903"/>
                    <a:pt x="148619" y="125680"/>
                    <a:pt x="143924" y="128568"/>
                  </a:cubicBezTo>
                  <a:cubicBezTo>
                    <a:pt x="137062" y="133623"/>
                    <a:pt x="130922" y="137233"/>
                    <a:pt x="126588" y="138678"/>
                  </a:cubicBezTo>
                  <a:cubicBezTo>
                    <a:pt x="122616" y="140483"/>
                    <a:pt x="117559" y="140483"/>
                    <a:pt x="113587" y="137594"/>
                  </a:cubicBezTo>
                  <a:cubicBezTo>
                    <a:pt x="107808" y="133984"/>
                    <a:pt x="102752" y="129290"/>
                    <a:pt x="96974" y="122791"/>
                  </a:cubicBezTo>
                  <a:cubicBezTo>
                    <a:pt x="95890" y="121708"/>
                    <a:pt x="94807" y="120264"/>
                    <a:pt x="93362" y="118820"/>
                  </a:cubicBezTo>
                  <a:cubicBezTo>
                    <a:pt x="89028" y="279848"/>
                    <a:pt x="89028" y="279848"/>
                    <a:pt x="89028" y="279848"/>
                  </a:cubicBezTo>
                  <a:cubicBezTo>
                    <a:pt x="88667" y="287430"/>
                    <a:pt x="80722" y="293568"/>
                    <a:pt x="73860" y="293568"/>
                  </a:cubicBezTo>
                  <a:cubicBezTo>
                    <a:pt x="69165" y="293568"/>
                    <a:pt x="63386" y="291763"/>
                    <a:pt x="60858" y="288874"/>
                  </a:cubicBezTo>
                  <a:cubicBezTo>
                    <a:pt x="59775" y="287069"/>
                    <a:pt x="57247" y="287069"/>
                    <a:pt x="55802" y="288874"/>
                  </a:cubicBezTo>
                  <a:cubicBezTo>
                    <a:pt x="53635" y="291763"/>
                    <a:pt x="47495" y="293568"/>
                    <a:pt x="42800" y="293568"/>
                  </a:cubicBezTo>
                  <a:cubicBezTo>
                    <a:pt x="35938" y="293568"/>
                    <a:pt x="28354" y="287430"/>
                    <a:pt x="27993" y="279848"/>
                  </a:cubicBezTo>
                  <a:cubicBezTo>
                    <a:pt x="25104" y="185253"/>
                    <a:pt x="25104" y="185253"/>
                    <a:pt x="25104" y="185253"/>
                  </a:cubicBezTo>
                  <a:cubicBezTo>
                    <a:pt x="21131" y="184892"/>
                    <a:pt x="21131" y="184892"/>
                    <a:pt x="21131" y="184892"/>
                  </a:cubicBezTo>
                  <a:cubicBezTo>
                    <a:pt x="14630" y="184170"/>
                    <a:pt x="6324" y="179476"/>
                    <a:pt x="5240" y="172977"/>
                  </a:cubicBezTo>
                  <a:cubicBezTo>
                    <a:pt x="-2344" y="133262"/>
                    <a:pt x="-899" y="133623"/>
                    <a:pt x="4518" y="92102"/>
                  </a:cubicBezTo>
                  <a:cubicBezTo>
                    <a:pt x="5240" y="89214"/>
                    <a:pt x="8852" y="83798"/>
                    <a:pt x="14991" y="83076"/>
                  </a:cubicBezTo>
                  <a:cubicBezTo>
                    <a:pt x="41356" y="79826"/>
                    <a:pt x="41356" y="79826"/>
                    <a:pt x="41356" y="79826"/>
                  </a:cubicBezTo>
                  <a:close/>
                  <a:moveTo>
                    <a:pt x="59052" y="14115"/>
                  </a:moveTo>
                  <a:cubicBezTo>
                    <a:pt x="72415" y="14476"/>
                    <a:pt x="83250" y="26030"/>
                    <a:pt x="82889" y="40472"/>
                  </a:cubicBezTo>
                  <a:cubicBezTo>
                    <a:pt x="82527" y="54553"/>
                    <a:pt x="71332" y="71522"/>
                    <a:pt x="57969" y="71161"/>
                  </a:cubicBezTo>
                  <a:cubicBezTo>
                    <a:pt x="44245" y="71161"/>
                    <a:pt x="33771" y="53470"/>
                    <a:pt x="33771" y="39389"/>
                  </a:cubicBezTo>
                  <a:cubicBezTo>
                    <a:pt x="34133" y="25308"/>
                    <a:pt x="45328" y="13754"/>
                    <a:pt x="59052" y="14115"/>
                  </a:cubicBezTo>
                  <a:close/>
                  <a:moveTo>
                    <a:pt x="292940" y="8550"/>
                  </a:moveTo>
                  <a:cubicBezTo>
                    <a:pt x="294160" y="9543"/>
                    <a:pt x="294431" y="11349"/>
                    <a:pt x="292442" y="13335"/>
                  </a:cubicBezTo>
                  <a:cubicBezTo>
                    <a:pt x="265684" y="39332"/>
                    <a:pt x="252667" y="54859"/>
                    <a:pt x="221932" y="76523"/>
                  </a:cubicBezTo>
                  <a:cubicBezTo>
                    <a:pt x="217592" y="79773"/>
                    <a:pt x="209637" y="73274"/>
                    <a:pt x="208553" y="67858"/>
                  </a:cubicBezTo>
                  <a:cubicBezTo>
                    <a:pt x="206021" y="53053"/>
                    <a:pt x="204575" y="46915"/>
                    <a:pt x="204575" y="29944"/>
                  </a:cubicBezTo>
                  <a:cubicBezTo>
                    <a:pt x="204575" y="24528"/>
                    <a:pt x="215784" y="23445"/>
                    <a:pt x="217231" y="28500"/>
                  </a:cubicBezTo>
                  <a:cubicBezTo>
                    <a:pt x="219039" y="34999"/>
                    <a:pt x="219762" y="40416"/>
                    <a:pt x="223740" y="47998"/>
                  </a:cubicBezTo>
                  <a:cubicBezTo>
                    <a:pt x="249051" y="32472"/>
                    <a:pt x="261707" y="26334"/>
                    <a:pt x="287742" y="8641"/>
                  </a:cubicBezTo>
                  <a:cubicBezTo>
                    <a:pt x="289550" y="7377"/>
                    <a:pt x="291719" y="7557"/>
                    <a:pt x="292940" y="8550"/>
                  </a:cubicBezTo>
                  <a:close/>
                  <a:moveTo>
                    <a:pt x="184695" y="0"/>
                  </a:moveTo>
                  <a:cubicBezTo>
                    <a:pt x="273204" y="0"/>
                    <a:pt x="273204" y="0"/>
                    <a:pt x="273204" y="0"/>
                  </a:cubicBezTo>
                  <a:cubicBezTo>
                    <a:pt x="275010" y="0"/>
                    <a:pt x="276455" y="722"/>
                    <a:pt x="277539" y="1445"/>
                  </a:cubicBezTo>
                  <a:cubicBezTo>
                    <a:pt x="271398" y="5780"/>
                    <a:pt x="265256" y="9754"/>
                    <a:pt x="258754" y="13728"/>
                  </a:cubicBezTo>
                  <a:cubicBezTo>
                    <a:pt x="212873" y="13728"/>
                    <a:pt x="212873" y="13728"/>
                    <a:pt x="212873" y="13728"/>
                  </a:cubicBezTo>
                  <a:cubicBezTo>
                    <a:pt x="212151" y="13728"/>
                    <a:pt x="211067" y="13728"/>
                    <a:pt x="210345" y="13728"/>
                  </a:cubicBezTo>
                  <a:cubicBezTo>
                    <a:pt x="191559" y="13728"/>
                    <a:pt x="191559" y="13728"/>
                    <a:pt x="191559" y="13728"/>
                  </a:cubicBezTo>
                  <a:cubicBezTo>
                    <a:pt x="191559" y="88509"/>
                    <a:pt x="191559" y="88509"/>
                    <a:pt x="191559" y="88509"/>
                  </a:cubicBezTo>
                  <a:cubicBezTo>
                    <a:pt x="215041" y="88509"/>
                    <a:pt x="215041" y="88509"/>
                    <a:pt x="215041" y="88509"/>
                  </a:cubicBezTo>
                  <a:cubicBezTo>
                    <a:pt x="217931" y="89232"/>
                    <a:pt x="220821" y="89232"/>
                    <a:pt x="223711" y="88509"/>
                  </a:cubicBezTo>
                  <a:cubicBezTo>
                    <a:pt x="266340" y="88509"/>
                    <a:pt x="266340" y="88509"/>
                    <a:pt x="266340" y="88509"/>
                  </a:cubicBezTo>
                  <a:cubicBezTo>
                    <a:pt x="266340" y="54912"/>
                    <a:pt x="266340" y="54912"/>
                    <a:pt x="266340" y="54912"/>
                  </a:cubicBezTo>
                  <a:cubicBezTo>
                    <a:pt x="271036" y="50577"/>
                    <a:pt x="275372" y="46242"/>
                    <a:pt x="280068" y="41545"/>
                  </a:cubicBezTo>
                  <a:cubicBezTo>
                    <a:pt x="280068" y="95373"/>
                    <a:pt x="280068" y="95373"/>
                    <a:pt x="280068" y="95373"/>
                  </a:cubicBezTo>
                  <a:cubicBezTo>
                    <a:pt x="280068" y="98986"/>
                    <a:pt x="277178" y="102237"/>
                    <a:pt x="273204" y="102237"/>
                  </a:cubicBezTo>
                  <a:cubicBezTo>
                    <a:pt x="184695" y="102237"/>
                    <a:pt x="184695" y="102237"/>
                    <a:pt x="184695" y="102237"/>
                  </a:cubicBezTo>
                  <a:cubicBezTo>
                    <a:pt x="181082" y="102237"/>
                    <a:pt x="177831" y="98986"/>
                    <a:pt x="177831" y="95373"/>
                  </a:cubicBezTo>
                  <a:cubicBezTo>
                    <a:pt x="177831" y="6864"/>
                    <a:pt x="177831" y="6864"/>
                    <a:pt x="177831" y="6864"/>
                  </a:cubicBezTo>
                  <a:cubicBezTo>
                    <a:pt x="177831" y="3251"/>
                    <a:pt x="181082" y="0"/>
                    <a:pt x="184695" y="0"/>
                  </a:cubicBezTo>
                  <a:close/>
                </a:path>
              </a:pathLst>
            </a:custGeom>
            <a:solidFill>
              <a:schemeClr val="accent5"/>
            </a:solidFill>
            <a:ln>
              <a:noFill/>
            </a:ln>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25" name="直角三角形 24"/>
          <p:cNvSpPr/>
          <p:nvPr userDrawn="1"/>
        </p:nvSpPr>
        <p:spPr>
          <a:xfrm rot="16200000" flipH="1">
            <a:off x="41676" y="3449262"/>
            <a:ext cx="103976" cy="92075"/>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26" name="组合 25"/>
          <p:cNvGrpSpPr/>
          <p:nvPr userDrawn="1"/>
        </p:nvGrpSpPr>
        <p:grpSpPr>
          <a:xfrm>
            <a:off x="47624" y="2996043"/>
            <a:ext cx="1731479" cy="447270"/>
            <a:chOff x="47624" y="2775910"/>
            <a:chExt cx="1731479" cy="447270"/>
          </a:xfrm>
        </p:grpSpPr>
        <p:sp>
          <p:nvSpPr>
            <p:cNvPr id="27" name="五边形 62"/>
            <p:cNvSpPr/>
            <p:nvPr/>
          </p:nvSpPr>
          <p:spPr>
            <a:xfrm>
              <a:off x="47624" y="2775910"/>
              <a:ext cx="1731479" cy="447270"/>
            </a:xfrm>
            <a:prstGeom prst="homePlate">
              <a:avLst/>
            </a:prstGeom>
            <a:solidFill>
              <a:schemeClr val="accent2"/>
            </a:solidFill>
            <a:ln>
              <a:noFill/>
            </a:ln>
            <a:effectLst>
              <a:outerShdw blurRad="635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28" name="矩形 27"/>
            <p:cNvSpPr/>
            <p:nvPr/>
          </p:nvSpPr>
          <p:spPr>
            <a:xfrm>
              <a:off x="507007" y="2820743"/>
              <a:ext cx="1107996" cy="369332"/>
            </a:xfrm>
            <a:prstGeom prst="rect">
              <a:avLst/>
            </a:prstGeom>
          </p:spPr>
          <p:txBody>
            <a:bodyPr wrap="none">
              <a:spAutoFit/>
            </a:bodyPr>
            <a:lstStyle/>
            <a:p>
              <a:pPr lvl="0">
                <a:defRPr/>
              </a:pPr>
              <a:r>
                <a:rPr lang="zh-CN" altLang="en-US" dirty="0">
                  <a:solidFill>
                    <a:schemeClr val="bg1"/>
                  </a:solidFill>
                  <a:latin typeface="+mj-ea"/>
                  <a:ea typeface="+mj-ea"/>
                </a:rPr>
                <a:t>新课探究</a:t>
              </a:r>
              <a:endParaRPr kumimoji="0" lang="zh-CN" altLang="en-US" sz="1800" b="0" i="0" u="none" strike="noStrike" kern="1200" cap="none" spc="0" normalizeH="0" baseline="0" noProof="0" dirty="0">
                <a:ln>
                  <a:noFill/>
                </a:ln>
                <a:solidFill>
                  <a:schemeClr val="bg1"/>
                </a:solidFill>
                <a:effectLst/>
                <a:uLnTx/>
                <a:uFillTx/>
                <a:latin typeface="+mj-ea"/>
                <a:ea typeface="+mj-ea"/>
              </a:endParaRPr>
            </a:p>
          </p:txBody>
        </p:sp>
      </p:grpSp>
      <p:grpSp>
        <p:nvGrpSpPr>
          <p:cNvPr id="29" name="组合 28"/>
          <p:cNvGrpSpPr/>
          <p:nvPr userDrawn="1"/>
        </p:nvGrpSpPr>
        <p:grpSpPr>
          <a:xfrm>
            <a:off x="208888" y="3108166"/>
            <a:ext cx="343221" cy="223024"/>
            <a:chOff x="7058307" y="1859447"/>
            <a:chExt cx="535637" cy="348055"/>
          </a:xfrm>
          <a:solidFill>
            <a:schemeClr val="bg1"/>
          </a:solidFill>
        </p:grpSpPr>
        <p:sp>
          <p:nvSpPr>
            <p:cNvPr id="30" name="Rectangle 240"/>
            <p:cNvSpPr>
              <a:spLocks noChangeArrowheads="1"/>
            </p:cNvSpPr>
            <p:nvPr/>
          </p:nvSpPr>
          <p:spPr bwMode="auto">
            <a:xfrm>
              <a:off x="7112521" y="1997151"/>
              <a:ext cx="127945" cy="108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1" name="Rectangle 241"/>
            <p:cNvSpPr>
              <a:spLocks noChangeArrowheads="1"/>
            </p:cNvSpPr>
            <p:nvPr/>
          </p:nvSpPr>
          <p:spPr bwMode="auto">
            <a:xfrm>
              <a:off x="7112521" y="2038354"/>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2" name="Rectangle 242"/>
            <p:cNvSpPr>
              <a:spLocks noChangeArrowheads="1"/>
            </p:cNvSpPr>
            <p:nvPr/>
          </p:nvSpPr>
          <p:spPr bwMode="auto">
            <a:xfrm>
              <a:off x="7112521" y="2079556"/>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3" name="Rectangle 243"/>
            <p:cNvSpPr>
              <a:spLocks noChangeArrowheads="1"/>
            </p:cNvSpPr>
            <p:nvPr/>
          </p:nvSpPr>
          <p:spPr bwMode="auto">
            <a:xfrm>
              <a:off x="7112521" y="2120759"/>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4" name="Freeform 244"/>
            <p:cNvSpPr/>
            <p:nvPr/>
          </p:nvSpPr>
          <p:spPr bwMode="auto">
            <a:xfrm>
              <a:off x="7428047" y="2038354"/>
              <a:ext cx="24939" cy="71563"/>
            </a:xfrm>
            <a:custGeom>
              <a:avLst/>
              <a:gdLst>
                <a:gd name="T0" fmla="*/ 4 w 10"/>
                <a:gd name="T1" fmla="*/ 28 h 28"/>
                <a:gd name="T2" fmla="*/ 10 w 10"/>
                <a:gd name="T3" fmla="*/ 25 h 28"/>
                <a:gd name="T4" fmla="*/ 10 w 10"/>
                <a:gd name="T5" fmla="*/ 3 h 28"/>
                <a:gd name="T6" fmla="*/ 1 w 10"/>
                <a:gd name="T7" fmla="*/ 0 h 28"/>
                <a:gd name="T8" fmla="*/ 0 w 10"/>
                <a:gd name="T9" fmla="*/ 0 h 28"/>
                <a:gd name="T10" fmla="*/ 0 w 10"/>
                <a:gd name="T11" fmla="*/ 28 h 28"/>
                <a:gd name="T12" fmla="*/ 1 w 10"/>
                <a:gd name="T13" fmla="*/ 28 h 28"/>
                <a:gd name="T14" fmla="*/ 4 w 10"/>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8">
                  <a:moveTo>
                    <a:pt x="4" y="28"/>
                  </a:moveTo>
                  <a:cubicBezTo>
                    <a:pt x="6" y="27"/>
                    <a:pt x="8" y="26"/>
                    <a:pt x="10" y="25"/>
                  </a:cubicBezTo>
                  <a:cubicBezTo>
                    <a:pt x="10" y="3"/>
                    <a:pt x="10" y="3"/>
                    <a:pt x="10" y="3"/>
                  </a:cubicBezTo>
                  <a:cubicBezTo>
                    <a:pt x="7" y="1"/>
                    <a:pt x="4" y="0"/>
                    <a:pt x="1" y="0"/>
                  </a:cubicBezTo>
                  <a:cubicBezTo>
                    <a:pt x="0" y="0"/>
                    <a:pt x="0" y="0"/>
                    <a:pt x="0" y="0"/>
                  </a:cubicBezTo>
                  <a:cubicBezTo>
                    <a:pt x="0" y="28"/>
                    <a:pt x="0" y="28"/>
                    <a:pt x="0" y="28"/>
                  </a:cubicBezTo>
                  <a:cubicBezTo>
                    <a:pt x="0" y="28"/>
                    <a:pt x="0" y="28"/>
                    <a:pt x="1" y="28"/>
                  </a:cubicBezTo>
                  <a:cubicBezTo>
                    <a:pt x="2" y="28"/>
                    <a:pt x="3" y="28"/>
                    <a:pt x="4"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5" name="Freeform 245"/>
            <p:cNvSpPr>
              <a:spLocks noEditPoints="1"/>
            </p:cNvSpPr>
            <p:nvPr/>
          </p:nvSpPr>
          <p:spPr bwMode="auto">
            <a:xfrm>
              <a:off x="7058307" y="1859447"/>
              <a:ext cx="394679" cy="348055"/>
            </a:xfrm>
            <a:custGeom>
              <a:avLst/>
              <a:gdLst>
                <a:gd name="T0" fmla="*/ 145 w 154"/>
                <a:gd name="T1" fmla="*/ 125 h 136"/>
                <a:gd name="T2" fmla="*/ 144 w 154"/>
                <a:gd name="T3" fmla="*/ 125 h 136"/>
                <a:gd name="T4" fmla="*/ 144 w 154"/>
                <a:gd name="T5" fmla="*/ 127 h 136"/>
                <a:gd name="T6" fmla="*/ 10 w 154"/>
                <a:gd name="T7" fmla="*/ 127 h 136"/>
                <a:gd name="T8" fmla="*/ 10 w 154"/>
                <a:gd name="T9" fmla="*/ 34 h 136"/>
                <a:gd name="T10" fmla="*/ 144 w 154"/>
                <a:gd name="T11" fmla="*/ 34 h 136"/>
                <a:gd name="T12" fmla="*/ 144 w 154"/>
                <a:gd name="T13" fmla="*/ 43 h 136"/>
                <a:gd name="T14" fmla="*/ 145 w 154"/>
                <a:gd name="T15" fmla="*/ 43 h 136"/>
                <a:gd name="T16" fmla="*/ 154 w 154"/>
                <a:gd name="T17" fmla="*/ 44 h 136"/>
                <a:gd name="T18" fmla="*/ 154 w 154"/>
                <a:gd name="T19" fmla="*/ 5 h 136"/>
                <a:gd name="T20" fmla="*/ 149 w 154"/>
                <a:gd name="T21" fmla="*/ 0 h 136"/>
                <a:gd name="T22" fmla="*/ 5 w 154"/>
                <a:gd name="T23" fmla="*/ 0 h 136"/>
                <a:gd name="T24" fmla="*/ 0 w 154"/>
                <a:gd name="T25" fmla="*/ 5 h 136"/>
                <a:gd name="T26" fmla="*/ 0 w 154"/>
                <a:gd name="T27" fmla="*/ 132 h 136"/>
                <a:gd name="T28" fmla="*/ 5 w 154"/>
                <a:gd name="T29" fmla="*/ 136 h 136"/>
                <a:gd name="T30" fmla="*/ 149 w 154"/>
                <a:gd name="T31" fmla="*/ 136 h 136"/>
                <a:gd name="T32" fmla="*/ 154 w 154"/>
                <a:gd name="T33" fmla="*/ 132 h 136"/>
                <a:gd name="T34" fmla="*/ 154 w 154"/>
                <a:gd name="T35" fmla="*/ 124 h 136"/>
                <a:gd name="T36" fmla="*/ 145 w 154"/>
                <a:gd name="T37" fmla="*/ 125 h 136"/>
                <a:gd name="T38" fmla="*/ 137 w 154"/>
                <a:gd name="T39" fmla="*/ 10 h 136"/>
                <a:gd name="T40" fmla="*/ 144 w 154"/>
                <a:gd name="T41" fmla="*/ 17 h 136"/>
                <a:gd name="T42" fmla="*/ 137 w 154"/>
                <a:gd name="T43" fmla="*/ 23 h 136"/>
                <a:gd name="T44" fmla="*/ 131 w 154"/>
                <a:gd name="T45" fmla="*/ 17 h 136"/>
                <a:gd name="T46" fmla="*/ 137 w 154"/>
                <a:gd name="T47" fmla="*/ 10 h 136"/>
                <a:gd name="T48" fmla="*/ 118 w 154"/>
                <a:gd name="T49" fmla="*/ 10 h 136"/>
                <a:gd name="T50" fmla="*/ 125 w 154"/>
                <a:gd name="T51" fmla="*/ 17 h 136"/>
                <a:gd name="T52" fmla="*/ 118 w 154"/>
                <a:gd name="T53" fmla="*/ 23 h 136"/>
                <a:gd name="T54" fmla="*/ 112 w 154"/>
                <a:gd name="T55" fmla="*/ 17 h 136"/>
                <a:gd name="T56" fmla="*/ 118 w 154"/>
                <a:gd name="T57" fmla="*/ 10 h 136"/>
                <a:gd name="T58" fmla="*/ 99 w 154"/>
                <a:gd name="T59" fmla="*/ 10 h 136"/>
                <a:gd name="T60" fmla="*/ 106 w 154"/>
                <a:gd name="T61" fmla="*/ 17 h 136"/>
                <a:gd name="T62" fmla="*/ 99 w 154"/>
                <a:gd name="T63" fmla="*/ 23 h 136"/>
                <a:gd name="T64" fmla="*/ 93 w 154"/>
                <a:gd name="T65" fmla="*/ 17 h 136"/>
                <a:gd name="T66" fmla="*/ 99 w 154"/>
                <a:gd name="T67" fmla="*/ 1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4" h="136">
                  <a:moveTo>
                    <a:pt x="145" y="125"/>
                  </a:moveTo>
                  <a:cubicBezTo>
                    <a:pt x="144" y="125"/>
                    <a:pt x="144" y="125"/>
                    <a:pt x="144" y="125"/>
                  </a:cubicBezTo>
                  <a:cubicBezTo>
                    <a:pt x="144" y="127"/>
                    <a:pt x="144" y="127"/>
                    <a:pt x="144" y="127"/>
                  </a:cubicBezTo>
                  <a:cubicBezTo>
                    <a:pt x="10" y="127"/>
                    <a:pt x="10" y="127"/>
                    <a:pt x="10" y="127"/>
                  </a:cubicBezTo>
                  <a:cubicBezTo>
                    <a:pt x="10" y="34"/>
                    <a:pt x="10" y="34"/>
                    <a:pt x="10" y="34"/>
                  </a:cubicBezTo>
                  <a:cubicBezTo>
                    <a:pt x="144" y="34"/>
                    <a:pt x="144" y="34"/>
                    <a:pt x="144" y="34"/>
                  </a:cubicBezTo>
                  <a:cubicBezTo>
                    <a:pt x="144" y="43"/>
                    <a:pt x="144" y="43"/>
                    <a:pt x="144" y="43"/>
                  </a:cubicBezTo>
                  <a:cubicBezTo>
                    <a:pt x="144" y="43"/>
                    <a:pt x="144" y="43"/>
                    <a:pt x="145" y="43"/>
                  </a:cubicBezTo>
                  <a:cubicBezTo>
                    <a:pt x="148" y="43"/>
                    <a:pt x="151" y="43"/>
                    <a:pt x="154" y="44"/>
                  </a:cubicBezTo>
                  <a:cubicBezTo>
                    <a:pt x="154" y="5"/>
                    <a:pt x="154" y="5"/>
                    <a:pt x="154" y="5"/>
                  </a:cubicBezTo>
                  <a:cubicBezTo>
                    <a:pt x="154" y="2"/>
                    <a:pt x="152" y="0"/>
                    <a:pt x="149" y="0"/>
                  </a:cubicBezTo>
                  <a:cubicBezTo>
                    <a:pt x="5" y="0"/>
                    <a:pt x="5" y="0"/>
                    <a:pt x="5" y="0"/>
                  </a:cubicBezTo>
                  <a:cubicBezTo>
                    <a:pt x="2" y="0"/>
                    <a:pt x="0" y="2"/>
                    <a:pt x="0" y="5"/>
                  </a:cubicBezTo>
                  <a:cubicBezTo>
                    <a:pt x="0" y="132"/>
                    <a:pt x="0" y="132"/>
                    <a:pt x="0" y="132"/>
                  </a:cubicBezTo>
                  <a:cubicBezTo>
                    <a:pt x="0" y="134"/>
                    <a:pt x="2" y="136"/>
                    <a:pt x="5" y="136"/>
                  </a:cubicBezTo>
                  <a:cubicBezTo>
                    <a:pt x="149" y="136"/>
                    <a:pt x="149" y="136"/>
                    <a:pt x="149" y="136"/>
                  </a:cubicBezTo>
                  <a:cubicBezTo>
                    <a:pt x="152" y="136"/>
                    <a:pt x="154" y="134"/>
                    <a:pt x="154" y="132"/>
                  </a:cubicBezTo>
                  <a:cubicBezTo>
                    <a:pt x="154" y="124"/>
                    <a:pt x="154" y="124"/>
                    <a:pt x="154" y="124"/>
                  </a:cubicBezTo>
                  <a:cubicBezTo>
                    <a:pt x="151" y="124"/>
                    <a:pt x="148" y="125"/>
                    <a:pt x="145" y="125"/>
                  </a:cubicBezTo>
                  <a:close/>
                  <a:moveTo>
                    <a:pt x="137" y="10"/>
                  </a:moveTo>
                  <a:cubicBezTo>
                    <a:pt x="141" y="10"/>
                    <a:pt x="144" y="13"/>
                    <a:pt x="144" y="17"/>
                  </a:cubicBezTo>
                  <a:cubicBezTo>
                    <a:pt x="144" y="20"/>
                    <a:pt x="141" y="23"/>
                    <a:pt x="137" y="23"/>
                  </a:cubicBezTo>
                  <a:cubicBezTo>
                    <a:pt x="134" y="23"/>
                    <a:pt x="131" y="20"/>
                    <a:pt x="131" y="17"/>
                  </a:cubicBezTo>
                  <a:cubicBezTo>
                    <a:pt x="131" y="13"/>
                    <a:pt x="134" y="10"/>
                    <a:pt x="137" y="10"/>
                  </a:cubicBezTo>
                  <a:close/>
                  <a:moveTo>
                    <a:pt x="118" y="10"/>
                  </a:moveTo>
                  <a:cubicBezTo>
                    <a:pt x="122" y="10"/>
                    <a:pt x="125" y="13"/>
                    <a:pt x="125" y="17"/>
                  </a:cubicBezTo>
                  <a:cubicBezTo>
                    <a:pt x="125" y="20"/>
                    <a:pt x="122" y="23"/>
                    <a:pt x="118" y="23"/>
                  </a:cubicBezTo>
                  <a:cubicBezTo>
                    <a:pt x="115" y="23"/>
                    <a:pt x="112" y="20"/>
                    <a:pt x="112" y="17"/>
                  </a:cubicBezTo>
                  <a:cubicBezTo>
                    <a:pt x="112" y="13"/>
                    <a:pt x="115" y="10"/>
                    <a:pt x="118" y="10"/>
                  </a:cubicBezTo>
                  <a:close/>
                  <a:moveTo>
                    <a:pt x="99" y="10"/>
                  </a:moveTo>
                  <a:cubicBezTo>
                    <a:pt x="103" y="10"/>
                    <a:pt x="106" y="13"/>
                    <a:pt x="106" y="17"/>
                  </a:cubicBezTo>
                  <a:cubicBezTo>
                    <a:pt x="106" y="20"/>
                    <a:pt x="103" y="23"/>
                    <a:pt x="99" y="23"/>
                  </a:cubicBezTo>
                  <a:cubicBezTo>
                    <a:pt x="96" y="23"/>
                    <a:pt x="93" y="20"/>
                    <a:pt x="93" y="17"/>
                  </a:cubicBezTo>
                  <a:cubicBezTo>
                    <a:pt x="93" y="13"/>
                    <a:pt x="96" y="10"/>
                    <a:pt x="9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6" name="Freeform 246"/>
            <p:cNvSpPr>
              <a:spLocks noEditPoints="1"/>
            </p:cNvSpPr>
            <p:nvPr/>
          </p:nvSpPr>
          <p:spPr bwMode="auto">
            <a:xfrm>
              <a:off x="7335884" y="1979802"/>
              <a:ext cx="258060" cy="210351"/>
            </a:xfrm>
            <a:custGeom>
              <a:avLst/>
              <a:gdLst>
                <a:gd name="T0" fmla="*/ 96 w 101"/>
                <a:gd name="T1" fmla="*/ 68 h 82"/>
                <a:gd name="T2" fmla="*/ 77 w 101"/>
                <a:gd name="T3" fmla="*/ 55 h 82"/>
                <a:gd name="T4" fmla="*/ 71 w 101"/>
                <a:gd name="T5" fmla="*/ 54 h 82"/>
                <a:gd name="T6" fmla="*/ 69 w 101"/>
                <a:gd name="T7" fmla="*/ 55 h 82"/>
                <a:gd name="T8" fmla="*/ 66 w 101"/>
                <a:gd name="T9" fmla="*/ 53 h 82"/>
                <a:gd name="T10" fmla="*/ 69 w 101"/>
                <a:gd name="T11" fmla="*/ 29 h 82"/>
                <a:gd name="T12" fmla="*/ 29 w 101"/>
                <a:gd name="T13" fmla="*/ 4 h 82"/>
                <a:gd name="T14" fmla="*/ 4 w 101"/>
                <a:gd name="T15" fmla="*/ 45 h 82"/>
                <a:gd name="T16" fmla="*/ 45 w 101"/>
                <a:gd name="T17" fmla="*/ 70 h 82"/>
                <a:gd name="T18" fmla="*/ 62 w 101"/>
                <a:gd name="T19" fmla="*/ 59 h 82"/>
                <a:gd name="T20" fmla="*/ 66 w 101"/>
                <a:gd name="T21" fmla="*/ 61 h 82"/>
                <a:gd name="T22" fmla="*/ 69 w 101"/>
                <a:gd name="T23" fmla="*/ 68 h 82"/>
                <a:gd name="T24" fmla="*/ 88 w 101"/>
                <a:gd name="T25" fmla="*/ 80 h 82"/>
                <a:gd name="T26" fmla="*/ 94 w 101"/>
                <a:gd name="T27" fmla="*/ 81 h 82"/>
                <a:gd name="T28" fmla="*/ 99 w 101"/>
                <a:gd name="T29" fmla="*/ 78 h 82"/>
                <a:gd name="T30" fmla="*/ 96 w 101"/>
                <a:gd name="T31" fmla="*/ 68 h 82"/>
                <a:gd name="T32" fmla="*/ 42 w 101"/>
                <a:gd name="T33" fmla="*/ 58 h 82"/>
                <a:gd name="T34" fmla="*/ 16 w 101"/>
                <a:gd name="T35" fmla="*/ 42 h 82"/>
                <a:gd name="T36" fmla="*/ 32 w 101"/>
                <a:gd name="T37" fmla="*/ 16 h 82"/>
                <a:gd name="T38" fmla="*/ 58 w 101"/>
                <a:gd name="T39" fmla="*/ 32 h 82"/>
                <a:gd name="T40" fmla="*/ 42 w 101"/>
                <a:gd name="T41" fmla="*/ 5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82">
                  <a:moveTo>
                    <a:pt x="96" y="68"/>
                  </a:moveTo>
                  <a:cubicBezTo>
                    <a:pt x="77" y="55"/>
                    <a:pt x="77" y="55"/>
                    <a:pt x="77" y="55"/>
                  </a:cubicBezTo>
                  <a:cubicBezTo>
                    <a:pt x="75" y="54"/>
                    <a:pt x="73" y="54"/>
                    <a:pt x="71" y="54"/>
                  </a:cubicBezTo>
                  <a:cubicBezTo>
                    <a:pt x="71" y="54"/>
                    <a:pt x="70" y="55"/>
                    <a:pt x="69" y="55"/>
                  </a:cubicBezTo>
                  <a:cubicBezTo>
                    <a:pt x="66" y="53"/>
                    <a:pt x="66" y="53"/>
                    <a:pt x="66" y="53"/>
                  </a:cubicBezTo>
                  <a:cubicBezTo>
                    <a:pt x="70" y="46"/>
                    <a:pt x="71" y="37"/>
                    <a:pt x="69" y="29"/>
                  </a:cubicBezTo>
                  <a:cubicBezTo>
                    <a:pt x="65" y="11"/>
                    <a:pt x="47" y="0"/>
                    <a:pt x="29" y="4"/>
                  </a:cubicBezTo>
                  <a:cubicBezTo>
                    <a:pt x="11" y="9"/>
                    <a:pt x="0" y="27"/>
                    <a:pt x="4" y="45"/>
                  </a:cubicBezTo>
                  <a:cubicBezTo>
                    <a:pt x="8" y="63"/>
                    <a:pt x="27" y="74"/>
                    <a:pt x="45" y="70"/>
                  </a:cubicBezTo>
                  <a:cubicBezTo>
                    <a:pt x="52" y="68"/>
                    <a:pt x="58" y="64"/>
                    <a:pt x="62" y="59"/>
                  </a:cubicBezTo>
                  <a:cubicBezTo>
                    <a:pt x="66" y="61"/>
                    <a:pt x="66" y="61"/>
                    <a:pt x="66" y="61"/>
                  </a:cubicBezTo>
                  <a:cubicBezTo>
                    <a:pt x="65" y="63"/>
                    <a:pt x="67" y="66"/>
                    <a:pt x="69" y="68"/>
                  </a:cubicBezTo>
                  <a:cubicBezTo>
                    <a:pt x="88" y="80"/>
                    <a:pt x="88" y="80"/>
                    <a:pt x="88" y="80"/>
                  </a:cubicBezTo>
                  <a:cubicBezTo>
                    <a:pt x="90" y="81"/>
                    <a:pt x="92" y="82"/>
                    <a:pt x="94" y="81"/>
                  </a:cubicBezTo>
                  <a:cubicBezTo>
                    <a:pt x="96" y="81"/>
                    <a:pt x="98" y="80"/>
                    <a:pt x="99" y="78"/>
                  </a:cubicBezTo>
                  <a:cubicBezTo>
                    <a:pt x="101" y="75"/>
                    <a:pt x="100" y="70"/>
                    <a:pt x="96" y="68"/>
                  </a:cubicBezTo>
                  <a:close/>
                  <a:moveTo>
                    <a:pt x="42" y="58"/>
                  </a:moveTo>
                  <a:cubicBezTo>
                    <a:pt x="30" y="61"/>
                    <a:pt x="19" y="54"/>
                    <a:pt x="16" y="42"/>
                  </a:cubicBezTo>
                  <a:cubicBezTo>
                    <a:pt x="13" y="30"/>
                    <a:pt x="20" y="19"/>
                    <a:pt x="32" y="16"/>
                  </a:cubicBezTo>
                  <a:cubicBezTo>
                    <a:pt x="43" y="13"/>
                    <a:pt x="55" y="20"/>
                    <a:pt x="58" y="32"/>
                  </a:cubicBezTo>
                  <a:cubicBezTo>
                    <a:pt x="60" y="43"/>
                    <a:pt x="53" y="55"/>
                    <a:pt x="42"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37" name="组合 36"/>
          <p:cNvGrpSpPr/>
          <p:nvPr userDrawn="1"/>
        </p:nvGrpSpPr>
        <p:grpSpPr>
          <a:xfrm>
            <a:off x="47624" y="3830259"/>
            <a:ext cx="1731479" cy="551244"/>
            <a:chOff x="47624" y="3830259"/>
            <a:chExt cx="1731479" cy="551244"/>
          </a:xfrm>
        </p:grpSpPr>
        <p:sp>
          <p:nvSpPr>
            <p:cNvPr id="38" name="直角三角形 37"/>
            <p:cNvSpPr/>
            <p:nvPr/>
          </p:nvSpPr>
          <p:spPr>
            <a:xfrm rot="16200000" flipH="1">
              <a:off x="41676" y="4283478"/>
              <a:ext cx="103975" cy="92075"/>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39" name="组合 38"/>
            <p:cNvGrpSpPr/>
            <p:nvPr/>
          </p:nvGrpSpPr>
          <p:grpSpPr>
            <a:xfrm>
              <a:off x="47624" y="3830259"/>
              <a:ext cx="1731479" cy="447270"/>
              <a:chOff x="47624" y="3415393"/>
              <a:chExt cx="1731479" cy="447270"/>
            </a:xfrm>
          </p:grpSpPr>
          <p:sp>
            <p:nvSpPr>
              <p:cNvPr id="58" name="五边形 63"/>
              <p:cNvSpPr/>
              <p:nvPr/>
            </p:nvSpPr>
            <p:spPr>
              <a:xfrm>
                <a:off x="47624" y="3415393"/>
                <a:ext cx="1731479" cy="447270"/>
              </a:xfrm>
              <a:prstGeom prst="homePlate">
                <a:avLst/>
              </a:prstGeom>
              <a:solidFill>
                <a:srgbClr val="E3E7EC"/>
              </a:solidFill>
              <a:ln>
                <a:noFill/>
              </a:ln>
              <a:effectLst>
                <a:outerShdw blurRad="635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59" name="矩形 58"/>
              <p:cNvSpPr/>
              <p:nvPr/>
            </p:nvSpPr>
            <p:spPr>
              <a:xfrm>
                <a:off x="507007" y="3462807"/>
                <a:ext cx="1107996" cy="369332"/>
              </a:xfrm>
              <a:prstGeom prst="rect">
                <a:avLst/>
              </a:prstGeom>
            </p:spPr>
            <p:txBody>
              <a:bodyPr wrap="none">
                <a:spAutoFit/>
              </a:bodyPr>
              <a:lstStyle/>
              <a:p>
                <a:pPr lvl="0">
                  <a:defRPr/>
                </a:pPr>
                <a:r>
                  <a:rPr lang="zh-CN" altLang="en-US" dirty="0">
                    <a:solidFill>
                      <a:srgbClr val="44546A"/>
                    </a:solidFill>
                  </a:rPr>
                  <a:t>课后拓展</a:t>
                </a:r>
                <a:endParaRPr kumimoji="0" lang="zh-CN" altLang="en-US" sz="1800" b="0" i="0" u="none" strike="noStrike" kern="1200" cap="none" spc="0" normalizeH="0" baseline="0" noProof="0" dirty="0">
                  <a:ln>
                    <a:noFill/>
                  </a:ln>
                  <a:solidFill>
                    <a:srgbClr val="44546A"/>
                  </a:solidFill>
                  <a:effectLst/>
                  <a:uLnTx/>
                  <a:uFillTx/>
                  <a:latin typeface="小米兰亭" panose="02010600030101010101"/>
                  <a:ea typeface="小米兰亭" panose="02010600030101010101"/>
                  <a:cs typeface="+mn-cs"/>
                </a:endParaRPr>
              </a:p>
            </p:txBody>
          </p:sp>
        </p:grpSp>
        <p:grpSp>
          <p:nvGrpSpPr>
            <p:cNvPr id="40" name="组合 39"/>
            <p:cNvGrpSpPr/>
            <p:nvPr/>
          </p:nvGrpSpPr>
          <p:grpSpPr>
            <a:xfrm>
              <a:off x="230536" y="3914717"/>
              <a:ext cx="257258" cy="295243"/>
              <a:chOff x="2733098" y="4187405"/>
              <a:chExt cx="484675" cy="556238"/>
            </a:xfrm>
            <a:solidFill>
              <a:schemeClr val="accent5"/>
            </a:solidFill>
          </p:grpSpPr>
          <p:sp>
            <p:nvSpPr>
              <p:cNvPr id="4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grpSp>
      </p:grpSp>
    </p:spTree>
  </p:cSld>
  <p:clrMapOvr>
    <a:masterClrMapping/>
  </p:clrMapOvr>
  <p:transition spd="slow" advTm="0">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6" Type="http://schemas.openxmlformats.org/officeDocument/2006/relationships/theme" Target="../theme/theme2.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95316B-B8B5-4650-AC04-9D895B83FAD8}" type="slidenum">
              <a:rPr lang="id-ID" smtClean="0"/>
            </a:fld>
            <a:endParaRPr lang="id-I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hf hdr="0" ftr="0" dt="0"/>
  <p:txStyles>
    <p:titleStyle>
      <a:lvl1pPr algn="l" defTabSz="914400" rtl="0" eaLnBrk="1" latinLnBrk="0" hangingPunct="1">
        <a:lnSpc>
          <a:spcPct val="90000"/>
        </a:lnSpc>
        <a:spcBef>
          <a:spcPct val="0"/>
        </a:spcBef>
        <a:buNone/>
        <a:defRPr sz="4400" kern="1200">
          <a:solidFill>
            <a:schemeClr val="tx1"/>
          </a:solidFill>
          <a:latin typeface="Lato" panose="020F0502020204030203" pitchFamily="34" charset="0"/>
          <a:ea typeface="Lato" panose="020F0502020204030203" pitchFamily="34" charset="0"/>
          <a:cs typeface="Lato" panose="020F050202020403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8D02B6-9DB5-4C7B-85B2-B5F020DABB8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B1662D-AFA8-443C-A4B0-112430D1F93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transition spd="slow" advTm="0">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8.xml"/><Relationship Id="rId2" Type="http://schemas.openxmlformats.org/officeDocument/2006/relationships/tags" Target="../tags/tag21.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tags" Target="../tags/tag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8.xml"/><Relationship Id="rId3" Type="http://schemas.openxmlformats.org/officeDocument/2006/relationships/tags" Target="../tags/tag24.xml"/><Relationship Id="rId2" Type="http://schemas.openxmlformats.org/officeDocument/2006/relationships/image" Target="../media/image4.png"/><Relationship Id="rId1" Type="http://schemas.openxmlformats.org/officeDocument/2006/relationships/tags" Target="../tags/tag2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tags" Target="../tags/tag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83"/>
          <p:cNvSpPr txBox="1"/>
          <p:nvPr/>
        </p:nvSpPr>
        <p:spPr>
          <a:xfrm>
            <a:off x="5065851" y="2369462"/>
            <a:ext cx="4800600" cy="1198880"/>
          </a:xfrm>
          <a:prstGeom prst="rect">
            <a:avLst/>
          </a:prstGeom>
          <a:noFill/>
        </p:spPr>
        <p:txBody>
          <a:bodyPr wrap="none" rtlCol="0">
            <a:spAutoFit/>
          </a:bodyPr>
          <a:lstStyle/>
          <a:p>
            <a:pPr lvl="0" algn="l">
              <a:defRPr/>
            </a:pPr>
            <a:r>
              <a:rPr lang="zh-CN" altLang="en-US" sz="7200" b="1" dirty="0">
                <a:gradFill>
                  <a:gsLst>
                    <a:gs pos="0">
                      <a:prstClr val="white"/>
                    </a:gs>
                    <a:gs pos="100000">
                      <a:srgbClr val="CCFFFF"/>
                    </a:gs>
                  </a:gsLst>
                  <a:lin ang="5400000" scaled="1"/>
                </a:gradFill>
                <a:cs typeface="+mn-ea"/>
                <a:sym typeface="+mn-lt"/>
              </a:rPr>
              <a:t>综合设计IV</a:t>
            </a:r>
            <a:endParaRPr lang="zh-CN" altLang="en-US" sz="7200" b="1" dirty="0">
              <a:gradFill>
                <a:gsLst>
                  <a:gs pos="0">
                    <a:prstClr val="white"/>
                  </a:gs>
                  <a:gs pos="100000">
                    <a:srgbClr val="CCFFFF"/>
                  </a:gs>
                </a:gsLst>
                <a:lin ang="5400000" scaled="1"/>
              </a:gradFill>
              <a:cs typeface="+mn-ea"/>
              <a:sym typeface="+mn-lt"/>
            </a:endParaRPr>
          </a:p>
        </p:txBody>
      </p:sp>
      <p:sp>
        <p:nvSpPr>
          <p:cNvPr id="3" name="文本框 281"/>
          <p:cNvSpPr txBox="1"/>
          <p:nvPr/>
        </p:nvSpPr>
        <p:spPr>
          <a:xfrm>
            <a:off x="5167450" y="3968790"/>
            <a:ext cx="4361180" cy="398780"/>
          </a:xfrm>
          <a:prstGeom prst="rect">
            <a:avLst/>
          </a:prstGeom>
          <a:noFill/>
        </p:spPr>
        <p:txBody>
          <a:bodyPr wrap="none" rtlCol="0">
            <a:spAutoFit/>
          </a:bodyPr>
          <a:lstStyle>
            <a:defPPr>
              <a:defRPr lang="zh-CN"/>
            </a:defPPr>
            <a:lvl1pPr>
              <a:defRPr sz="6000">
                <a:gradFill>
                  <a:gsLst>
                    <a:gs pos="0">
                      <a:schemeClr val="bg1"/>
                    </a:gs>
                    <a:gs pos="100000">
                      <a:srgbClr val="CCFFFF"/>
                    </a:gs>
                  </a:gsLst>
                  <a:lin ang="5400000" scaled="1"/>
                </a:gradFill>
                <a:latin typeface="微软雅黑" panose="020B0503020204020204" pitchFamily="34" charset="-122"/>
                <a:ea typeface="微软雅黑" panose="020B0503020204020204" pitchFamily="34" charset="-122"/>
              </a:defRPr>
            </a:lvl1pPr>
          </a:lstStyle>
          <a:p>
            <a:pPr lvl="0">
              <a:defRPr/>
            </a:pPr>
            <a:r>
              <a:rPr lang="zh-CN" altLang="en-US" sz="2000" dirty="0">
                <a:gradFill>
                  <a:gsLst>
                    <a:gs pos="0">
                      <a:prstClr val="white"/>
                    </a:gs>
                    <a:gs pos="100000">
                      <a:srgbClr val="CCFFFF"/>
                    </a:gs>
                  </a:gsLst>
                  <a:lin ang="5400000" scaled="1"/>
                </a:gradFill>
                <a:latin typeface="+mn-lt"/>
                <a:ea typeface="+mn-ea"/>
                <a:cs typeface="+mn-ea"/>
                <a:sym typeface="+mn-lt"/>
              </a:rPr>
              <a:t>授课老师  </a:t>
            </a:r>
            <a:r>
              <a:rPr lang="en-US" altLang="zh-CN" sz="2000" dirty="0">
                <a:gradFill>
                  <a:gsLst>
                    <a:gs pos="0">
                      <a:prstClr val="white"/>
                    </a:gs>
                    <a:gs pos="100000">
                      <a:srgbClr val="CCFFFF"/>
                    </a:gs>
                  </a:gsLst>
                  <a:lin ang="5400000" scaled="1"/>
                </a:gradFill>
                <a:latin typeface="+mn-lt"/>
                <a:ea typeface="+mn-ea"/>
                <a:cs typeface="+mn-ea"/>
                <a:sym typeface="+mn-lt"/>
              </a:rPr>
              <a:t>|  </a:t>
            </a:r>
            <a:r>
              <a:rPr lang="zh-CN" altLang="en-US" sz="2000" dirty="0">
                <a:gradFill>
                  <a:gsLst>
                    <a:gs pos="0">
                      <a:prstClr val="white"/>
                    </a:gs>
                    <a:gs pos="100000">
                      <a:srgbClr val="CCFFFF"/>
                    </a:gs>
                  </a:gsLst>
                  <a:lin ang="5400000" scaled="1"/>
                </a:gradFill>
                <a:latin typeface="+mn-lt"/>
                <a:ea typeface="+mn-ea"/>
                <a:cs typeface="+mn-ea"/>
                <a:sym typeface="+mn-lt"/>
              </a:rPr>
              <a:t>王美林、</a:t>
            </a:r>
            <a:r>
              <a:rPr lang="zh-CN" sz="2000" dirty="0" smtClean="0">
                <a:gradFill>
                  <a:gsLst>
                    <a:gs pos="0">
                      <a:prstClr val="white"/>
                    </a:gs>
                    <a:gs pos="100000">
                      <a:srgbClr val="CCFFFF"/>
                    </a:gs>
                  </a:gsLst>
                  <a:lin ang="5400000" scaled="1"/>
                </a:gradFill>
                <a:latin typeface="+mn-lt"/>
                <a:ea typeface="+mn-ea"/>
                <a:cs typeface="+mn-ea"/>
                <a:sym typeface="+mn-lt"/>
              </a:rPr>
              <a:t>彭思愿、</a:t>
            </a:r>
            <a:r>
              <a:rPr lang="zh-CN" sz="2000" dirty="0" smtClean="0">
                <a:gradFill>
                  <a:gsLst>
                    <a:gs pos="0">
                      <a:prstClr val="white"/>
                    </a:gs>
                    <a:gs pos="100000">
                      <a:srgbClr val="CCFFFF"/>
                    </a:gs>
                  </a:gsLst>
                  <a:lin ang="5400000" scaled="1"/>
                </a:gradFill>
                <a:latin typeface="+mn-lt"/>
                <a:ea typeface="+mn-ea"/>
                <a:cs typeface="+mn-ea"/>
                <a:sym typeface="+mn-lt"/>
              </a:rPr>
              <a:t>施煜锴</a:t>
            </a:r>
            <a:endParaRPr lang="zh-CN" sz="2000" dirty="0" smtClean="0">
              <a:gradFill>
                <a:gsLst>
                  <a:gs pos="0">
                    <a:prstClr val="white"/>
                  </a:gs>
                  <a:gs pos="100000">
                    <a:srgbClr val="CCFFFF"/>
                  </a:gs>
                </a:gsLst>
                <a:lin ang="5400000" scaled="1"/>
              </a:gradFill>
              <a:latin typeface="+mn-lt"/>
              <a:ea typeface="+mn-ea"/>
              <a:cs typeface="+mn-ea"/>
              <a:sym typeface="+mn-lt"/>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1040" fill="hold"/>
                                        <p:tgtEl>
                                          <p:spTgt spid="2"/>
                                        </p:tgtEl>
                                        <p:attrNameLst>
                                          <p:attrName>ppt_w</p:attrName>
                                        </p:attrNameLst>
                                      </p:cBhvr>
                                      <p:tavLst>
                                        <p:tav tm="0">
                                          <p:val>
                                            <p:fltVal val="0"/>
                                          </p:val>
                                        </p:tav>
                                        <p:tav tm="100000">
                                          <p:val>
                                            <p:strVal val="#ppt_w"/>
                                          </p:val>
                                        </p:tav>
                                      </p:tavLst>
                                    </p:anim>
                                    <p:anim calcmode="lin" valueType="num">
                                      <p:cBhvr>
                                        <p:cTn id="8" dur="1040" fill="hold"/>
                                        <p:tgtEl>
                                          <p:spTgt spid="2"/>
                                        </p:tgtEl>
                                        <p:attrNameLst>
                                          <p:attrName>ppt_h</p:attrName>
                                        </p:attrNameLst>
                                      </p:cBhvr>
                                      <p:tavLst>
                                        <p:tav tm="0">
                                          <p:val>
                                            <p:fltVal val="0"/>
                                          </p:val>
                                        </p:tav>
                                        <p:tav tm="100000">
                                          <p:val>
                                            <p:strVal val="#ppt_h"/>
                                          </p:val>
                                        </p:tav>
                                      </p:tavLst>
                                    </p:anim>
                                    <p:animEffect transition="in" filter="fade">
                                      <p:cBhvr>
                                        <p:cTn id="9" dur="1040"/>
                                        <p:tgtEl>
                                          <p:spTgt spid="2"/>
                                        </p:tgtEl>
                                      </p:cBhvr>
                                    </p:animEffect>
                                  </p:childTnLst>
                                </p:cTn>
                              </p:par>
                              <p:par>
                                <p:cTn id="10" presetID="63" presetClass="path" presetSubtype="0" decel="50000" fill="hold" grpId="1" nodeType="withEffect">
                                  <p:stCondLst>
                                    <p:cond delay="0"/>
                                  </p:stCondLst>
                                  <p:iterate type="lt">
                                    <p:tmPct val="13000"/>
                                  </p:iterate>
                                  <p:childTnLst>
                                    <p:animMotion origin="layout" path="M -3.54167E-6 2.22222E-6 L 0.17657 2.22222E-6 " pathEditMode="relative" rAng="0" ptsTypes="AA">
                                      <p:cBhvr>
                                        <p:cTn id="11" dur="960" spd="-100000" fill="hold"/>
                                        <p:tgtEl>
                                          <p:spTgt spid="2"/>
                                        </p:tgtEl>
                                        <p:attrNameLst>
                                          <p:attrName>ppt_x</p:attrName>
                                          <p:attrName>ppt_y</p:attrName>
                                        </p:attrNameLst>
                                      </p:cBhvr>
                                      <p:rCtr x="8828" y="0"/>
                                    </p:animMotion>
                                  </p:childTnLst>
                                </p:cTn>
                              </p:par>
                              <p:par>
                                <p:cTn id="12" presetID="53" presetClass="entr" presetSubtype="16" fill="hold" grpId="0" nodeType="withEffect">
                                  <p:stCondLst>
                                    <p:cond delay="0"/>
                                  </p:stCondLst>
                                  <p:iterate type="lt">
                                    <p:tmPct val="10000"/>
                                  </p:iterate>
                                  <p:childTnLst>
                                    <p:set>
                                      <p:cBhvr>
                                        <p:cTn id="13" dur="1" fill="hold">
                                          <p:stCondLst>
                                            <p:cond delay="0"/>
                                          </p:stCondLst>
                                        </p:cTn>
                                        <p:tgtEl>
                                          <p:spTgt spid="3"/>
                                        </p:tgtEl>
                                        <p:attrNameLst>
                                          <p:attrName>style.visibility</p:attrName>
                                        </p:attrNameLst>
                                      </p:cBhvr>
                                      <p:to>
                                        <p:strVal val="visible"/>
                                      </p:to>
                                    </p:set>
                                    <p:anim calcmode="lin" valueType="num">
                                      <p:cBhvr>
                                        <p:cTn id="14" dur="1040" fill="hold"/>
                                        <p:tgtEl>
                                          <p:spTgt spid="3"/>
                                        </p:tgtEl>
                                        <p:attrNameLst>
                                          <p:attrName>ppt_w</p:attrName>
                                        </p:attrNameLst>
                                      </p:cBhvr>
                                      <p:tavLst>
                                        <p:tav tm="0">
                                          <p:val>
                                            <p:fltVal val="0"/>
                                          </p:val>
                                        </p:tav>
                                        <p:tav tm="100000">
                                          <p:val>
                                            <p:strVal val="#ppt_w"/>
                                          </p:val>
                                        </p:tav>
                                      </p:tavLst>
                                    </p:anim>
                                    <p:anim calcmode="lin" valueType="num">
                                      <p:cBhvr>
                                        <p:cTn id="15" dur="1040" fill="hold"/>
                                        <p:tgtEl>
                                          <p:spTgt spid="3"/>
                                        </p:tgtEl>
                                        <p:attrNameLst>
                                          <p:attrName>ppt_h</p:attrName>
                                        </p:attrNameLst>
                                      </p:cBhvr>
                                      <p:tavLst>
                                        <p:tav tm="0">
                                          <p:val>
                                            <p:fltVal val="0"/>
                                          </p:val>
                                        </p:tav>
                                        <p:tav tm="100000">
                                          <p:val>
                                            <p:strVal val="#ppt_h"/>
                                          </p:val>
                                        </p:tav>
                                      </p:tavLst>
                                    </p:anim>
                                    <p:animEffect transition="in" filter="fade">
                                      <p:cBhvr>
                                        <p:cTn id="16" dur="1040"/>
                                        <p:tgtEl>
                                          <p:spTgt spid="3"/>
                                        </p:tgtEl>
                                      </p:cBhvr>
                                    </p:animEffect>
                                  </p:childTnLst>
                                </p:cTn>
                              </p:par>
                              <p:par>
                                <p:cTn id="17" presetID="63" presetClass="path" presetSubtype="0" decel="50000" fill="hold" grpId="1" nodeType="withEffect">
                                  <p:stCondLst>
                                    <p:cond delay="0"/>
                                  </p:stCondLst>
                                  <p:iterate type="lt">
                                    <p:tmPct val="13000"/>
                                  </p:iterate>
                                  <p:childTnLst>
                                    <p:animMotion origin="layout" path="M 3.54167E-6 -4.81481E-6 L 0.17656 -4.81481E-6 " pathEditMode="relative" rAng="0" ptsTypes="AA">
                                      <p:cBhvr>
                                        <p:cTn id="18" dur="960" spd="-100000" fill="hold"/>
                                        <p:tgtEl>
                                          <p:spTgt spid="3"/>
                                        </p:tgtEl>
                                        <p:attrNameLst>
                                          <p:attrName>ppt_x</p:attrName>
                                          <p:attrName>ppt_y</p:attrName>
                                        </p:attrNameLst>
                                      </p:cBhvr>
                                      <p:rCtr x="882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设计</a:t>
            </a:r>
            <a:r>
              <a:rPr kumimoji="1" lang="zh-CN" sz="2800" b="1" i="0" u="none" strike="noStrike" kern="1200" cap="none" spc="0" normalizeH="0" baseline="0" noProof="0" dirty="0">
                <a:ln>
                  <a:noFill/>
                </a:ln>
                <a:solidFill>
                  <a:srgbClr val="005171"/>
                </a:solidFill>
                <a:effectLst/>
                <a:uLnTx/>
                <a:uFillTx/>
                <a:cs typeface="+mn-ea"/>
                <a:sym typeface="+mn-lt"/>
              </a:rPr>
              <a:t>目标</a:t>
            </a:r>
            <a:endParaRPr kumimoji="1" lang="zh-CN" sz="2800" b="1" i="0" u="none" strike="noStrike" kern="1200" cap="none" spc="0" normalizeH="0" baseline="0" noProof="0" dirty="0">
              <a:ln>
                <a:noFill/>
              </a:ln>
              <a:solidFill>
                <a:srgbClr val="005171"/>
              </a:solidFill>
              <a:effectLst/>
              <a:uLnTx/>
              <a:uFillTx/>
              <a:cs typeface="+mn-ea"/>
              <a:sym typeface="+mn-lt"/>
            </a:endParaRPr>
          </a:p>
        </p:txBody>
      </p:sp>
      <p:sp>
        <p:nvSpPr>
          <p:cNvPr id="4" name="文本框 3"/>
          <p:cNvSpPr txBox="1"/>
          <p:nvPr/>
        </p:nvSpPr>
        <p:spPr>
          <a:xfrm>
            <a:off x="1257300" y="1741805"/>
            <a:ext cx="2545080" cy="3651250"/>
          </a:xfrm>
          <a:prstGeom prst="rect">
            <a:avLst/>
          </a:prstGeom>
          <a:noFill/>
        </p:spPr>
        <p:txBody>
          <a:bodyPr wrap="none" rtlCol="0" anchor="t">
            <a:spAutoFit/>
          </a:bodyPr>
          <a:p>
            <a:pPr marL="482600" indent="-482600" algn="l" defTabSz="1147445" fontAlgn="base">
              <a:lnSpc>
                <a:spcPct val="150000"/>
              </a:lnSpc>
              <a:spcBef>
                <a:spcPts val="640"/>
              </a:spcBef>
              <a:buClr>
                <a:srgbClr val="FFC000"/>
              </a:buClr>
              <a:buFont typeface="Wingdings" panose="05000000000000000000" pitchFamily="2" charset="2"/>
              <a:buChar char="l"/>
            </a:pPr>
            <a:r>
              <a:rPr lang="zh-CN" altLang="en-US" sz="2800" b="1" dirty="0" smtClean="0">
                <a:ea typeface="+mn-lt"/>
                <a:cs typeface="Times New Roman" panose="02020603050405020304" pitchFamily="18" charset="0"/>
                <a:sym typeface="+mn-ea"/>
              </a:rPr>
              <a:t>学习任务</a:t>
            </a:r>
            <a:endParaRPr lang="zh-CN" altLang="en-US" sz="2800" b="1" dirty="0" smtClean="0">
              <a:ea typeface="+mn-lt"/>
              <a:cs typeface="Times New Roman" panose="02020603050405020304" pitchFamily="18" charset="0"/>
              <a:sym typeface="+mn-ea"/>
            </a:endParaRPr>
          </a:p>
          <a:p>
            <a:pPr indent="0" algn="l" defTabSz="1147445" fontAlgn="base">
              <a:lnSpc>
                <a:spcPct val="150000"/>
              </a:lnSpc>
              <a:spcBef>
                <a:spcPts val="640"/>
              </a:spcBef>
              <a:buClr>
                <a:srgbClr val="FFC000"/>
              </a:buClr>
              <a:buFont typeface="Wingdings" panose="05000000000000000000" pitchFamily="2" charset="2"/>
              <a:buNone/>
            </a:pPr>
            <a:endParaRPr lang="zh-CN" altLang="en-US" sz="2800" b="1" dirty="0" smtClean="0">
              <a:ea typeface="+mn-lt"/>
              <a:cs typeface="Times New Roman" panose="02020603050405020304" pitchFamily="18" charset="0"/>
              <a:sym typeface="+mn-ea"/>
            </a:endParaRPr>
          </a:p>
          <a:p>
            <a:pPr marL="939800" lvl="1" indent="-482600" algn="l" defTabSz="1147445" fontAlgn="base">
              <a:lnSpc>
                <a:spcPct val="150000"/>
              </a:lnSpc>
              <a:spcBef>
                <a:spcPts val="640"/>
              </a:spcBef>
              <a:buClr>
                <a:srgbClr val="FFC000"/>
              </a:buClr>
              <a:buFont typeface="Wingdings" panose="05000000000000000000" pitchFamily="2" charset="2"/>
              <a:buChar char="l"/>
            </a:pPr>
            <a:r>
              <a:rPr lang="zh-CN" altLang="en-US" sz="2800" b="1" dirty="0" smtClean="0">
                <a:ea typeface="+mn-lt"/>
                <a:cs typeface="Times New Roman" panose="02020603050405020304" pitchFamily="18" charset="0"/>
                <a:sym typeface="+mn-ea"/>
              </a:rPr>
              <a:t>硬件搭建</a:t>
            </a:r>
            <a:endParaRPr lang="zh-CN" altLang="en-US" sz="2800" b="1" dirty="0" smtClean="0">
              <a:ea typeface="+mn-lt"/>
              <a:cs typeface="Times New Roman" panose="02020603050405020304" pitchFamily="18" charset="0"/>
              <a:sym typeface="+mn-ea"/>
            </a:endParaRPr>
          </a:p>
          <a:p>
            <a:pPr marL="482600" indent="-482600" algn="l" defTabSz="1147445" fontAlgn="base">
              <a:lnSpc>
                <a:spcPct val="150000"/>
              </a:lnSpc>
              <a:spcBef>
                <a:spcPts val="640"/>
              </a:spcBef>
              <a:buClr>
                <a:srgbClr val="FFC000"/>
              </a:buClr>
              <a:buFont typeface="Wingdings" panose="05000000000000000000" pitchFamily="2" charset="2"/>
              <a:buChar char="l"/>
            </a:pPr>
            <a:endParaRPr lang="zh-CN" altLang="en-US" sz="2800" b="1" dirty="0" smtClean="0">
              <a:ea typeface="+mn-lt"/>
              <a:cs typeface="Times New Roman" panose="02020603050405020304" pitchFamily="18" charset="0"/>
              <a:sym typeface="+mn-ea"/>
            </a:endParaRPr>
          </a:p>
          <a:p>
            <a:pPr marL="939800" lvl="1" indent="-482600" algn="l" defTabSz="1147445" fontAlgn="base">
              <a:lnSpc>
                <a:spcPct val="150000"/>
              </a:lnSpc>
              <a:spcBef>
                <a:spcPts val="640"/>
              </a:spcBef>
              <a:buClr>
                <a:srgbClr val="FFC000"/>
              </a:buClr>
              <a:buFont typeface="Wingdings" panose="05000000000000000000" pitchFamily="2" charset="2"/>
              <a:buChar char="l"/>
            </a:pPr>
            <a:r>
              <a:rPr lang="zh-CN" altLang="en-US" sz="2800" b="1" dirty="0" smtClean="0">
                <a:ea typeface="+mn-lt"/>
                <a:cs typeface="Times New Roman" panose="02020603050405020304" pitchFamily="18" charset="0"/>
                <a:sym typeface="+mn-ea"/>
              </a:rPr>
              <a:t>软件开发</a:t>
            </a:r>
            <a:endParaRPr lang="zh-CN" altLang="en-US" sz="2800" b="1" dirty="0" smtClean="0">
              <a:ea typeface="+mn-lt"/>
              <a:cs typeface="Times New Roman" panose="02020603050405020304" pitchFamily="18" charset="0"/>
              <a:sym typeface="+mn-ea"/>
            </a:endParaRPr>
          </a:p>
        </p:txBody>
      </p:sp>
      <p:sp>
        <p:nvSpPr>
          <p:cNvPr id="5" name="文本框 4"/>
          <p:cNvSpPr txBox="1"/>
          <p:nvPr/>
        </p:nvSpPr>
        <p:spPr>
          <a:xfrm>
            <a:off x="4226560" y="1887220"/>
            <a:ext cx="6546215" cy="64516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dirty="0" smtClean="0">
                <a:ea typeface="+mn-lt"/>
                <a:cs typeface="Times New Roman" panose="02020603050405020304" pitchFamily="18" charset="0"/>
                <a:sym typeface="+mn-ea"/>
              </a:rPr>
              <a:t>在</a:t>
            </a:r>
            <a:r>
              <a:rPr lang="en-US" altLang="zh-CN" dirty="0" smtClean="0">
                <a:ea typeface="+mn-lt"/>
                <a:cs typeface="Times New Roman" panose="02020603050405020304" pitchFamily="18" charset="0"/>
                <a:sym typeface="+mn-ea"/>
              </a:rPr>
              <a:t>Dofbot</a:t>
            </a:r>
            <a:r>
              <a:rPr lang="zh-CN" dirty="0" smtClean="0">
                <a:ea typeface="+mn-lt"/>
                <a:cs typeface="Times New Roman" panose="02020603050405020304" pitchFamily="18" charset="0"/>
                <a:sym typeface="+mn-ea"/>
              </a:rPr>
              <a:t>机械臂的运行环境下完成一个包含</a:t>
            </a:r>
            <a:r>
              <a:rPr lang="zh-CN" b="1" dirty="0" smtClean="0">
                <a:solidFill>
                  <a:srgbClr val="FF0000"/>
                </a:solidFill>
                <a:ea typeface="+mn-lt"/>
                <a:cs typeface="Times New Roman" panose="02020603050405020304" pitchFamily="18" charset="0"/>
                <a:sym typeface="+mn-ea"/>
              </a:rPr>
              <a:t>数据传输</a:t>
            </a:r>
            <a:r>
              <a:rPr lang="zh-CN" dirty="0" smtClean="0">
                <a:ea typeface="+mn-lt"/>
                <a:cs typeface="Times New Roman" panose="02020603050405020304" pitchFamily="18" charset="0"/>
                <a:sym typeface="+mn-ea"/>
              </a:rPr>
              <a:t>和</a:t>
            </a:r>
            <a:r>
              <a:rPr lang="zh-CN" b="1" dirty="0" smtClean="0">
                <a:solidFill>
                  <a:srgbClr val="FF0000"/>
                </a:solidFill>
                <a:ea typeface="+mn-lt"/>
                <a:cs typeface="Times New Roman" panose="02020603050405020304" pitchFamily="18" charset="0"/>
                <a:sym typeface="+mn-ea"/>
              </a:rPr>
              <a:t>图像识别</a:t>
            </a:r>
            <a:r>
              <a:rPr lang="zh-CN" dirty="0" smtClean="0">
                <a:ea typeface="+mn-lt"/>
                <a:cs typeface="Times New Roman" panose="02020603050405020304" pitchFamily="18" charset="0"/>
                <a:sym typeface="+mn-ea"/>
              </a:rPr>
              <a:t>模块的分拣和堆垛功能实现。</a:t>
            </a:r>
            <a:endParaRPr lang="zh-CN" altLang="en-US" dirty="0" smtClean="0">
              <a:ea typeface="+mn-lt"/>
              <a:cs typeface="Times New Roman" panose="02020603050405020304" pitchFamily="18" charset="0"/>
              <a:sym typeface="+mn-ea"/>
            </a:endParaRPr>
          </a:p>
        </p:txBody>
      </p:sp>
      <p:sp>
        <p:nvSpPr>
          <p:cNvPr id="6" name="文本框 5"/>
          <p:cNvSpPr txBox="1"/>
          <p:nvPr/>
        </p:nvSpPr>
        <p:spPr>
          <a:xfrm>
            <a:off x="4226560" y="3250565"/>
            <a:ext cx="6546215" cy="92202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dirty="0" smtClean="0">
                <a:ea typeface="+mn-lt"/>
                <a:cs typeface="Times New Roman" panose="02020603050405020304" pitchFamily="18" charset="0"/>
                <a:sym typeface="+mn-ea"/>
              </a:rPr>
              <a:t>根据说明书的装配教程，完成机械臂主控和扩展板的搭建和配网操作，并通过本地连接或远程连接的方式进入机械臂内部的开发环境。</a:t>
            </a:r>
            <a:endParaRPr lang="en-US" altLang="zh-CN" dirty="0" smtClean="0">
              <a:ea typeface="+mn-lt"/>
              <a:cs typeface="Times New Roman" panose="02020603050405020304" pitchFamily="18" charset="0"/>
              <a:sym typeface="+mn-ea"/>
            </a:endParaRPr>
          </a:p>
        </p:txBody>
      </p:sp>
      <p:cxnSp>
        <p:nvCxnSpPr>
          <p:cNvPr id="7" name="直接连接符 6"/>
          <p:cNvCxnSpPr/>
          <p:nvPr/>
        </p:nvCxnSpPr>
        <p:spPr>
          <a:xfrm>
            <a:off x="1483360" y="2183130"/>
            <a:ext cx="0" cy="290576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1473200" y="3616960"/>
            <a:ext cx="467360" cy="1016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1473200" y="5068570"/>
            <a:ext cx="467360" cy="1016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4226560" y="4612640"/>
            <a:ext cx="6546215" cy="36830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3" name="文本框 2"/>
          <p:cNvSpPr txBox="1"/>
          <p:nvPr>
            <p:custDataLst>
              <p:tags r:id="rId2"/>
            </p:custDataLst>
          </p:nvPr>
        </p:nvSpPr>
        <p:spPr>
          <a:xfrm>
            <a:off x="4226560" y="4612640"/>
            <a:ext cx="6546215" cy="119888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altLang="en-US" dirty="0" smtClean="0">
                <a:ea typeface="+mn-lt"/>
                <a:cs typeface="Times New Roman" panose="02020603050405020304" pitchFamily="18" charset="0"/>
                <a:sym typeface="+mn-ea"/>
              </a:rPr>
              <a:t>该机械臂的开发环境，如</a:t>
            </a:r>
            <a:r>
              <a:rPr lang="en-US" altLang="zh-CN" dirty="0" smtClean="0">
                <a:ea typeface="+mn-lt"/>
                <a:cs typeface="Times New Roman" panose="02020603050405020304" pitchFamily="18" charset="0"/>
                <a:sym typeface="+mn-ea"/>
              </a:rPr>
              <a:t>I2C</a:t>
            </a:r>
            <a:r>
              <a:rPr lang="zh-CN" altLang="en-US" dirty="0" smtClean="0">
                <a:ea typeface="+mn-lt"/>
                <a:cs typeface="Times New Roman" panose="02020603050405020304" pitchFamily="18" charset="0"/>
                <a:sym typeface="+mn-ea"/>
              </a:rPr>
              <a:t>工具、</a:t>
            </a:r>
            <a:r>
              <a:rPr lang="en-US" altLang="zh-CN" dirty="0" smtClean="0">
                <a:ea typeface="+mn-lt"/>
                <a:cs typeface="Times New Roman" panose="02020603050405020304" pitchFamily="18" charset="0"/>
                <a:sym typeface="+mn-ea"/>
              </a:rPr>
              <a:t>SSH</a:t>
            </a:r>
            <a:r>
              <a:rPr lang="zh-CN" altLang="en-US" dirty="0" smtClean="0">
                <a:ea typeface="+mn-lt"/>
                <a:cs typeface="Times New Roman" panose="02020603050405020304" pitchFamily="18" charset="0"/>
                <a:sym typeface="+mn-ea"/>
              </a:rPr>
              <a:t>服务和</a:t>
            </a:r>
            <a:r>
              <a:rPr lang="en-US" altLang="zh-CN" dirty="0" smtClean="0">
                <a:ea typeface="+mn-lt"/>
                <a:cs typeface="Times New Roman" panose="02020603050405020304" pitchFamily="18" charset="0"/>
                <a:sym typeface="+mn-ea"/>
              </a:rPr>
              <a:t>OLED</a:t>
            </a:r>
            <a:r>
              <a:rPr lang="zh-CN" altLang="en-US" dirty="0" smtClean="0">
                <a:ea typeface="+mn-lt"/>
                <a:cs typeface="Times New Roman" panose="02020603050405020304" pitchFamily="18" charset="0"/>
                <a:sym typeface="+mn-ea"/>
              </a:rPr>
              <a:t>驱动等已经在出厂时安装完毕。我们只需根据下面的教程，进入到机械臂的内部</a:t>
            </a:r>
            <a:r>
              <a:rPr lang="zh-CN" altLang="en-US" b="1" dirty="0" smtClean="0">
                <a:solidFill>
                  <a:srgbClr val="FF0000"/>
                </a:solidFill>
                <a:ea typeface="+mn-lt"/>
                <a:cs typeface="Times New Roman" panose="02020603050405020304" pitchFamily="18" charset="0"/>
                <a:sym typeface="+mn-ea"/>
              </a:rPr>
              <a:t>开发环境</a:t>
            </a:r>
            <a:r>
              <a:rPr lang="en-US" altLang="zh-CN" b="1" dirty="0" smtClean="0">
                <a:solidFill>
                  <a:srgbClr val="FF0000"/>
                </a:solidFill>
                <a:ea typeface="+mn-lt"/>
                <a:cs typeface="Times New Roman" panose="02020603050405020304" pitchFamily="18" charset="0"/>
                <a:sym typeface="+mn-ea"/>
              </a:rPr>
              <a:t>JupyterLab</a:t>
            </a:r>
            <a:r>
              <a:rPr lang="zh-CN" altLang="en-US" b="1" dirty="0" smtClean="0">
                <a:solidFill>
                  <a:srgbClr val="FF0000"/>
                </a:solidFill>
                <a:ea typeface="+mn-lt"/>
                <a:cs typeface="Times New Roman" panose="02020603050405020304" pitchFamily="18" charset="0"/>
                <a:sym typeface="+mn-ea"/>
              </a:rPr>
              <a:t>和个人电脑</a:t>
            </a:r>
            <a:r>
              <a:rPr lang="zh-CN" altLang="en-US" dirty="0" smtClean="0">
                <a:ea typeface="+mn-lt"/>
                <a:cs typeface="Times New Roman" panose="02020603050405020304" pitchFamily="18" charset="0"/>
                <a:sym typeface="+mn-ea"/>
              </a:rPr>
              <a:t>中，完成后续任务的开发。</a:t>
            </a:r>
            <a:endParaRPr lang="en-US" altLang="zh-CN"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学生任务</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6" name="文本框 5"/>
          <p:cNvSpPr txBox="1"/>
          <p:nvPr/>
        </p:nvSpPr>
        <p:spPr>
          <a:xfrm>
            <a:off x="1601470" y="1689735"/>
            <a:ext cx="9353550" cy="4594860"/>
          </a:xfrm>
          <a:prstGeom prst="rect">
            <a:avLst/>
          </a:prstGeom>
          <a:noFill/>
        </p:spPr>
        <p:txBody>
          <a:bodyPr wrap="square" rtlCol="0" anchor="t">
            <a:spAutoFit/>
          </a:bodyPr>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solidFill>
                  <a:sysClr val="windowText" lastClr="000000"/>
                </a:solidFill>
                <a:ea typeface="+mn-lt"/>
                <a:cs typeface="Times New Roman" panose="02020603050405020304" pitchFamily="18" charset="0"/>
                <a:sym typeface="+mn-ea"/>
              </a:rPr>
              <a:t>本次课程设计为</a:t>
            </a:r>
            <a:r>
              <a:rPr lang="zh-CN" b="1" dirty="0" smtClean="0">
                <a:solidFill>
                  <a:srgbClr val="FF0000"/>
                </a:solidFill>
                <a:ea typeface="+mn-lt"/>
                <a:cs typeface="Times New Roman" panose="02020603050405020304" pitchFamily="18" charset="0"/>
                <a:sym typeface="+mn-ea"/>
              </a:rPr>
              <a:t>小组任务</a:t>
            </a:r>
            <a:r>
              <a:rPr lang="zh-CN" dirty="0" smtClean="0">
                <a:solidFill>
                  <a:sysClr val="windowText" lastClr="000000"/>
                </a:solidFill>
                <a:ea typeface="+mn-lt"/>
                <a:cs typeface="Times New Roman" panose="02020603050405020304" pitchFamily="18" charset="0"/>
                <a:sym typeface="+mn-ea"/>
              </a:rPr>
              <a:t>，学生自行组成</a:t>
            </a:r>
            <a:r>
              <a:rPr lang="zh-CN" altLang="en-US" b="1" dirty="0" smtClean="0">
                <a:solidFill>
                  <a:srgbClr val="FF0000"/>
                </a:solidFill>
                <a:ea typeface="+mn-lt"/>
                <a:cs typeface="Times New Roman" panose="02020603050405020304" pitchFamily="18" charset="0"/>
                <a:sym typeface="+mn-ea"/>
              </a:rPr>
              <a:t>3-</a:t>
            </a:r>
            <a:r>
              <a:rPr lang="en-US" altLang="zh-CN" b="1" dirty="0" smtClean="0">
                <a:solidFill>
                  <a:srgbClr val="FF0000"/>
                </a:solidFill>
                <a:ea typeface="+mn-lt"/>
                <a:cs typeface="Times New Roman" panose="02020603050405020304" pitchFamily="18" charset="0"/>
                <a:sym typeface="+mn-ea"/>
              </a:rPr>
              <a:t>4</a:t>
            </a:r>
            <a:r>
              <a:rPr lang="zh-CN" altLang="en-US" b="1" dirty="0" smtClean="0">
                <a:solidFill>
                  <a:srgbClr val="FF0000"/>
                </a:solidFill>
                <a:ea typeface="+mn-lt"/>
                <a:cs typeface="Times New Roman" panose="02020603050405020304" pitchFamily="18" charset="0"/>
                <a:sym typeface="+mn-ea"/>
              </a:rPr>
              <a:t>人小组</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原则上小组为</a:t>
            </a:r>
            <a:r>
              <a:rPr lang="en-US" altLang="zh-CN" dirty="0" smtClean="0">
                <a:solidFill>
                  <a:sysClr val="windowText" lastClr="000000"/>
                </a:solidFill>
                <a:ea typeface="+mn-lt"/>
                <a:cs typeface="Times New Roman" panose="02020603050405020304" pitchFamily="18" charset="0"/>
                <a:sym typeface="+mn-ea"/>
              </a:rPr>
              <a:t>3-4</a:t>
            </a:r>
            <a:r>
              <a:rPr lang="zh-CN" altLang="en-US" dirty="0" smtClean="0">
                <a:solidFill>
                  <a:sysClr val="windowText" lastClr="000000"/>
                </a:solidFill>
                <a:ea typeface="+mn-lt"/>
                <a:cs typeface="Times New Roman" panose="02020603050405020304" pitchFamily="18" charset="0"/>
                <a:sym typeface="+mn-ea"/>
              </a:rPr>
              <a:t>人，若有其他需情况请在课下后联系老师或助教。</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小组名单由学委收集完毕后发给助教。</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可以跨班，但是不能跨</a:t>
            </a:r>
            <a:r>
              <a:rPr lang="zh-CN" altLang="en-US" dirty="0" smtClean="0">
                <a:solidFill>
                  <a:sysClr val="windowText" lastClr="000000"/>
                </a:solidFill>
                <a:ea typeface="+mn-lt"/>
                <a:cs typeface="Times New Roman" panose="02020603050405020304" pitchFamily="18" charset="0"/>
                <a:sym typeface="+mn-ea"/>
              </a:rPr>
              <a:t>老师。</a:t>
            </a:r>
            <a:endParaRPr lang="zh-CN" altLang="en-US"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solidFill>
                  <a:sysClr val="windowText" lastClr="000000"/>
                </a:solidFill>
                <a:ea typeface="+mn-lt"/>
                <a:cs typeface="Times New Roman" panose="02020603050405020304" pitchFamily="18" charset="0"/>
                <a:sym typeface="+mn-ea"/>
              </a:rPr>
              <a:t>验收方式为</a:t>
            </a:r>
            <a:r>
              <a:rPr lang="zh-CN" b="1" dirty="0" smtClean="0">
                <a:solidFill>
                  <a:srgbClr val="FF0000"/>
                </a:solidFill>
                <a:ea typeface="+mn-lt"/>
                <a:cs typeface="Times New Roman" panose="02020603050405020304" pitchFamily="18" charset="0"/>
                <a:sym typeface="+mn-ea"/>
              </a:rPr>
              <a:t>项目展示</a:t>
            </a:r>
            <a:r>
              <a:rPr lang="zh-CN" dirty="0" smtClean="0">
                <a:solidFill>
                  <a:sysClr val="windowText" lastClr="000000"/>
                </a:solidFill>
                <a:ea typeface="+mn-lt"/>
                <a:cs typeface="Times New Roman" panose="02020603050405020304" pitchFamily="18" charset="0"/>
                <a:sym typeface="+mn-ea"/>
              </a:rPr>
              <a:t>，每组需选派</a:t>
            </a:r>
            <a:r>
              <a:rPr lang="en-US" altLang="zh-CN" b="1" dirty="0" smtClean="0">
                <a:solidFill>
                  <a:srgbClr val="FF0000"/>
                </a:solidFill>
                <a:ea typeface="+mn-lt"/>
                <a:cs typeface="Times New Roman" panose="02020603050405020304" pitchFamily="18" charset="0"/>
                <a:sym typeface="+mn-ea"/>
              </a:rPr>
              <a:t>1</a:t>
            </a:r>
            <a:r>
              <a:rPr lang="zh-CN" b="1" dirty="0" smtClean="0">
                <a:solidFill>
                  <a:srgbClr val="FF0000"/>
                </a:solidFill>
                <a:ea typeface="+mn-lt"/>
                <a:cs typeface="Times New Roman" panose="02020603050405020304" pitchFamily="18" charset="0"/>
                <a:sym typeface="+mn-ea"/>
              </a:rPr>
              <a:t>名主讲人</a:t>
            </a:r>
            <a:r>
              <a:rPr lang="zh-CN" dirty="0" smtClean="0">
                <a:solidFill>
                  <a:sysClr val="windowText" lastClr="000000"/>
                </a:solidFill>
                <a:ea typeface="+mn-lt"/>
                <a:cs typeface="Times New Roman" panose="02020603050405020304" pitchFamily="18" charset="0"/>
                <a:sym typeface="+mn-ea"/>
              </a:rPr>
              <a:t>以</a:t>
            </a:r>
            <a:r>
              <a:rPr lang="en-US" altLang="zh-CN" dirty="0" smtClean="0">
                <a:solidFill>
                  <a:sysClr val="windowText" lastClr="000000"/>
                </a:solidFill>
                <a:ea typeface="+mn-lt"/>
                <a:cs typeface="Times New Roman" panose="02020603050405020304" pitchFamily="18" charset="0"/>
                <a:sym typeface="+mn-ea"/>
              </a:rPr>
              <a:t>PPT</a:t>
            </a:r>
            <a:r>
              <a:rPr lang="zh-CN" altLang="en-US" dirty="0" smtClean="0">
                <a:solidFill>
                  <a:sysClr val="windowText" lastClr="000000"/>
                </a:solidFill>
                <a:ea typeface="+mn-lt"/>
                <a:cs typeface="Times New Roman" panose="02020603050405020304" pitchFamily="18" charset="0"/>
                <a:sym typeface="+mn-ea"/>
              </a:rPr>
              <a:t>的形式进行项目展示，小组</a:t>
            </a:r>
            <a:r>
              <a:rPr lang="zh-CN" altLang="en-US" b="1" dirty="0" smtClean="0">
                <a:solidFill>
                  <a:srgbClr val="FF0000"/>
                </a:solidFill>
                <a:ea typeface="+mn-lt"/>
                <a:cs typeface="Times New Roman" panose="02020603050405020304" pitchFamily="18" charset="0"/>
                <a:sym typeface="+mn-ea"/>
              </a:rPr>
              <a:t>所有成员需到场</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小组项目展示顺序将在展示前准备情况决定，展示场地在工一</a:t>
            </a:r>
            <a:r>
              <a:rPr lang="en-US" altLang="zh-CN" dirty="0" smtClean="0">
                <a:solidFill>
                  <a:sysClr val="windowText" lastClr="000000"/>
                </a:solidFill>
                <a:ea typeface="+mn-lt"/>
                <a:cs typeface="Times New Roman" panose="02020603050405020304" pitchFamily="18" charset="0"/>
                <a:sym typeface="+mn-ea"/>
              </a:rPr>
              <a:t>403</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altLang="en-US"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课程设计完成后，每组需提交</a:t>
            </a:r>
            <a:r>
              <a:rPr lang="zh-CN" altLang="en-US" b="1" dirty="0" smtClean="0">
                <a:solidFill>
                  <a:srgbClr val="FF0000"/>
                </a:solidFill>
                <a:ea typeface="+mn-lt"/>
                <a:cs typeface="Times New Roman" panose="02020603050405020304" pitchFamily="18" charset="0"/>
                <a:sym typeface="+mn-ea"/>
              </a:rPr>
              <a:t>验收材料</a:t>
            </a:r>
            <a:r>
              <a:rPr lang="zh-CN" altLang="en-US" dirty="0" smtClean="0">
                <a:solidFill>
                  <a:schemeClr val="tx1"/>
                </a:solidFill>
                <a:ea typeface="+mn-lt"/>
                <a:cs typeface="Times New Roman" panose="02020603050405020304" pitchFamily="18" charset="0"/>
                <a:sym typeface="+mn-ea"/>
              </a:rPr>
              <a:t>，包括个人</a:t>
            </a:r>
            <a:r>
              <a:rPr lang="zh-CN" altLang="en-US" b="1" dirty="0" smtClean="0">
                <a:solidFill>
                  <a:srgbClr val="FF0000"/>
                </a:solidFill>
                <a:ea typeface="+mn-lt"/>
                <a:cs typeface="Times New Roman" panose="02020603050405020304" pitchFamily="18" charset="0"/>
                <a:sym typeface="+mn-ea"/>
              </a:rPr>
              <a:t>纸质课程设计报告</a:t>
            </a:r>
            <a:r>
              <a:rPr lang="zh-CN" altLang="en-US" dirty="0" smtClean="0">
                <a:solidFill>
                  <a:schemeClr val="tx1"/>
                </a:solidFill>
                <a:ea typeface="+mn-lt"/>
                <a:cs typeface="Times New Roman" panose="02020603050405020304" pitchFamily="18" charset="0"/>
                <a:sym typeface="+mn-ea"/>
              </a:rPr>
              <a:t>，小组</a:t>
            </a:r>
            <a:r>
              <a:rPr lang="zh-CN" altLang="en-US" b="1" dirty="0" smtClean="0">
                <a:solidFill>
                  <a:srgbClr val="FF0000"/>
                </a:solidFill>
                <a:ea typeface="+mn-lt"/>
                <a:cs typeface="Times New Roman" panose="02020603050405020304" pitchFamily="18" charset="0"/>
                <a:sym typeface="+mn-ea"/>
              </a:rPr>
              <a:t>项目源码</a:t>
            </a:r>
            <a:r>
              <a:rPr lang="zh-CN" altLang="en-US" dirty="0" smtClean="0">
                <a:solidFill>
                  <a:schemeClr val="tx1"/>
                </a:solidFill>
                <a:ea typeface="+mn-lt"/>
                <a:cs typeface="Times New Roman" panose="02020603050405020304" pitchFamily="18" charset="0"/>
                <a:sym typeface="+mn-ea"/>
              </a:rPr>
              <a:t>。</a:t>
            </a:r>
            <a:endParaRPr lang="zh-CN" altLang="en-US" dirty="0" smtClean="0">
              <a:solidFill>
                <a:schemeClr val="tx1"/>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小组报告重点方案的</a:t>
            </a:r>
            <a:r>
              <a:rPr lang="zh-CN" altLang="en-US" dirty="0" smtClean="0">
                <a:solidFill>
                  <a:sysClr val="windowText" lastClr="000000"/>
                </a:solidFill>
                <a:ea typeface="+mn-lt"/>
                <a:cs typeface="Times New Roman" panose="02020603050405020304" pitchFamily="18" charset="0"/>
                <a:sym typeface="+mn-ea"/>
              </a:rPr>
              <a:t>整体。</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个人报告除了综述项目工作以外，需</a:t>
            </a:r>
            <a:r>
              <a:rPr lang="zh-CN" altLang="en-US" b="1" dirty="0" smtClean="0">
                <a:solidFill>
                  <a:srgbClr val="FF0000"/>
                </a:solidFill>
                <a:ea typeface="+mn-lt"/>
                <a:cs typeface="Times New Roman" panose="02020603050405020304" pitchFamily="18" charset="0"/>
                <a:sym typeface="+mn-ea"/>
              </a:rPr>
              <a:t>重点展示个人工作</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项目源码包括工程文件，并附一份代码说明。</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若发现雷同报告及代码，</a:t>
            </a:r>
            <a:r>
              <a:rPr lang="zh-CN" altLang="en-US" b="1" dirty="0" smtClean="0">
                <a:solidFill>
                  <a:srgbClr val="FF0000"/>
                </a:solidFill>
                <a:ea typeface="+mn-lt"/>
                <a:cs typeface="Times New Roman" panose="02020603050405020304" pitchFamily="18" charset="0"/>
                <a:sym typeface="+mn-ea"/>
              </a:rPr>
              <a:t>雷同验收材料将全部判为不合格</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评分规则</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6" name="文本框 5"/>
          <p:cNvSpPr txBox="1"/>
          <p:nvPr/>
        </p:nvSpPr>
        <p:spPr>
          <a:xfrm>
            <a:off x="1439545" y="1669415"/>
            <a:ext cx="9647555" cy="4789805"/>
          </a:xfrm>
          <a:prstGeom prst="rect">
            <a:avLst/>
          </a:prstGeom>
          <a:noFill/>
        </p:spPr>
        <p:txBody>
          <a:bodyPr wrap="square" rtlCol="0" anchor="t">
            <a:spAutoFit/>
          </a:bodyPr>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课程设计分数占比设置：优秀</a:t>
            </a:r>
            <a:r>
              <a:rPr lang="en-US" altLang="zh-CN" dirty="0" smtClean="0">
                <a:solidFill>
                  <a:sysClr val="windowText" lastClr="000000"/>
                </a:solidFill>
                <a:ea typeface="+mn-lt"/>
                <a:cs typeface="Times New Roman" panose="02020603050405020304" pitchFamily="18" charset="0"/>
                <a:sym typeface="+mn-ea"/>
              </a:rPr>
              <a:t>20%</a:t>
            </a:r>
            <a:r>
              <a:rPr lang="zh-CN" altLang="en-US" dirty="0" smtClean="0">
                <a:solidFill>
                  <a:sysClr val="windowText" lastClr="000000"/>
                </a:solidFill>
                <a:ea typeface="+mn-lt"/>
                <a:cs typeface="Times New Roman" panose="02020603050405020304" pitchFamily="18" charset="0"/>
                <a:sym typeface="+mn-ea"/>
              </a:rPr>
              <a:t>以内，良好</a:t>
            </a:r>
            <a:r>
              <a:rPr lang="en-US" altLang="zh-CN" dirty="0" smtClean="0">
                <a:solidFill>
                  <a:sysClr val="windowText" lastClr="000000"/>
                </a:solidFill>
                <a:ea typeface="+mn-lt"/>
                <a:cs typeface="Times New Roman" panose="02020603050405020304" pitchFamily="18" charset="0"/>
                <a:sym typeface="+mn-ea"/>
              </a:rPr>
              <a:t>40-50%</a:t>
            </a:r>
            <a:r>
              <a:rPr lang="zh-CN" altLang="en-US" dirty="0" smtClean="0">
                <a:solidFill>
                  <a:sysClr val="windowText" lastClr="000000"/>
                </a:solidFill>
                <a:ea typeface="+mn-lt"/>
                <a:cs typeface="Times New Roman" panose="02020603050405020304" pitchFamily="18" charset="0"/>
                <a:sym typeface="+mn-ea"/>
              </a:rPr>
              <a:t>，合格：</a:t>
            </a:r>
            <a:r>
              <a:rPr lang="en-US" altLang="zh-CN" dirty="0" smtClean="0">
                <a:solidFill>
                  <a:sysClr val="windowText" lastClr="000000"/>
                </a:solidFill>
                <a:ea typeface="+mn-lt"/>
                <a:cs typeface="Times New Roman" panose="02020603050405020304" pitchFamily="18" charset="0"/>
                <a:sym typeface="+mn-ea"/>
              </a:rPr>
              <a:t>30-40%</a:t>
            </a:r>
            <a:r>
              <a:rPr lang="zh-CN" altLang="en-US" dirty="0" smtClean="0">
                <a:solidFill>
                  <a:sysClr val="windowText" lastClr="000000"/>
                </a:solidFill>
                <a:ea typeface="+mn-lt"/>
                <a:cs typeface="Times New Roman" panose="02020603050405020304" pitchFamily="18" charset="0"/>
                <a:sym typeface="+mn-ea"/>
              </a:rPr>
              <a:t>。</a:t>
            </a:r>
            <a:endParaRPr lang="en-US" altLang="zh-CN"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课程设计</a:t>
            </a:r>
            <a:r>
              <a:rPr lang="zh-CN" altLang="en-US" b="1" dirty="0" smtClean="0">
                <a:solidFill>
                  <a:srgbClr val="FF0000"/>
                </a:solidFill>
                <a:ea typeface="+mn-lt"/>
                <a:cs typeface="Times New Roman" panose="02020603050405020304" pitchFamily="18" charset="0"/>
                <a:sym typeface="+mn-ea"/>
              </a:rPr>
              <a:t>评分标准</a:t>
            </a:r>
            <a:r>
              <a:rPr lang="en-US" altLang="zh-CN" b="1" dirty="0" smtClean="0">
                <a:solidFill>
                  <a:srgbClr val="FF0000"/>
                </a:solidFill>
                <a:ea typeface="+mn-lt"/>
                <a:cs typeface="Times New Roman" panose="02020603050405020304" pitchFamily="18" charset="0"/>
                <a:sym typeface="+mn-ea"/>
              </a:rPr>
              <a:t> = </a:t>
            </a:r>
            <a:r>
              <a:rPr lang="zh-CN" altLang="en-US" b="1" dirty="0" smtClean="0">
                <a:solidFill>
                  <a:srgbClr val="FF0000"/>
                </a:solidFill>
                <a:ea typeface="+mn-lt"/>
                <a:cs typeface="Times New Roman" panose="02020603050405020304" pitchFamily="18" charset="0"/>
                <a:sym typeface="+mn-ea"/>
              </a:rPr>
              <a:t>小组项目得分</a:t>
            </a:r>
            <a:r>
              <a:rPr lang="en-US" altLang="zh-CN" b="1" dirty="0" smtClean="0">
                <a:solidFill>
                  <a:srgbClr val="FF0000"/>
                </a:solidFill>
                <a:ea typeface="+mn-lt"/>
                <a:cs typeface="Times New Roman" panose="02020603050405020304" pitchFamily="18" charset="0"/>
                <a:sym typeface="+mn-ea"/>
              </a:rPr>
              <a:t> + </a:t>
            </a:r>
            <a:r>
              <a:rPr lang="zh-CN" altLang="en-US" b="1" dirty="0" smtClean="0">
                <a:solidFill>
                  <a:srgbClr val="FF0000"/>
                </a:solidFill>
                <a:ea typeface="+mn-lt"/>
                <a:cs typeface="Times New Roman" panose="02020603050405020304" pitchFamily="18" charset="0"/>
                <a:sym typeface="+mn-ea"/>
              </a:rPr>
              <a:t>个人贡献</a:t>
            </a:r>
            <a:r>
              <a:rPr lang="zh-CN" altLang="en-US" b="1" dirty="0" smtClean="0">
                <a:solidFill>
                  <a:srgbClr val="FF0000"/>
                </a:solidFill>
                <a:ea typeface="+mn-lt"/>
                <a:cs typeface="Times New Roman" panose="02020603050405020304" pitchFamily="18" charset="0"/>
                <a:sym typeface="+mn-ea"/>
              </a:rPr>
              <a:t>权重</a:t>
            </a:r>
            <a:endParaRPr lang="zh-CN" altLang="en-US" b="1" dirty="0" smtClean="0">
              <a:solidFill>
                <a:srgbClr val="FF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solidFill>
                  <a:srgbClr val="FF0000"/>
                </a:solidFill>
                <a:ea typeface="+mn-lt"/>
                <a:cs typeface="Times New Roman" panose="02020603050405020304" pitchFamily="18" charset="0"/>
                <a:sym typeface="+mn-ea"/>
              </a:rPr>
              <a:t>       </a:t>
            </a:r>
            <a:r>
              <a:rPr lang="zh-CN" altLang="en-US" b="1" dirty="0" smtClean="0">
                <a:solidFill>
                  <a:srgbClr val="FF0000"/>
                </a:solidFill>
                <a:ea typeface="+mn-lt"/>
                <a:cs typeface="Times New Roman" panose="02020603050405020304" pitchFamily="18" charset="0"/>
                <a:sym typeface="+mn-ea"/>
              </a:rPr>
              <a:t>小组项目得分</a:t>
            </a:r>
            <a:r>
              <a:rPr lang="en-US" altLang="zh-CN" b="1" dirty="0" smtClean="0">
                <a:solidFill>
                  <a:srgbClr val="FF0000"/>
                </a:solidFill>
                <a:ea typeface="+mn-lt"/>
                <a:cs typeface="Times New Roman" panose="02020603050405020304" pitchFamily="18" charset="0"/>
                <a:sym typeface="+mn-ea"/>
              </a:rPr>
              <a:t> = </a:t>
            </a:r>
            <a:r>
              <a:rPr lang="zh-CN" altLang="en-US" b="1" dirty="0" smtClean="0">
                <a:solidFill>
                  <a:srgbClr val="FF0000"/>
                </a:solidFill>
                <a:ea typeface="+mn-lt"/>
                <a:cs typeface="Times New Roman" panose="02020603050405020304" pitchFamily="18" charset="0"/>
                <a:sym typeface="+mn-ea"/>
              </a:rPr>
              <a:t>项目展示</a:t>
            </a:r>
            <a:r>
              <a:rPr lang="en-US" altLang="zh-CN" b="1" dirty="0" smtClean="0">
                <a:solidFill>
                  <a:srgbClr val="FF0000"/>
                </a:solidFill>
                <a:ea typeface="+mn-lt"/>
                <a:cs typeface="Times New Roman" panose="02020603050405020304" pitchFamily="18" charset="0"/>
                <a:sym typeface="+mn-ea"/>
              </a:rPr>
              <a:t> * 0.5  + </a:t>
            </a:r>
            <a:r>
              <a:rPr lang="zh-CN" altLang="en-US" b="1" dirty="0" smtClean="0">
                <a:solidFill>
                  <a:srgbClr val="FF0000"/>
                </a:solidFill>
                <a:ea typeface="+mn-lt"/>
                <a:cs typeface="Times New Roman" panose="02020603050405020304" pitchFamily="18" charset="0"/>
                <a:sym typeface="+mn-ea"/>
              </a:rPr>
              <a:t>验收材料</a:t>
            </a:r>
            <a:r>
              <a:rPr lang="en-US" altLang="zh-CN" b="1" dirty="0" smtClean="0">
                <a:solidFill>
                  <a:srgbClr val="FF0000"/>
                </a:solidFill>
                <a:ea typeface="+mn-lt"/>
                <a:cs typeface="Times New Roman" panose="02020603050405020304" pitchFamily="18" charset="0"/>
                <a:sym typeface="+mn-ea"/>
              </a:rPr>
              <a:t> * 0.5 + </a:t>
            </a:r>
            <a:r>
              <a:rPr lang="zh-CN" altLang="en-US" b="1" dirty="0" smtClean="0">
                <a:solidFill>
                  <a:srgbClr val="FF0000"/>
                </a:solidFill>
                <a:ea typeface="+mn-lt"/>
                <a:cs typeface="Times New Roman" panose="02020603050405020304" pitchFamily="18" charset="0"/>
                <a:sym typeface="+mn-ea"/>
              </a:rPr>
              <a:t>小组加分项</a:t>
            </a:r>
            <a:r>
              <a:rPr lang="zh-CN" altLang="en-US" dirty="0" smtClean="0">
                <a:solidFill>
                  <a:sysClr val="windowText" lastClr="000000"/>
                </a:solidFill>
                <a:ea typeface="+mn-lt"/>
                <a:cs typeface="Times New Roman" panose="02020603050405020304" pitchFamily="18" charset="0"/>
                <a:sym typeface="+mn-ea"/>
              </a:rPr>
              <a:t>（不超过</a:t>
            </a:r>
            <a:r>
              <a:rPr lang="en-US" altLang="zh-CN" dirty="0" smtClean="0">
                <a:solidFill>
                  <a:sysClr val="windowText" lastClr="000000"/>
                </a:solidFill>
                <a:ea typeface="+mn-lt"/>
                <a:cs typeface="Times New Roman" panose="02020603050405020304" pitchFamily="18" charset="0"/>
                <a:sym typeface="+mn-ea"/>
              </a:rPr>
              <a:t>2</a:t>
            </a:r>
            <a:r>
              <a:rPr lang="zh-CN" altLang="en-US" dirty="0" smtClean="0">
                <a:solidFill>
                  <a:sysClr val="windowText" lastClr="000000"/>
                </a:solidFill>
                <a:ea typeface="+mn-lt"/>
                <a:cs typeface="Times New Roman" panose="02020603050405020304" pitchFamily="18" charset="0"/>
                <a:sym typeface="+mn-ea"/>
              </a:rPr>
              <a:t>分）</a:t>
            </a: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项目展示部分将根据</a:t>
            </a:r>
            <a:r>
              <a:rPr lang="zh-CN" altLang="en-US" b="1" dirty="0" smtClean="0">
                <a:solidFill>
                  <a:srgbClr val="FF0000"/>
                </a:solidFill>
                <a:ea typeface="+mn-lt"/>
                <a:cs typeface="Times New Roman" panose="02020603050405020304" pitchFamily="18" charset="0"/>
                <a:sym typeface="+mn-ea"/>
              </a:rPr>
              <a:t>操作演示情况，结果是否正确，回答问题</a:t>
            </a:r>
            <a:r>
              <a:rPr lang="zh-CN" altLang="en-US" dirty="0" smtClean="0">
                <a:solidFill>
                  <a:sysClr val="windowText" lastClr="000000"/>
                </a:solidFill>
                <a:ea typeface="+mn-lt"/>
                <a:cs typeface="Times New Roman" panose="02020603050405020304" pitchFamily="18" charset="0"/>
                <a:sym typeface="+mn-ea"/>
              </a:rPr>
              <a:t>三方面进行评分。请将汇报控制在</a:t>
            </a:r>
            <a:r>
              <a:rPr lang="en-US" altLang="zh-CN" dirty="0" smtClean="0">
                <a:solidFill>
                  <a:sysClr val="windowText" lastClr="000000"/>
                </a:solidFill>
                <a:ea typeface="+mn-lt"/>
                <a:cs typeface="Times New Roman" panose="02020603050405020304" pitchFamily="18" charset="0"/>
                <a:sym typeface="+mn-ea"/>
              </a:rPr>
              <a:t>10</a:t>
            </a:r>
            <a:r>
              <a:rPr lang="zh-CN" altLang="en-US" dirty="0" smtClean="0">
                <a:solidFill>
                  <a:sysClr val="windowText" lastClr="000000"/>
                </a:solidFill>
                <a:ea typeface="+mn-lt"/>
                <a:cs typeface="Times New Roman" panose="02020603050405020304" pitchFamily="18" charset="0"/>
                <a:sym typeface="+mn-ea"/>
              </a:rPr>
              <a:t>分钟以内（提供软件演示操作视频演示</a:t>
            </a:r>
            <a:r>
              <a:rPr lang="en-US" altLang="zh-CN" dirty="0" smtClean="0">
                <a:solidFill>
                  <a:sysClr val="windowText" lastClr="000000"/>
                </a:solidFill>
                <a:ea typeface="+mn-lt"/>
                <a:cs typeface="Times New Roman" panose="02020603050405020304" pitchFamily="18" charset="0"/>
                <a:sym typeface="+mn-ea"/>
              </a:rPr>
              <a:t>/</a:t>
            </a:r>
            <a:r>
              <a:rPr lang="zh-CN" altLang="en-US" dirty="0" smtClean="0">
                <a:solidFill>
                  <a:sysClr val="windowText" lastClr="000000"/>
                </a:solidFill>
                <a:ea typeface="+mn-lt"/>
                <a:cs typeface="Times New Roman" panose="02020603050405020304" pitchFamily="18" charset="0"/>
                <a:sym typeface="+mn-ea"/>
              </a:rPr>
              <a:t>现场操作演示</a:t>
            </a:r>
            <a:r>
              <a:rPr lang="en-US" altLang="zh-CN" dirty="0" smtClean="0">
                <a:solidFill>
                  <a:sysClr val="windowText" lastClr="000000"/>
                </a:solidFill>
                <a:ea typeface="+mn-lt"/>
                <a:cs typeface="Times New Roman" panose="02020603050405020304" pitchFamily="18" charset="0"/>
                <a:sym typeface="+mn-ea"/>
              </a:rPr>
              <a:t>2-3</a:t>
            </a:r>
            <a:r>
              <a:rPr lang="zh-CN" altLang="en-US" dirty="0" smtClean="0">
                <a:solidFill>
                  <a:sysClr val="windowText" lastClr="000000"/>
                </a:solidFill>
                <a:ea typeface="+mn-lt"/>
                <a:cs typeface="Times New Roman" panose="02020603050405020304" pitchFamily="18" charset="0"/>
                <a:sym typeface="+mn-ea"/>
              </a:rPr>
              <a:t>分钟以内），回答问题将有</a:t>
            </a:r>
            <a:r>
              <a:rPr lang="en-US" altLang="zh-CN" dirty="0" smtClean="0">
                <a:solidFill>
                  <a:sysClr val="windowText" lastClr="000000"/>
                </a:solidFill>
                <a:ea typeface="+mn-lt"/>
                <a:cs typeface="Times New Roman" panose="02020603050405020304" pitchFamily="18" charset="0"/>
                <a:sym typeface="+mn-ea"/>
              </a:rPr>
              <a:t>5</a:t>
            </a:r>
            <a:r>
              <a:rPr lang="zh-CN" altLang="en-US" dirty="0" smtClean="0">
                <a:solidFill>
                  <a:sysClr val="windowText" lastClr="000000"/>
                </a:solidFill>
                <a:ea typeface="+mn-lt"/>
                <a:cs typeface="Times New Roman" panose="02020603050405020304" pitchFamily="18" charset="0"/>
                <a:sym typeface="+mn-ea"/>
              </a:rPr>
              <a:t>分钟。汇报中机器学习部分请务必包含实验数据</a:t>
            </a:r>
            <a:r>
              <a:rPr lang="zh-CN" altLang="en-US" dirty="0" smtClean="0">
                <a:solidFill>
                  <a:sysClr val="windowText" lastClr="000000"/>
                </a:solidFill>
                <a:ea typeface="+mn-lt"/>
                <a:cs typeface="Times New Roman" panose="02020603050405020304" pitchFamily="18" charset="0"/>
                <a:sym typeface="+mn-ea"/>
              </a:rPr>
              <a:t>分析。</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验收材料部分将根据</a:t>
            </a:r>
            <a:r>
              <a:rPr lang="zh-CN" altLang="en-US" b="1" dirty="0" smtClean="0">
                <a:solidFill>
                  <a:srgbClr val="FF0000"/>
                </a:solidFill>
                <a:ea typeface="+mn-lt"/>
                <a:cs typeface="Times New Roman" panose="02020603050405020304" pitchFamily="18" charset="0"/>
                <a:sym typeface="+mn-ea"/>
              </a:rPr>
              <a:t>小组完成度，方案合理度，配置合理度，报告规范度</a:t>
            </a:r>
            <a:r>
              <a:rPr lang="zh-CN" altLang="en-US" dirty="0" smtClean="0">
                <a:solidFill>
                  <a:sysClr val="windowText" lastClr="000000"/>
                </a:solidFill>
                <a:ea typeface="+mn-lt"/>
                <a:cs typeface="Times New Roman" panose="02020603050405020304" pitchFamily="18" charset="0"/>
                <a:sym typeface="+mn-ea"/>
              </a:rPr>
              <a:t>四方面进行评分。</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将会根据</a:t>
            </a:r>
            <a:r>
              <a:rPr lang="zh-CN" altLang="en-US" b="1" dirty="0" smtClean="0">
                <a:solidFill>
                  <a:srgbClr val="FF0000"/>
                </a:solidFill>
                <a:ea typeface="+mn-lt"/>
                <a:cs typeface="Times New Roman" panose="02020603050405020304" pitchFamily="18" charset="0"/>
                <a:sym typeface="+mn-ea"/>
              </a:rPr>
              <a:t>项目创新点</a:t>
            </a:r>
            <a:r>
              <a:rPr lang="zh-CN" altLang="en-US" dirty="0" smtClean="0">
                <a:solidFill>
                  <a:sysClr val="windowText" lastClr="000000"/>
                </a:solidFill>
                <a:ea typeface="+mn-lt"/>
                <a:cs typeface="Times New Roman" panose="02020603050405020304" pitchFamily="18" charset="0"/>
                <a:sym typeface="+mn-ea"/>
              </a:rPr>
              <a:t>在</a:t>
            </a:r>
            <a:r>
              <a:rPr lang="zh-CN" altLang="en-US" b="1" dirty="0" smtClean="0">
                <a:solidFill>
                  <a:srgbClr val="FF0000"/>
                </a:solidFill>
                <a:ea typeface="+mn-lt"/>
                <a:cs typeface="Times New Roman" panose="02020603050405020304" pitchFamily="18" charset="0"/>
                <a:sym typeface="+mn-ea"/>
              </a:rPr>
              <a:t>小组</a:t>
            </a:r>
            <a:r>
              <a:rPr lang="zh-CN" altLang="en-US" dirty="0" smtClean="0">
                <a:solidFill>
                  <a:sysClr val="windowText" lastClr="000000"/>
                </a:solidFill>
                <a:ea typeface="+mn-lt"/>
                <a:cs typeface="Times New Roman" panose="02020603050405020304" pitchFamily="18" charset="0"/>
                <a:sym typeface="+mn-ea"/>
              </a:rPr>
              <a:t>得分基础上加分。</a:t>
            </a:r>
            <a:endParaRPr lang="zh-CN" altLang="en-US"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rgbClr val="FF0000"/>
                </a:solidFill>
                <a:ea typeface="+mn-lt"/>
                <a:cs typeface="Times New Roman" panose="02020603050405020304" pitchFamily="18" charset="0"/>
                <a:sym typeface="+mn-ea"/>
              </a:rPr>
              <a:t>个人贡献权重</a:t>
            </a:r>
            <a:r>
              <a:rPr lang="zh-CN" altLang="en-US" dirty="0" smtClean="0">
                <a:solidFill>
                  <a:sysClr val="windowText" lastClr="000000"/>
                </a:solidFill>
                <a:ea typeface="+mn-lt"/>
                <a:cs typeface="Times New Roman" panose="02020603050405020304" pitchFamily="18" charset="0"/>
                <a:sym typeface="+mn-ea"/>
              </a:rPr>
              <a:t>由</a:t>
            </a:r>
            <a:r>
              <a:rPr lang="zh-CN" altLang="en-US" b="1" dirty="0" smtClean="0">
                <a:solidFill>
                  <a:srgbClr val="FF0000"/>
                </a:solidFill>
                <a:ea typeface="+mn-lt"/>
                <a:cs typeface="Times New Roman" panose="02020603050405020304" pitchFamily="18" charset="0"/>
                <a:sym typeface="+mn-ea"/>
              </a:rPr>
              <a:t>个人报告</a:t>
            </a:r>
            <a:r>
              <a:rPr lang="zh-CN" altLang="en-US" dirty="0" smtClean="0">
                <a:solidFill>
                  <a:sysClr val="windowText" lastClr="000000"/>
                </a:solidFill>
                <a:ea typeface="+mn-lt"/>
                <a:cs typeface="Times New Roman" panose="02020603050405020304" pitchFamily="18" charset="0"/>
                <a:sym typeface="+mn-ea"/>
              </a:rPr>
              <a:t>及</a:t>
            </a:r>
            <a:r>
              <a:rPr lang="zh-CN" altLang="en-US" b="1" dirty="0" smtClean="0">
                <a:solidFill>
                  <a:srgbClr val="FF0000"/>
                </a:solidFill>
                <a:ea typeface="+mn-lt"/>
                <a:cs typeface="Times New Roman" panose="02020603050405020304" pitchFamily="18" charset="0"/>
                <a:sym typeface="+mn-ea"/>
              </a:rPr>
              <a:t>小组组内互评</a:t>
            </a:r>
            <a:r>
              <a:rPr lang="zh-CN" altLang="en-US" dirty="0" smtClean="0">
                <a:solidFill>
                  <a:sysClr val="windowText" lastClr="000000"/>
                </a:solidFill>
                <a:ea typeface="+mn-lt"/>
                <a:cs typeface="Times New Roman" panose="02020603050405020304" pitchFamily="18" charset="0"/>
                <a:sym typeface="+mn-ea"/>
              </a:rPr>
              <a:t>决定</a:t>
            </a:r>
            <a:r>
              <a:rPr lang="zh-CN" altLang="en-US" b="1" dirty="0" smtClean="0">
                <a:solidFill>
                  <a:srgbClr val="FF0000"/>
                </a:solidFill>
                <a:ea typeface="+mn-lt"/>
                <a:cs typeface="Times New Roman" panose="02020603050405020304" pitchFamily="18" charset="0"/>
                <a:sym typeface="+mn-ea"/>
              </a:rPr>
              <a:t>上下浮动</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p:txBody>
      </p:sp>
      <p:pic>
        <p:nvPicPr>
          <p:cNvPr id="3" name="图片 2"/>
          <p:cNvPicPr>
            <a:picLocks noChangeAspect="1"/>
          </p:cNvPicPr>
          <p:nvPr/>
        </p:nvPicPr>
        <p:blipFill>
          <a:blip r:embed="rId1"/>
          <a:stretch>
            <a:fillRect/>
          </a:stretch>
        </p:blipFill>
        <p:spPr>
          <a:xfrm>
            <a:off x="2197100" y="2809875"/>
            <a:ext cx="7610475" cy="1238250"/>
          </a:xfrm>
          <a:prstGeom prst="rect">
            <a:avLst/>
          </a:prstGeom>
        </p:spPr>
      </p:pic>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 name="菱形 3"/>
          <p:cNvSpPr/>
          <p:nvPr/>
        </p:nvSpPr>
        <p:spPr>
          <a:xfrm>
            <a:off x="4885690" y="2345690"/>
            <a:ext cx="2353310" cy="2353310"/>
          </a:xfrm>
          <a:prstGeom prst="diamond">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b="1">
                <a:solidFill>
                  <a:schemeClr val="bg1"/>
                </a:solidFill>
              </a:rPr>
              <a:t>开发环境</a:t>
            </a:r>
            <a:endParaRPr lang="zh-CN" altLang="en-US" b="1">
              <a:solidFill>
                <a:schemeClr val="bg1"/>
              </a:solidFill>
            </a:endParaRPr>
          </a:p>
        </p:txBody>
      </p:sp>
      <p:sp>
        <p:nvSpPr>
          <p:cNvPr id="5" name="菱形 4"/>
          <p:cNvSpPr/>
          <p:nvPr/>
        </p:nvSpPr>
        <p:spPr>
          <a:xfrm>
            <a:off x="7959725" y="2345690"/>
            <a:ext cx="2353310" cy="2353310"/>
          </a:xfrm>
          <a:prstGeom prst="diamond">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en-US" b="1">
                <a:solidFill>
                  <a:schemeClr val="bg1"/>
                </a:solidFill>
              </a:rPr>
              <a:t>开发需求</a:t>
            </a:r>
            <a:endParaRPr lang="zh-CN" altLang="en-US" b="1">
              <a:solidFill>
                <a:schemeClr val="bg1"/>
              </a:solidFill>
            </a:endParaRPr>
          </a:p>
        </p:txBody>
      </p:sp>
      <p:grpSp>
        <p:nvGrpSpPr>
          <p:cNvPr id="8" name="组合 7"/>
          <p:cNvGrpSpPr/>
          <p:nvPr/>
        </p:nvGrpSpPr>
        <p:grpSpPr>
          <a:xfrm>
            <a:off x="1897380" y="2252345"/>
            <a:ext cx="2555240" cy="2555240"/>
            <a:chOff x="2988" y="3547"/>
            <a:chExt cx="4024" cy="4024"/>
          </a:xfrm>
          <a:effectLst>
            <a:outerShdw blurRad="152400" dist="317500" dir="5400000" sx="90000" sy="-19000" rotWithShape="0">
              <a:prstClr val="black">
                <a:alpha val="15000"/>
              </a:prstClr>
            </a:outerShdw>
          </a:effectLst>
        </p:grpSpPr>
        <p:sp>
          <p:nvSpPr>
            <p:cNvPr id="3" name="菱形 2"/>
            <p:cNvSpPr/>
            <p:nvPr/>
          </p:nvSpPr>
          <p:spPr>
            <a:xfrm>
              <a:off x="3003" y="3694"/>
              <a:ext cx="3706" cy="3706"/>
            </a:xfrm>
            <a:prstGeom prst="diamond">
              <a:avLst/>
            </a:prstGeom>
            <a:ln>
              <a:solidFill>
                <a:srgbClr val="FCC196"/>
              </a:solidFill>
            </a:ln>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b="1">
                  <a:solidFill>
                    <a:schemeClr val="bg1"/>
                  </a:solidFill>
                </a:rPr>
                <a:t>开发背景</a:t>
              </a:r>
              <a:endParaRPr lang="zh-CN" altLang="en-US" b="1">
                <a:solidFill>
                  <a:schemeClr val="bg1"/>
                </a:solidFill>
              </a:endParaRPr>
            </a:p>
          </p:txBody>
        </p:sp>
        <p:sp>
          <p:nvSpPr>
            <p:cNvPr id="6" name="菱形 5"/>
            <p:cNvSpPr/>
            <p:nvPr/>
          </p:nvSpPr>
          <p:spPr>
            <a:xfrm>
              <a:off x="2988" y="3547"/>
              <a:ext cx="4024" cy="4024"/>
            </a:xfrm>
            <a:prstGeom prst="diamond">
              <a:avLst/>
            </a:prstGeom>
            <a:noFill/>
            <a:ln>
              <a:solidFill>
                <a:srgbClr val="FCBD8E"/>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77" name="文本框 76"/>
          <p:cNvSpPr txBox="1"/>
          <p:nvPr/>
        </p:nvSpPr>
        <p:spPr>
          <a:xfrm>
            <a:off x="1009650" y="353695"/>
            <a:ext cx="3597275" cy="521970"/>
          </a:xfrm>
          <a:prstGeom prst="rect">
            <a:avLst/>
          </a:prstGeom>
          <a:noFill/>
        </p:spPr>
        <p:txBody>
          <a:bodyPr wrap="squar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课程设计任务</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项目背景</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4" name="文本框 3"/>
          <p:cNvSpPr txBox="1"/>
          <p:nvPr/>
        </p:nvSpPr>
        <p:spPr>
          <a:xfrm>
            <a:off x="1009650" y="3789045"/>
            <a:ext cx="6652895" cy="155829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solidFill>
                  <a:sysClr val="windowText" lastClr="000000"/>
                </a:solidFill>
                <a:ea typeface="+mn-lt"/>
                <a:cs typeface="Times New Roman" panose="02020603050405020304" pitchFamily="18" charset="0"/>
                <a:sym typeface="+mn-ea"/>
              </a:rPr>
              <a:t>       </a:t>
            </a:r>
            <a:r>
              <a:rPr lang="zh-CN" altLang="en-US" b="1" dirty="0" smtClean="0">
                <a:solidFill>
                  <a:sysClr val="windowText" lastClr="000000"/>
                </a:solidFill>
                <a:ea typeface="+mn-lt"/>
                <a:cs typeface="Times New Roman" panose="02020603050405020304" pitchFamily="18" charset="0"/>
                <a:sym typeface="+mn-ea"/>
              </a:rPr>
              <a:t>机械臂</a:t>
            </a:r>
            <a:r>
              <a:rPr lang="zh-CN" altLang="en-US" b="1" dirty="0" smtClean="0">
                <a:solidFill>
                  <a:sysClr val="windowText" lastClr="000000"/>
                </a:solidFill>
                <a:ea typeface="+mn-lt"/>
                <a:cs typeface="Times New Roman" panose="02020603050405020304" pitchFamily="18" charset="0"/>
                <a:sym typeface="+mn-ea"/>
              </a:rPr>
              <a:t>背景</a:t>
            </a:r>
            <a:endParaRPr lang="zh-CN" altLang="en-US"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solidFill>
                  <a:sysClr val="windowText" lastClr="000000"/>
                </a:solidFill>
                <a:ea typeface="+mn-lt"/>
                <a:cs typeface="Times New Roman" panose="02020603050405020304" pitchFamily="18" charset="0"/>
                <a:sym typeface="+mn-ea"/>
              </a:rPr>
              <a:t>机械臂可以应用于不同的领域：如在工业生产线上，自动化机械臂可以协助完成焊接、搬运、精确操作等工作，有望提高工作效率和精度；在医疗卫生行业中，机械臂可以进行手术操作，帮助医生提高治疗效果。</a:t>
            </a:r>
            <a:endParaRPr dirty="0" smtClean="0">
              <a:solidFill>
                <a:sysClr val="windowText" lastClr="000000"/>
              </a:solidFill>
              <a:ea typeface="+mn-lt"/>
              <a:cs typeface="Times New Roman" panose="02020603050405020304" pitchFamily="18" charset="0"/>
              <a:sym typeface="+mn-ea"/>
            </a:endParaRPr>
          </a:p>
        </p:txBody>
      </p:sp>
      <p:sp>
        <p:nvSpPr>
          <p:cNvPr id="5" name="文本框 4"/>
          <p:cNvSpPr txBox="1"/>
          <p:nvPr/>
        </p:nvSpPr>
        <p:spPr>
          <a:xfrm>
            <a:off x="1009015" y="1736090"/>
            <a:ext cx="10307955" cy="128143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solidFill>
                  <a:sysClr val="windowText" lastClr="000000"/>
                </a:solidFill>
                <a:ea typeface="+mn-lt"/>
                <a:cs typeface="Times New Roman" panose="02020603050405020304" pitchFamily="18" charset="0"/>
                <a:sym typeface="+mn-ea"/>
              </a:rPr>
              <a:t>       </a:t>
            </a:r>
            <a:r>
              <a:rPr lang="zh-CN" altLang="en-US" b="1" dirty="0" smtClean="0">
                <a:solidFill>
                  <a:sysClr val="windowText" lastClr="000000"/>
                </a:solidFill>
                <a:ea typeface="+mn-lt"/>
                <a:cs typeface="Times New Roman" panose="02020603050405020304" pitchFamily="18" charset="0"/>
                <a:sym typeface="+mn-ea"/>
              </a:rPr>
              <a:t>项目背景</a:t>
            </a:r>
            <a:endParaRPr lang="zh-CN" altLang="en-US"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solidFill>
                  <a:sysClr val="windowText" lastClr="000000"/>
                </a:solidFill>
                <a:ea typeface="+mn-lt"/>
                <a:cs typeface="Times New Roman" panose="02020603050405020304" pitchFamily="18" charset="0"/>
                <a:sym typeface="+mn-ea"/>
              </a:rPr>
              <a:t>本次课程设计旨在开发一个基于Jetson主控板、搭载Linux系统和小型6自由度机械臂的项目。该项目目标是实现机械臂的自主控制，通过预先设定的指令集，使机械臂完成多项操作任务，如抓取物体、放置物体、拆卸组装等。</a:t>
            </a:r>
            <a:endParaRPr dirty="0" smtClean="0">
              <a:solidFill>
                <a:sysClr val="windowText" lastClr="000000"/>
              </a:solidFill>
              <a:ea typeface="+mn-lt"/>
              <a:cs typeface="Times New Roman" panose="02020603050405020304" pitchFamily="18"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7868920" y="3609975"/>
            <a:ext cx="3859530" cy="2585085"/>
          </a:xfrm>
          <a:prstGeom prst="rect">
            <a:avLst/>
          </a:prstGeom>
        </p:spPr>
      </p:pic>
    </p:spTree>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开发环境</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2" name="文本框 1"/>
          <p:cNvSpPr txBox="1"/>
          <p:nvPr/>
        </p:nvSpPr>
        <p:spPr>
          <a:xfrm>
            <a:off x="1651000" y="1157605"/>
            <a:ext cx="8578850" cy="5262245"/>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系统环境：</a:t>
            </a:r>
            <a:r>
              <a:rPr lang="en-US" altLang="zh-CN" b="1" dirty="0" smtClean="0">
                <a:solidFill>
                  <a:sysClr val="windowText" lastClr="000000"/>
                </a:solidFill>
                <a:ea typeface="+mn-lt"/>
                <a:cs typeface="Times New Roman" panose="02020603050405020304" pitchFamily="18" charset="0"/>
                <a:sym typeface="+mn-ea"/>
              </a:rPr>
              <a:t>Linux Ubantu &amp; Windows</a:t>
            </a:r>
            <a:endParaRPr lang="en-US" altLang="zh-CN"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dirty="0" smtClean="0">
                <a:solidFill>
                  <a:sysClr val="windowText" lastClr="000000"/>
                </a:solidFill>
                <a:ea typeface="+mn-lt"/>
                <a:cs typeface="Times New Roman" panose="02020603050405020304" pitchFamily="18" charset="0"/>
                <a:sym typeface="+mn-ea"/>
              </a:rPr>
              <a:t>后续环境的配置等都是在</a:t>
            </a:r>
            <a:r>
              <a:rPr lang="en-US" dirty="0" smtClean="0">
                <a:solidFill>
                  <a:sysClr val="windowText" lastClr="000000"/>
                </a:solidFill>
                <a:ea typeface="+mn-lt"/>
                <a:cs typeface="Times New Roman" panose="02020603050405020304" pitchFamily="18" charset="0"/>
                <a:sym typeface="+mn-ea"/>
              </a:rPr>
              <a:t>Windows</a:t>
            </a:r>
            <a:r>
              <a:rPr lang="zh-CN" altLang="en-US" dirty="0" smtClean="0">
                <a:solidFill>
                  <a:sysClr val="windowText" lastClr="000000"/>
                </a:solidFill>
                <a:ea typeface="+mn-lt"/>
                <a:cs typeface="Times New Roman" panose="02020603050405020304" pitchFamily="18" charset="0"/>
                <a:sym typeface="+mn-ea"/>
              </a:rPr>
              <a:t>环境下进行的。但部分代码需要在机械臂的</a:t>
            </a:r>
            <a:r>
              <a:rPr lang="en-US" altLang="zh-CN" dirty="0" smtClean="0">
                <a:solidFill>
                  <a:sysClr val="windowText" lastClr="000000"/>
                </a:solidFill>
                <a:ea typeface="+mn-lt"/>
                <a:cs typeface="Times New Roman" panose="02020603050405020304" pitchFamily="18" charset="0"/>
                <a:sym typeface="+mn-ea"/>
              </a:rPr>
              <a:t>Linux</a:t>
            </a:r>
            <a:r>
              <a:rPr lang="zh-CN" altLang="en-US" dirty="0" smtClean="0">
                <a:solidFill>
                  <a:sysClr val="windowText" lastClr="000000"/>
                </a:solidFill>
                <a:ea typeface="+mn-lt"/>
                <a:cs typeface="Times New Roman" panose="02020603050405020304" pitchFamily="18" charset="0"/>
                <a:sym typeface="+mn-ea"/>
              </a:rPr>
              <a:t>环境运行（</a:t>
            </a:r>
            <a:r>
              <a:rPr lang="en-US" altLang="zh-CN" dirty="0" smtClean="0">
                <a:solidFill>
                  <a:sysClr val="windowText" lastClr="000000"/>
                </a:solidFill>
                <a:ea typeface="+mn-lt"/>
                <a:cs typeface="Times New Roman" panose="02020603050405020304" pitchFamily="18" charset="0"/>
                <a:sym typeface="+mn-ea"/>
              </a:rPr>
              <a:t>python</a:t>
            </a:r>
            <a:r>
              <a:rPr lang="zh-CN" altLang="en-US" dirty="0" smtClean="0">
                <a:solidFill>
                  <a:sysClr val="windowText" lastClr="000000"/>
                </a:solidFill>
                <a:ea typeface="+mn-lt"/>
                <a:cs typeface="Times New Roman" panose="02020603050405020304" pitchFamily="18" charset="0"/>
                <a:sym typeface="+mn-ea"/>
              </a:rPr>
              <a:t>环境）。</a:t>
            </a:r>
            <a:endParaRPr lang="en-US"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编程语言：</a:t>
            </a:r>
            <a:r>
              <a:rPr lang="en-US" altLang="zh-CN" b="1" dirty="0" smtClean="0">
                <a:solidFill>
                  <a:sysClr val="windowText" lastClr="000000"/>
                </a:solidFill>
                <a:ea typeface="+mn-lt"/>
                <a:cs typeface="Times New Roman" panose="02020603050405020304" pitchFamily="18" charset="0"/>
                <a:sym typeface="+mn-ea"/>
              </a:rPr>
              <a:t>Python</a:t>
            </a:r>
            <a:endParaRPr lang="zh-CN" altLang="en-US"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dirty="0" smtClean="0">
                <a:solidFill>
                  <a:sysClr val="windowText" lastClr="000000"/>
                </a:solidFill>
                <a:ea typeface="+mn-lt"/>
                <a:cs typeface="Times New Roman" panose="02020603050405020304" pitchFamily="18" charset="0"/>
                <a:sym typeface="+mn-ea"/>
              </a:rPr>
              <a:t>相较于其它编程语言，</a:t>
            </a:r>
            <a:r>
              <a:rPr lang="en-US" altLang="zh-CN" dirty="0" smtClean="0">
                <a:solidFill>
                  <a:sysClr val="windowText" lastClr="000000"/>
                </a:solidFill>
                <a:ea typeface="+mn-lt"/>
                <a:cs typeface="Times New Roman" panose="02020603050405020304" pitchFamily="18" charset="0"/>
                <a:sym typeface="+mn-ea"/>
              </a:rPr>
              <a:t>Python</a:t>
            </a:r>
            <a:r>
              <a:rPr lang="zh-CN" altLang="en-US" dirty="0" smtClean="0">
                <a:solidFill>
                  <a:sysClr val="windowText" lastClr="000000"/>
                </a:solidFill>
                <a:ea typeface="+mn-lt"/>
                <a:cs typeface="Times New Roman" panose="02020603050405020304" pitchFamily="18" charset="0"/>
                <a:sym typeface="+mn-ea"/>
              </a:rPr>
              <a:t>在机器学习</a:t>
            </a:r>
            <a:r>
              <a:rPr lang="en-US" altLang="zh-CN" dirty="0" smtClean="0">
                <a:solidFill>
                  <a:sysClr val="windowText" lastClr="000000"/>
                </a:solidFill>
                <a:ea typeface="+mn-lt"/>
                <a:cs typeface="Times New Roman" panose="02020603050405020304" pitchFamily="18" charset="0"/>
                <a:sym typeface="+mn-ea"/>
              </a:rPr>
              <a:t>/</a:t>
            </a:r>
            <a:r>
              <a:rPr lang="zh-CN" altLang="en-US" dirty="0" smtClean="0">
                <a:solidFill>
                  <a:sysClr val="windowText" lastClr="000000"/>
                </a:solidFill>
                <a:ea typeface="+mn-lt"/>
                <a:cs typeface="Times New Roman" panose="02020603050405020304" pitchFamily="18" charset="0"/>
                <a:sym typeface="+mn-ea"/>
              </a:rPr>
              <a:t>深度学习及计算机视觉领域有集成度较好的库函数及模块可学习使用，便于</a:t>
            </a:r>
            <a:r>
              <a:rPr lang="zh-CN" altLang="en-US" dirty="0" smtClean="0">
                <a:solidFill>
                  <a:sysClr val="windowText" lastClr="000000"/>
                </a:solidFill>
                <a:ea typeface="+mn-lt"/>
                <a:cs typeface="Times New Roman" panose="02020603050405020304" pitchFamily="18" charset="0"/>
                <a:sym typeface="+mn-ea"/>
              </a:rPr>
              <a:t>理解和</a:t>
            </a:r>
            <a:r>
              <a:rPr lang="zh-CN" altLang="en-US" dirty="0" smtClean="0">
                <a:solidFill>
                  <a:sysClr val="windowText" lastClr="000000"/>
                </a:solidFill>
                <a:ea typeface="+mn-lt"/>
                <a:cs typeface="Times New Roman" panose="02020603050405020304" pitchFamily="18" charset="0"/>
                <a:sym typeface="+mn-ea"/>
              </a:rPr>
              <a:t>上手学习。</a:t>
            </a: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界面开发环境</a:t>
            </a:r>
            <a:r>
              <a:rPr lang="en-US" b="1" dirty="0" smtClean="0">
                <a:solidFill>
                  <a:sysClr val="windowText" lastClr="000000"/>
                </a:solidFill>
                <a:ea typeface="+mn-lt"/>
                <a:cs typeface="Times New Roman" panose="02020603050405020304" pitchFamily="18" charset="0"/>
                <a:sym typeface="+mn-ea"/>
              </a:rPr>
              <a:t>: QT</a:t>
            </a:r>
            <a:r>
              <a:rPr lang="zh-CN" altLang="en-US" b="1" dirty="0" smtClean="0">
                <a:solidFill>
                  <a:sysClr val="windowText" lastClr="000000"/>
                </a:solidFill>
                <a:ea typeface="+mn-lt"/>
                <a:cs typeface="Times New Roman" panose="02020603050405020304" pitchFamily="18" charset="0"/>
                <a:sym typeface="+mn-ea"/>
              </a:rPr>
              <a:t>，</a:t>
            </a:r>
            <a:r>
              <a:rPr lang="en-US" altLang="zh-CN" b="1" dirty="0" smtClean="0">
                <a:solidFill>
                  <a:sysClr val="windowText" lastClr="000000"/>
                </a:solidFill>
                <a:ea typeface="+mn-lt"/>
                <a:cs typeface="Times New Roman" panose="02020603050405020304" pitchFamily="18" charset="0"/>
                <a:sym typeface="+mn-ea"/>
              </a:rPr>
              <a:t>C#</a:t>
            </a:r>
            <a:r>
              <a:rPr lang="zh-CN" altLang="en-US" b="1" dirty="0" smtClean="0">
                <a:solidFill>
                  <a:sysClr val="windowText" lastClr="000000"/>
                </a:solidFill>
                <a:ea typeface="+mn-lt"/>
                <a:cs typeface="Times New Roman" panose="02020603050405020304" pitchFamily="18" charset="0"/>
                <a:sym typeface="+mn-ea"/>
              </a:rPr>
              <a:t>，</a:t>
            </a:r>
            <a:r>
              <a:rPr lang="en-US" altLang="zh-CN" b="1" dirty="0" smtClean="0">
                <a:solidFill>
                  <a:sysClr val="windowText" lastClr="000000"/>
                </a:solidFill>
                <a:ea typeface="+mn-lt"/>
                <a:cs typeface="Times New Roman" panose="02020603050405020304" pitchFamily="18" charset="0"/>
                <a:sym typeface="+mn-ea"/>
              </a:rPr>
              <a:t>Web</a:t>
            </a:r>
            <a:endParaRPr lang="en-US"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dirty="0" smtClean="0">
                <a:solidFill>
                  <a:sysClr val="windowText" lastClr="000000"/>
                </a:solidFill>
                <a:ea typeface="+mn-lt"/>
                <a:cs typeface="Times New Roman" panose="02020603050405020304" pitchFamily="18" charset="0"/>
                <a:sym typeface="+mn-ea"/>
              </a:rPr>
              <a:t>界面开发环境的安装及使用以</a:t>
            </a:r>
            <a:r>
              <a:rPr lang="en-US" altLang="zh-CN" dirty="0" smtClean="0">
                <a:solidFill>
                  <a:sysClr val="windowText" lastClr="000000"/>
                </a:solidFill>
                <a:ea typeface="+mn-lt"/>
                <a:cs typeface="Times New Roman" panose="02020603050405020304" pitchFamily="18" charset="0"/>
                <a:sym typeface="+mn-ea"/>
              </a:rPr>
              <a:t>QT</a:t>
            </a:r>
            <a:r>
              <a:rPr lang="zh-CN" altLang="en-US" dirty="0" smtClean="0">
                <a:solidFill>
                  <a:sysClr val="windowText" lastClr="000000"/>
                </a:solidFill>
                <a:ea typeface="+mn-lt"/>
                <a:cs typeface="Times New Roman" panose="02020603050405020304" pitchFamily="18" charset="0"/>
                <a:sym typeface="+mn-ea"/>
              </a:rPr>
              <a:t>作为样例，同学们如果有自己熟悉的其他编程环境（如</a:t>
            </a:r>
            <a:r>
              <a:rPr lang="en-US" dirty="0" smtClean="0">
                <a:solidFill>
                  <a:sysClr val="windowText" lastClr="000000"/>
                </a:solidFill>
                <a:ea typeface="+mn-lt"/>
                <a:cs typeface="Times New Roman" panose="02020603050405020304" pitchFamily="18" charset="0"/>
                <a:sym typeface="+mn-ea"/>
              </a:rPr>
              <a:t>C#</a:t>
            </a:r>
            <a:r>
              <a:rPr lang="zh-CN" altLang="en-US" dirty="0" smtClean="0">
                <a:solidFill>
                  <a:sysClr val="windowText" lastClr="000000"/>
                </a:solidFill>
                <a:ea typeface="+mn-lt"/>
                <a:cs typeface="Times New Roman" panose="02020603050405020304" pitchFamily="18" charset="0"/>
                <a:sym typeface="+mn-ea"/>
              </a:rPr>
              <a:t>，</a:t>
            </a:r>
            <a:r>
              <a:rPr lang="en-US" altLang="zh-CN" dirty="0" smtClean="0">
                <a:solidFill>
                  <a:sysClr val="windowText" lastClr="000000"/>
                </a:solidFill>
                <a:ea typeface="+mn-lt"/>
                <a:cs typeface="Times New Roman" panose="02020603050405020304" pitchFamily="18" charset="0"/>
                <a:sym typeface="+mn-ea"/>
              </a:rPr>
              <a:t>Web</a:t>
            </a:r>
            <a:r>
              <a:rPr lang="zh-CN" altLang="en-US" dirty="0" smtClean="0">
                <a:solidFill>
                  <a:sysClr val="windowText" lastClr="000000"/>
                </a:solidFill>
                <a:ea typeface="+mn-lt"/>
                <a:cs typeface="Times New Roman" panose="02020603050405020304" pitchFamily="18" charset="0"/>
                <a:sym typeface="+mn-ea"/>
              </a:rPr>
              <a:t>等）可使用自己熟悉的开发环境编程。</a:t>
            </a:r>
            <a:endParaRPr lang="en-US"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深度学习开发环境</a:t>
            </a:r>
            <a:r>
              <a:rPr lang="en-US" b="1" dirty="0" smtClean="0">
                <a:solidFill>
                  <a:sysClr val="windowText" lastClr="000000"/>
                </a:solidFill>
                <a:ea typeface="+mn-lt"/>
                <a:cs typeface="Times New Roman" panose="02020603050405020304" pitchFamily="18" charset="0"/>
                <a:sym typeface="+mn-ea"/>
              </a:rPr>
              <a:t>: Pycharm</a:t>
            </a:r>
            <a:endParaRPr lang="en-US"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en-US" altLang="zh-CN" dirty="0" smtClean="0">
                <a:solidFill>
                  <a:sysClr val="windowText" lastClr="000000"/>
                </a:solidFill>
                <a:ea typeface="+mn-lt"/>
                <a:cs typeface="Times New Roman" panose="02020603050405020304" pitchFamily="18" charset="0"/>
                <a:sym typeface="+mn-ea"/>
              </a:rPr>
              <a:t>PythonIDE</a:t>
            </a:r>
            <a:r>
              <a:rPr lang="zh-CN" altLang="en-US" dirty="0" smtClean="0">
                <a:solidFill>
                  <a:sysClr val="windowText" lastClr="000000"/>
                </a:solidFill>
                <a:ea typeface="+mn-lt"/>
                <a:cs typeface="Times New Roman" panose="02020603050405020304" pitchFamily="18" charset="0"/>
                <a:sym typeface="+mn-ea"/>
              </a:rPr>
              <a:t>的安装及使用以</a:t>
            </a:r>
            <a:r>
              <a:rPr lang="en-US" altLang="zh-CN" dirty="0" smtClean="0">
                <a:solidFill>
                  <a:sysClr val="windowText" lastClr="000000"/>
                </a:solidFill>
                <a:ea typeface="+mn-lt"/>
                <a:cs typeface="Times New Roman" panose="02020603050405020304" pitchFamily="18" charset="0"/>
                <a:sym typeface="+mn-ea"/>
              </a:rPr>
              <a:t>Pycharm</a:t>
            </a:r>
            <a:r>
              <a:rPr lang="zh-CN" altLang="en-US" dirty="0" smtClean="0">
                <a:solidFill>
                  <a:sysClr val="windowText" lastClr="000000"/>
                </a:solidFill>
                <a:ea typeface="+mn-lt"/>
                <a:cs typeface="Times New Roman" panose="02020603050405020304" pitchFamily="18" charset="0"/>
                <a:sym typeface="+mn-ea"/>
              </a:rPr>
              <a:t>作为样例，同学们如果有自己熟悉的其他编程环境（如</a:t>
            </a:r>
            <a:r>
              <a:rPr lang="en-US" altLang="zh-CN" dirty="0" smtClean="0">
                <a:solidFill>
                  <a:sysClr val="windowText" lastClr="000000"/>
                </a:solidFill>
                <a:ea typeface="+mn-lt"/>
                <a:cs typeface="Times New Roman" panose="02020603050405020304" pitchFamily="18" charset="0"/>
                <a:sym typeface="+mn-ea"/>
              </a:rPr>
              <a:t>VScode</a:t>
            </a:r>
            <a:r>
              <a:rPr lang="zh-CN" altLang="en-US" dirty="0" smtClean="0">
                <a:solidFill>
                  <a:sysClr val="windowText" lastClr="000000"/>
                </a:solidFill>
                <a:ea typeface="+mn-lt"/>
                <a:cs typeface="Times New Roman" panose="02020603050405020304" pitchFamily="18" charset="0"/>
                <a:sym typeface="+mn-ea"/>
              </a:rPr>
              <a:t>、</a:t>
            </a:r>
            <a:r>
              <a:rPr lang="en-US" altLang="zh-CN" dirty="0" smtClean="0">
                <a:solidFill>
                  <a:sysClr val="windowText" lastClr="000000"/>
                </a:solidFill>
                <a:ea typeface="+mn-lt"/>
                <a:cs typeface="Times New Roman" panose="02020603050405020304" pitchFamily="18" charset="0"/>
                <a:sym typeface="+mn-ea"/>
              </a:rPr>
              <a:t>Spyder</a:t>
            </a:r>
            <a:r>
              <a:rPr lang="zh-CN" altLang="en-US" dirty="0" smtClean="0">
                <a:solidFill>
                  <a:sysClr val="windowText" lastClr="000000"/>
                </a:solidFill>
                <a:ea typeface="+mn-lt"/>
                <a:cs typeface="Times New Roman" panose="02020603050405020304" pitchFamily="18" charset="0"/>
                <a:sym typeface="+mn-ea"/>
              </a:rPr>
              <a:t>等）可使用自己熟悉的开发环境编程</a:t>
            </a:r>
            <a:endParaRPr 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b="1" dirty="0" smtClean="0">
                <a:ea typeface="+mn-lt"/>
                <a:cs typeface="Times New Roman" panose="02020603050405020304" pitchFamily="18" charset="0"/>
                <a:sym typeface="+mn-ea"/>
              </a:rPr>
              <a:t>机械臂开发环境：</a:t>
            </a:r>
            <a:r>
              <a:rPr lang="en-US" altLang="zh-CN" b="1" dirty="0" smtClean="0">
                <a:ea typeface="+mn-lt"/>
                <a:cs typeface="Times New Roman" panose="02020603050405020304" pitchFamily="18" charset="0"/>
                <a:sym typeface="+mn-ea"/>
              </a:rPr>
              <a:t>JupyterLab </a:t>
            </a:r>
            <a:endParaRPr lang="en-US" altLang="zh-CN" b="1" dirty="0" smtClean="0">
              <a:ea typeface="+mn-lt"/>
              <a:cs typeface="Times New Roman" panose="02020603050405020304" pitchFamily="18" charset="0"/>
              <a:sym typeface="+mn-ea"/>
            </a:endParaRPr>
          </a:p>
          <a:p>
            <a:pPr indent="457200" defTabSz="1147445" fontAlgn="base">
              <a:lnSpc>
                <a:spcPct val="100000"/>
              </a:lnSpc>
              <a:spcBef>
                <a:spcPts val="640"/>
              </a:spcBef>
              <a:buClr>
                <a:srgbClr val="FFC000"/>
              </a:buClr>
              <a:buFont typeface="Wingdings" panose="05000000000000000000" pitchFamily="2" charset="2"/>
              <a:buNone/>
            </a:pPr>
            <a:r>
              <a:rPr lang="en-US" altLang="zh-CN" dirty="0" smtClean="0">
                <a:ea typeface="+mn-lt"/>
                <a:cs typeface="Times New Roman" panose="02020603050405020304" pitchFamily="18" charset="0"/>
                <a:sym typeface="+mn-ea"/>
              </a:rPr>
              <a:t>JupyterLab作为一种基于web的集成开发环境，你可以使用它操作终端、打开交互模式、查看摄像头画面等功能，还有灵活而强大的用户界面Python交互式模式可以直接输入代码，然后执行，并立刻得到结果</a:t>
            </a:r>
            <a:r>
              <a:rPr lang="zh-CN" altLang="en-US" dirty="0" smtClean="0">
                <a:ea typeface="+mn-lt"/>
                <a:cs typeface="Times New Roman" panose="02020603050405020304" pitchFamily="18" charset="0"/>
                <a:sym typeface="+mn-ea"/>
              </a:rPr>
              <a:t>。</a:t>
            </a:r>
            <a:endParaRPr lang="zh-CN" altLang="en-US"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开发需求</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开发流程</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pic>
        <p:nvPicPr>
          <p:cNvPr id="2" name="图片 1"/>
          <p:cNvPicPr>
            <a:picLocks noChangeAspect="1"/>
          </p:cNvPicPr>
          <p:nvPr>
            <p:custDataLst>
              <p:tags r:id="rId1"/>
            </p:custDataLst>
          </p:nvPr>
        </p:nvPicPr>
        <p:blipFill>
          <a:blip r:embed="rId2"/>
          <a:stretch>
            <a:fillRect/>
          </a:stretch>
        </p:blipFill>
        <p:spPr>
          <a:xfrm>
            <a:off x="814705" y="1707515"/>
            <a:ext cx="4495800" cy="4846320"/>
          </a:xfrm>
          <a:prstGeom prst="rect">
            <a:avLst/>
          </a:prstGeom>
        </p:spPr>
      </p:pic>
      <p:sp>
        <p:nvSpPr>
          <p:cNvPr id="3" name="文本框 2"/>
          <p:cNvSpPr txBox="1"/>
          <p:nvPr/>
        </p:nvSpPr>
        <p:spPr>
          <a:xfrm>
            <a:off x="1009650" y="1260475"/>
            <a:ext cx="6096000" cy="39878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sz="2000" b="1" dirty="0" smtClean="0">
                <a:solidFill>
                  <a:sysClr val="windowText" lastClr="000000"/>
                </a:solidFill>
                <a:ea typeface="+mn-lt"/>
                <a:cs typeface="Times New Roman" panose="02020603050405020304" pitchFamily="18" charset="0"/>
                <a:sym typeface="+mn-ea"/>
              </a:rPr>
              <a:t>题目</a:t>
            </a:r>
            <a:r>
              <a:rPr lang="en-US" altLang="zh-CN" sz="2000" b="1" dirty="0" smtClean="0">
                <a:solidFill>
                  <a:sysClr val="windowText" lastClr="000000"/>
                </a:solidFill>
                <a:ea typeface="+mn-lt"/>
                <a:cs typeface="Times New Roman" panose="02020603050405020304" pitchFamily="18" charset="0"/>
                <a:sym typeface="+mn-ea"/>
              </a:rPr>
              <a:t>:</a:t>
            </a:r>
            <a:r>
              <a:rPr lang="zh-CN" sz="2000" b="1" dirty="0" smtClean="0">
                <a:solidFill>
                  <a:sysClr val="windowText" lastClr="000000"/>
                </a:solidFill>
                <a:ea typeface="+mn-lt"/>
                <a:cs typeface="Times New Roman" panose="02020603050405020304" pitchFamily="18" charset="0"/>
                <a:sym typeface="+mn-ea"/>
              </a:rPr>
              <a:t>基于</a:t>
            </a:r>
            <a:r>
              <a:rPr lang="en-US" altLang="zh-CN" sz="2000" b="1" dirty="0" smtClean="0">
                <a:solidFill>
                  <a:sysClr val="windowText" lastClr="000000"/>
                </a:solidFill>
                <a:ea typeface="+mn-lt"/>
                <a:cs typeface="Times New Roman" panose="02020603050405020304" pitchFamily="18" charset="0"/>
                <a:sym typeface="+mn-ea"/>
              </a:rPr>
              <a:t>Dofbot</a:t>
            </a:r>
            <a:r>
              <a:rPr lang="zh-CN" altLang="en-US" sz="2000" b="1" dirty="0" smtClean="0">
                <a:solidFill>
                  <a:sysClr val="windowText" lastClr="000000"/>
                </a:solidFill>
                <a:ea typeface="+mn-lt"/>
                <a:cs typeface="Times New Roman" panose="02020603050405020304" pitchFamily="18" charset="0"/>
                <a:sym typeface="+mn-ea"/>
              </a:rPr>
              <a:t>和</a:t>
            </a:r>
            <a:r>
              <a:rPr lang="en-US" altLang="zh-CN" sz="2000" b="1" dirty="0" smtClean="0">
                <a:solidFill>
                  <a:sysClr val="windowText" lastClr="000000"/>
                </a:solidFill>
                <a:ea typeface="+mn-lt"/>
                <a:cs typeface="Times New Roman" panose="02020603050405020304" pitchFamily="18" charset="0"/>
                <a:sym typeface="+mn-ea"/>
              </a:rPr>
              <a:t>Yolov5</a:t>
            </a:r>
            <a:r>
              <a:rPr lang="zh-CN" altLang="en-US" sz="2000" b="1" dirty="0" smtClean="0">
                <a:solidFill>
                  <a:sysClr val="windowText" lastClr="000000"/>
                </a:solidFill>
                <a:ea typeface="+mn-lt"/>
                <a:cs typeface="Times New Roman" panose="02020603050405020304" pitchFamily="18" charset="0"/>
                <a:sym typeface="+mn-ea"/>
              </a:rPr>
              <a:t>的目标检测</a:t>
            </a:r>
            <a:endParaRPr lang="zh-CN" altLang="en-US" sz="2000" b="1" dirty="0" smtClean="0">
              <a:solidFill>
                <a:sysClr val="windowText" lastClr="000000"/>
              </a:solidFill>
              <a:ea typeface="+mn-lt"/>
              <a:cs typeface="Times New Roman" panose="02020603050405020304" pitchFamily="18" charset="0"/>
              <a:sym typeface="+mn-ea"/>
            </a:endParaRPr>
          </a:p>
        </p:txBody>
      </p:sp>
      <p:sp>
        <p:nvSpPr>
          <p:cNvPr id="5" name="文本框 4"/>
          <p:cNvSpPr txBox="1"/>
          <p:nvPr/>
        </p:nvSpPr>
        <p:spPr>
          <a:xfrm>
            <a:off x="6512560" y="2296160"/>
            <a:ext cx="4751070" cy="2849245"/>
          </a:xfrm>
          <a:prstGeom prst="rect">
            <a:avLst/>
          </a:prstGeom>
          <a:noFill/>
        </p:spPr>
        <p:txBody>
          <a:bodyPr wrap="square" rtlCol="0">
            <a:noAutofit/>
          </a:bodyPr>
          <a:p>
            <a:pPr marL="285750" indent="-285750">
              <a:buFont typeface="Arial" panose="020B0604020202020204" pitchFamily="34" charset="0"/>
              <a:buChar char="•"/>
            </a:pPr>
            <a:r>
              <a:rPr lang="zh-CN" altLang="en-US"/>
              <a:t>无论是客户端的代码建议在个人</a:t>
            </a:r>
            <a:r>
              <a:rPr lang="en-US" altLang="zh-CN"/>
              <a:t>pycharm</a:t>
            </a:r>
            <a:r>
              <a:rPr lang="zh-CN" altLang="en-US"/>
              <a:t>中完成，服务端的代码建议在</a:t>
            </a:r>
            <a:r>
              <a:rPr lang="en-US" altLang="zh-CN"/>
              <a:t>Jupyter</a:t>
            </a:r>
            <a:r>
              <a:rPr lang="zh-CN" altLang="en-US"/>
              <a:t>中完成，以方便调试。</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若想在宿舍远程连接机械臂</a:t>
            </a:r>
            <a:r>
              <a:rPr lang="en-US" altLang="zh-CN"/>
              <a:t>Jupyter</a:t>
            </a:r>
            <a:r>
              <a:rPr lang="zh-CN" altLang="en-US"/>
              <a:t>进行调试，则需保持两台设备在一个局域网下，即保持实验室里的机械臂开启并连接校园网，同时个人电脑也连接校园网。</a:t>
            </a:r>
            <a:endParaRPr lang="en-US" altLang="zh-CN"/>
          </a:p>
        </p:txBody>
      </p:sp>
      <p:cxnSp>
        <p:nvCxnSpPr>
          <p:cNvPr id="4" name="直接箭头连接符 3"/>
          <p:cNvCxnSpPr/>
          <p:nvPr/>
        </p:nvCxnSpPr>
        <p:spPr>
          <a:xfrm flipH="1">
            <a:off x="1697990" y="4988560"/>
            <a:ext cx="1637030" cy="715010"/>
          </a:xfrm>
          <a:prstGeom prst="straightConnector1">
            <a:avLst/>
          </a:prstGeom>
          <a:ln w="31750" cap="rnd">
            <a:solidFill>
              <a:prstClr val="black"/>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6" name="直接箭头连接符 5"/>
          <p:cNvCxnSpPr/>
          <p:nvPr>
            <p:custDataLst>
              <p:tags r:id="rId3"/>
            </p:custDataLst>
          </p:nvPr>
        </p:nvCxnSpPr>
        <p:spPr>
          <a:xfrm flipV="1">
            <a:off x="3013710" y="5019675"/>
            <a:ext cx="1232535" cy="715010"/>
          </a:xfrm>
          <a:prstGeom prst="straightConnector1">
            <a:avLst/>
          </a:prstGeom>
          <a:ln w="31750" cap="rnd">
            <a:solidFill>
              <a:prstClr val="black"/>
            </a:solidFill>
            <a:prstDash val="sysDot"/>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开发需求</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项目逻辑框架</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3" name="文本框 2"/>
          <p:cNvSpPr txBox="1"/>
          <p:nvPr/>
        </p:nvSpPr>
        <p:spPr>
          <a:xfrm>
            <a:off x="5281930" y="2880995"/>
            <a:ext cx="5286375" cy="1791970"/>
          </a:xfrm>
          <a:prstGeom prst="rect">
            <a:avLst/>
          </a:prstGeom>
          <a:noFill/>
        </p:spPr>
        <p:txBody>
          <a:bodyPr wrap="square" rtlCol="0" anchor="t">
            <a:noAutofit/>
          </a:bodyPr>
          <a:p>
            <a:pPr indent="0" defTabSz="1147445" fontAlgn="base">
              <a:lnSpc>
                <a:spcPct val="150000"/>
              </a:lnSpc>
              <a:spcBef>
                <a:spcPts val="640"/>
              </a:spcBef>
              <a:buClr>
                <a:srgbClr val="FFC000"/>
              </a:buClr>
              <a:buFont typeface="Wingdings" panose="05000000000000000000" pitchFamily="2" charset="2"/>
              <a:buNone/>
            </a:pPr>
            <a:r>
              <a:rPr lang="zh-CN" sz="2000" dirty="0" smtClean="0">
                <a:solidFill>
                  <a:sysClr val="windowText" lastClr="000000"/>
                </a:solidFill>
                <a:ea typeface="+mn-lt"/>
                <a:cs typeface="Times New Roman" panose="02020603050405020304" pitchFamily="18" charset="0"/>
                <a:sym typeface="+mn-ea"/>
              </a:rPr>
              <a:t>其中，客户端的通信框架和</a:t>
            </a:r>
            <a:r>
              <a:rPr lang="en-US" altLang="zh-CN" sz="2000" dirty="0" smtClean="0">
                <a:solidFill>
                  <a:sysClr val="windowText" lastClr="000000"/>
                </a:solidFill>
                <a:ea typeface="+mn-lt"/>
                <a:cs typeface="Times New Roman" panose="02020603050405020304" pitchFamily="18" charset="0"/>
                <a:sym typeface="+mn-ea"/>
              </a:rPr>
              <a:t>Yolov5</a:t>
            </a:r>
            <a:r>
              <a:rPr lang="zh-CN" altLang="en-US" sz="2000" dirty="0" smtClean="0">
                <a:solidFill>
                  <a:sysClr val="windowText" lastClr="000000"/>
                </a:solidFill>
                <a:ea typeface="+mn-lt"/>
                <a:cs typeface="Times New Roman" panose="02020603050405020304" pitchFamily="18" charset="0"/>
                <a:sym typeface="+mn-ea"/>
              </a:rPr>
              <a:t>模型的接口代码以及客户端的通信框架代码已经提供。</a:t>
            </a:r>
            <a:endParaRPr lang="zh-CN" altLang="en-US" sz="2000" dirty="0" smtClean="0">
              <a:solidFill>
                <a:sysClr val="windowText" lastClr="000000"/>
              </a:solidFill>
              <a:ea typeface="+mn-lt"/>
              <a:cs typeface="Times New Roman" panose="02020603050405020304" pitchFamily="18" charset="0"/>
              <a:sym typeface="+mn-ea"/>
            </a:endParaRPr>
          </a:p>
        </p:txBody>
      </p:sp>
      <p:pic>
        <p:nvPicPr>
          <p:cNvPr id="4" name="图片 3"/>
          <p:cNvPicPr>
            <a:picLocks noChangeAspect="1"/>
          </p:cNvPicPr>
          <p:nvPr>
            <p:custDataLst>
              <p:tags r:id="rId1"/>
            </p:custDataLst>
          </p:nvPr>
        </p:nvPicPr>
        <p:blipFill>
          <a:blip r:embed="rId2"/>
          <a:stretch>
            <a:fillRect/>
          </a:stretch>
        </p:blipFill>
        <p:spPr>
          <a:xfrm>
            <a:off x="1009650" y="1418590"/>
            <a:ext cx="3632835" cy="4716145"/>
          </a:xfrm>
          <a:prstGeom prst="rect">
            <a:avLst/>
          </a:prstGeom>
        </p:spPr>
      </p:pic>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开发需求</a:t>
            </a:r>
            <a:r>
              <a:rPr kumimoji="1" lang="en-US" altLang="zh-CN" sz="2800" b="1" noProof="0" dirty="0">
                <a:ln>
                  <a:noFill/>
                </a:ln>
                <a:solidFill>
                  <a:srgbClr val="005171"/>
                </a:solidFill>
                <a:effectLst/>
                <a:uLnTx/>
                <a:uFillTx/>
                <a:cs typeface="+mn-ea"/>
                <a:sym typeface="+mn-lt"/>
              </a:rPr>
              <a:t> </a:t>
            </a:r>
            <a:r>
              <a:rPr kumimoji="1" lang="zh-CN" altLang="en-US" sz="2000" b="1" noProof="0" dirty="0">
                <a:ln>
                  <a:noFill/>
                </a:ln>
                <a:solidFill>
                  <a:srgbClr val="005171"/>
                </a:solidFill>
                <a:effectLst/>
                <a:uLnTx/>
                <a:uFillTx/>
                <a:cs typeface="+mn-ea"/>
                <a:sym typeface="+mn-lt"/>
              </a:rPr>
              <a:t>客户端</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935355" y="1515745"/>
            <a:ext cx="10213340" cy="336423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sz="2000" b="1" dirty="0" smtClean="0">
                <a:ea typeface="+mn-lt"/>
                <a:cs typeface="Times New Roman" panose="02020603050405020304" pitchFamily="18" charset="0"/>
                <a:sym typeface="+mn-ea"/>
              </a:rPr>
              <a:t>客户端需求</a:t>
            </a:r>
            <a:r>
              <a:rPr lang="en-US" altLang="zh-CN" sz="2000" b="1" dirty="0" smtClean="0">
                <a:ea typeface="+mn-lt"/>
                <a:cs typeface="Times New Roman" panose="02020603050405020304" pitchFamily="18" charset="0"/>
                <a:sym typeface="+mn-ea"/>
              </a:rPr>
              <a:t>——</a:t>
            </a:r>
            <a:r>
              <a:rPr lang="zh-CN" altLang="en-US" sz="2000" b="1" dirty="0" smtClean="0">
                <a:ea typeface="+mn-lt"/>
                <a:cs typeface="Times New Roman" panose="02020603050405020304" pitchFamily="18" charset="0"/>
                <a:sym typeface="+mn-ea"/>
              </a:rPr>
              <a:t>目标检测模块</a:t>
            </a:r>
            <a:endParaRPr lang="zh-CN" sz="2000" b="1" dirty="0" smtClean="0">
              <a:ea typeface="+mn-lt"/>
              <a:cs typeface="Times New Roman" panose="02020603050405020304" pitchFamily="18" charset="0"/>
              <a:sym typeface="+mn-ea"/>
            </a:endParaRPr>
          </a:p>
          <a:p>
            <a:pPr indent="0" algn="l" defTabSz="1147445" fontAlgn="base">
              <a:lnSpc>
                <a:spcPct val="100000"/>
              </a:lnSpc>
              <a:spcBef>
                <a:spcPts val="640"/>
              </a:spcBef>
              <a:buClr>
                <a:srgbClr val="FFC000"/>
              </a:buClr>
              <a:buFont typeface="Wingdings" panose="05000000000000000000" pitchFamily="2" charset="2"/>
              <a:buNone/>
            </a:pPr>
            <a:endParaRPr lang="zh-CN" sz="2000" b="1" dirty="0" smtClean="0">
              <a:ea typeface="+mn-lt"/>
              <a:cs typeface="Times New Roman" panose="02020603050405020304" pitchFamily="18" charset="0"/>
              <a:sym typeface="+mn-ea"/>
            </a:endParaRPr>
          </a:p>
          <a:p>
            <a:pPr indent="0" algn="l" defTabSz="1147445" fontAlgn="base">
              <a:lnSpc>
                <a:spcPct val="100000"/>
              </a:lnSpc>
              <a:spcBef>
                <a:spcPts val="640"/>
              </a:spcBef>
              <a:buClr>
                <a:srgbClr val="FFC000"/>
              </a:buClr>
              <a:buFont typeface="Wingdings" panose="05000000000000000000" pitchFamily="2" charset="2"/>
              <a:buNone/>
            </a:pPr>
            <a:endParaRPr sz="2000" b="1" dirty="0" smtClean="0">
              <a:ea typeface="+mn-lt"/>
              <a:cs typeface="Times New Roman" panose="02020603050405020304" pitchFamily="18" charset="0"/>
              <a:sym typeface="+mn-ea"/>
            </a:endParaRPr>
          </a:p>
          <a:p>
            <a:pPr indent="0" algn="ctr" defTabSz="1147445" fontAlgn="base">
              <a:lnSpc>
                <a:spcPct val="100000"/>
              </a:lnSpc>
              <a:spcBef>
                <a:spcPts val="640"/>
              </a:spcBef>
              <a:buClr>
                <a:srgbClr val="FFC000"/>
              </a:buClr>
              <a:buFont typeface="Wingdings" panose="05000000000000000000" pitchFamily="2" charset="2"/>
              <a:buNone/>
            </a:pPr>
            <a:endParaRPr sz="2000" b="1"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接收机械臂发送的视频流</a:t>
            </a:r>
            <a:endParaRPr lang="zh-CN"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运用</a:t>
            </a:r>
            <a:r>
              <a:rPr lang="en-US" altLang="zh-CN" dirty="0" smtClean="0">
                <a:ea typeface="+mn-lt"/>
                <a:cs typeface="Times New Roman" panose="02020603050405020304" pitchFamily="18" charset="0"/>
                <a:sym typeface="+mn-ea"/>
              </a:rPr>
              <a:t>yolov5</a:t>
            </a:r>
            <a:r>
              <a:rPr lang="zh-CN" altLang="en-US" dirty="0" smtClean="0">
                <a:ea typeface="+mn-lt"/>
                <a:cs typeface="Times New Roman" panose="02020603050405020304" pitchFamily="18" charset="0"/>
                <a:sym typeface="+mn-ea"/>
              </a:rPr>
              <a:t>对视频流进行检测</a:t>
            </a:r>
            <a:endParaRPr lang="zh-CN" altLang="en-US"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获取识别目标的坐标</a:t>
            </a:r>
            <a:endParaRPr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数据分析，并将目标的坐标发送至服务端</a:t>
            </a:r>
            <a:endParaRPr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ea typeface="+mn-lt"/>
                <a:cs typeface="Times New Roman" panose="02020603050405020304" pitchFamily="18" charset="0"/>
                <a:sym typeface="+mn-ea"/>
              </a:rPr>
              <a:t>其他方面</a:t>
            </a:r>
            <a:r>
              <a:rPr lang="zh-CN" dirty="0" smtClean="0">
                <a:ea typeface="+mn-lt"/>
                <a:cs typeface="Times New Roman" panose="02020603050405020304" pitchFamily="18" charset="0"/>
                <a:sym typeface="+mn-ea"/>
              </a:rPr>
              <a:t>。除了以上流程外，设计额外的功能应用将会作为加分项被记录（如数据存储）</a:t>
            </a:r>
            <a:endParaRPr lang="en-US" altLang="zh-CN"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开发需求</a:t>
            </a:r>
            <a:r>
              <a:rPr kumimoji="1" lang="en-US" altLang="zh-CN" sz="2800" b="1" noProof="0" dirty="0">
                <a:ln>
                  <a:noFill/>
                </a:ln>
                <a:solidFill>
                  <a:srgbClr val="005171"/>
                </a:solidFill>
                <a:effectLst/>
                <a:uLnTx/>
                <a:uFillTx/>
                <a:cs typeface="+mn-ea"/>
                <a:sym typeface="+mn-lt"/>
              </a:rPr>
              <a:t> </a:t>
            </a:r>
            <a:r>
              <a:rPr kumimoji="1" lang="zh-CN" altLang="en-US" sz="2000" b="1" noProof="0" dirty="0">
                <a:ln>
                  <a:noFill/>
                </a:ln>
                <a:solidFill>
                  <a:srgbClr val="005171"/>
                </a:solidFill>
                <a:effectLst/>
                <a:uLnTx/>
                <a:uFillTx/>
                <a:cs typeface="+mn-ea"/>
                <a:sym typeface="+mn-lt"/>
              </a:rPr>
              <a:t>客户端</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2" name="文本框 1"/>
          <p:cNvSpPr txBox="1"/>
          <p:nvPr/>
        </p:nvSpPr>
        <p:spPr>
          <a:xfrm>
            <a:off x="1159510" y="1379220"/>
            <a:ext cx="10213340" cy="506730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altLang="en-US" sz="2000" b="1" dirty="0" smtClean="0">
                <a:solidFill>
                  <a:sysClr val="windowText" lastClr="000000"/>
                </a:solidFill>
                <a:ea typeface="+mn-lt"/>
                <a:cs typeface="Times New Roman" panose="02020603050405020304" pitchFamily="18" charset="0"/>
                <a:sym typeface="+mn-ea"/>
              </a:rPr>
              <a:t>客户端需求</a:t>
            </a:r>
            <a:r>
              <a:rPr lang="en-US" altLang="zh-CN" sz="2000" b="1" dirty="0" smtClean="0">
                <a:solidFill>
                  <a:sysClr val="windowText" lastClr="000000"/>
                </a:solidFill>
                <a:ea typeface="+mn-lt"/>
                <a:cs typeface="Times New Roman" panose="02020603050405020304" pitchFamily="18" charset="0"/>
                <a:sym typeface="+mn-ea"/>
              </a:rPr>
              <a:t>——</a:t>
            </a:r>
            <a:r>
              <a:rPr lang="zh-CN" altLang="en-US" sz="2000" b="1" dirty="0" smtClean="0">
                <a:solidFill>
                  <a:sysClr val="windowText" lastClr="000000"/>
                </a:solidFill>
                <a:ea typeface="+mn-lt"/>
                <a:cs typeface="Times New Roman" panose="02020603050405020304" pitchFamily="18" charset="0"/>
                <a:sym typeface="+mn-ea"/>
              </a:rPr>
              <a:t>上位机开发</a:t>
            </a: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利用</a:t>
            </a:r>
            <a:r>
              <a:rPr lang="en-US" altLang="zh-CN" dirty="0" smtClean="0">
                <a:ea typeface="+mn-lt"/>
                <a:cs typeface="Times New Roman" panose="02020603050405020304" pitchFamily="18" charset="0"/>
                <a:sym typeface="+mn-ea"/>
              </a:rPr>
              <a:t>Qt</a:t>
            </a:r>
            <a:r>
              <a:rPr lang="zh-CN" altLang="en-US" dirty="0" smtClean="0">
                <a:ea typeface="+mn-lt"/>
                <a:cs typeface="Times New Roman" panose="02020603050405020304" pitchFamily="18" charset="0"/>
                <a:sym typeface="+mn-ea"/>
              </a:rPr>
              <a:t>，设计一个</a:t>
            </a:r>
            <a:r>
              <a:rPr lang="en-US" altLang="zh-CN" dirty="0" smtClean="0">
                <a:ea typeface="+mn-lt"/>
                <a:cs typeface="Times New Roman" panose="02020603050405020304" pitchFamily="18" charset="0"/>
                <a:sym typeface="+mn-ea"/>
              </a:rPr>
              <a:t>UI</a:t>
            </a:r>
            <a:r>
              <a:rPr lang="zh-CN" altLang="en-US" dirty="0" smtClean="0">
                <a:ea typeface="+mn-lt"/>
                <a:cs typeface="Times New Roman" panose="02020603050405020304" pitchFamily="18" charset="0"/>
                <a:sym typeface="+mn-ea"/>
              </a:rPr>
              <a:t>界面，应包含但</a:t>
            </a:r>
            <a:r>
              <a:rPr lang="zh-CN" altLang="en-US" dirty="0" smtClean="0">
                <a:ea typeface="+mn-lt"/>
                <a:cs typeface="Times New Roman" panose="02020603050405020304" pitchFamily="18" charset="0"/>
                <a:sym typeface="+mn-ea"/>
              </a:rPr>
              <a:t>不限于以下内容：</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客户端到的视频流数据</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模型的输出结果</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机械臂相应的操作动作</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显示机器目前的状态（运动？静止？）</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基本的交互功能：如发送任务指令，结束运动等。</a:t>
            </a:r>
            <a:endParaRPr lang="en-US" altLang="zh-CN"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b="1"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b="1" dirty="0" smtClean="0">
                <a:ea typeface="+mn-lt"/>
                <a:cs typeface="Times New Roman" panose="02020603050405020304" pitchFamily="18" charset="0"/>
                <a:sym typeface="+mn-ea"/>
              </a:rPr>
              <a:t>注意事项：</a:t>
            </a:r>
            <a:endParaRPr lang="zh-CN" b="1"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设</a:t>
            </a:r>
            <a:r>
              <a:rPr lang="zh-CN" dirty="0" smtClean="0">
                <a:solidFill>
                  <a:schemeClr val="tx1"/>
                </a:solidFill>
                <a:ea typeface="+mn-lt"/>
                <a:cs typeface="Times New Roman" panose="02020603050405020304" pitchFamily="18" charset="0"/>
                <a:sym typeface="+mn-ea"/>
              </a:rPr>
              <a:t>计符合需求功能、清晰简明</a:t>
            </a:r>
            <a:r>
              <a:rPr lang="zh-CN" dirty="0" smtClean="0">
                <a:ea typeface="+mn-lt"/>
                <a:cs typeface="Times New Roman" panose="02020603050405020304" pitchFamily="18" charset="0"/>
                <a:sym typeface="+mn-ea"/>
              </a:rPr>
              <a:t>的软件界面。</a:t>
            </a:r>
            <a:endParaRPr lang="zh-CN"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软件功能首先需要包括课程设计后述所指定的功能。</a:t>
            </a:r>
            <a:endParaRPr lang="zh-CN"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界面的设计应贴合实际操作，尽可能做到功能直观、排版简洁。</a:t>
            </a:r>
            <a:endParaRPr lang="zh-CN" altLang="en-US"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开发需求</a:t>
            </a:r>
            <a:r>
              <a:rPr kumimoji="1" lang="en-US" altLang="zh-CN" sz="2800" b="1" noProof="0" dirty="0">
                <a:ln>
                  <a:noFill/>
                </a:ln>
                <a:solidFill>
                  <a:srgbClr val="005171"/>
                </a:solidFill>
                <a:effectLst/>
                <a:uLnTx/>
                <a:uFillTx/>
                <a:cs typeface="+mn-ea"/>
                <a:sym typeface="+mn-lt"/>
              </a:rPr>
              <a:t> </a:t>
            </a:r>
            <a:r>
              <a:rPr kumimoji="1" lang="zh-CN" altLang="en-US" sz="2000" b="1" noProof="0" dirty="0">
                <a:ln>
                  <a:noFill/>
                </a:ln>
                <a:solidFill>
                  <a:srgbClr val="005171"/>
                </a:solidFill>
                <a:effectLst/>
                <a:uLnTx/>
                <a:uFillTx/>
                <a:cs typeface="+mn-ea"/>
                <a:sym typeface="+mn-lt"/>
              </a:rPr>
              <a:t>服务端</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1159510" y="1515745"/>
            <a:ext cx="10213340" cy="441071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sz="2000" b="1" dirty="0" smtClean="0">
                <a:solidFill>
                  <a:sysClr val="windowText" lastClr="000000"/>
                </a:solidFill>
                <a:ea typeface="+mn-lt"/>
                <a:cs typeface="Times New Roman" panose="02020603050405020304" pitchFamily="18" charset="0"/>
                <a:sym typeface="+mn-ea"/>
              </a:rPr>
              <a:t>服务端需求</a:t>
            </a:r>
            <a:endParaRPr 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建立与客户端的连接（</a:t>
            </a:r>
            <a:r>
              <a:rPr lang="en-US" altLang="zh-CN" dirty="0" smtClean="0">
                <a:ea typeface="+mn-lt"/>
                <a:cs typeface="Times New Roman" panose="02020603050405020304" pitchFamily="18" charset="0"/>
                <a:sym typeface="+mn-ea"/>
              </a:rPr>
              <a:t>TCP</a:t>
            </a:r>
            <a:r>
              <a:rPr lang="zh-CN" altLang="en-US" dirty="0" smtClean="0">
                <a:ea typeface="+mn-lt"/>
                <a:cs typeface="Times New Roman" panose="02020603050405020304" pitchFamily="18" charset="0"/>
                <a:sym typeface="+mn-ea"/>
              </a:rPr>
              <a:t>协议）</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向客户端发送视频流</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对客户端传回的坐标进行解析</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根据解析结果，控制机械臂舵机完成对应的动作</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动作完成后向客户端发送结束标志</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机械臂舵机</a:t>
            </a:r>
            <a:endParaRPr lang="zh-CN" altLang="en-US"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sz="2800" b="1" i="0" u="none" strike="noStrike" kern="1200" cap="none" spc="0" normalizeH="0" baseline="0" noProof="0" dirty="0">
                <a:ln>
                  <a:noFill/>
                </a:ln>
                <a:solidFill>
                  <a:srgbClr val="005171"/>
                </a:solidFill>
                <a:effectLst/>
                <a:uLnTx/>
                <a:uFillTx/>
                <a:cs typeface="+mn-ea"/>
                <a:sym typeface="+mn-lt"/>
              </a:rPr>
              <a:t>开发需求</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其它</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1159510" y="1515745"/>
            <a:ext cx="10213340" cy="354838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sz="2000" b="1" dirty="0" smtClean="0">
                <a:solidFill>
                  <a:sysClr val="windowText" lastClr="000000"/>
                </a:solidFill>
                <a:ea typeface="+mn-lt"/>
                <a:cs typeface="Times New Roman" panose="02020603050405020304" pitchFamily="18" charset="0"/>
                <a:sym typeface="+mn-ea"/>
              </a:rPr>
              <a:t>拓展模块（选做）</a:t>
            </a:r>
            <a:endParaRPr lang="zh-CN" sz="2000" b="1" dirty="0" smtClean="0">
              <a:solidFill>
                <a:sysClr val="windowText" lastClr="000000"/>
              </a:solidFill>
              <a:ea typeface="+mn-lt"/>
              <a:cs typeface="Times New Roman" panose="02020603050405020304" pitchFamily="18" charset="0"/>
              <a:sym typeface="+mn-ea"/>
            </a:endParaRPr>
          </a:p>
          <a:p>
            <a:pPr indent="0" algn="ctr" defTabSz="1147445" fontAlgn="base">
              <a:lnSpc>
                <a:spcPct val="100000"/>
              </a:lnSpc>
              <a:spcBef>
                <a:spcPts val="640"/>
              </a:spcBef>
              <a:buClr>
                <a:srgbClr val="FFC000"/>
              </a:buClr>
              <a:buFont typeface="Wingdings" panose="05000000000000000000" pitchFamily="2" charset="2"/>
              <a:buNone/>
            </a:pPr>
            <a:endParaRPr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ea typeface="+mn-lt"/>
                <a:cs typeface="Times New Roman" panose="02020603050405020304" pitchFamily="18" charset="0"/>
                <a:sym typeface="+mn-ea"/>
              </a:rPr>
              <a:t>其他方面</a:t>
            </a:r>
            <a:r>
              <a:rPr lang="zh-CN" dirty="0" smtClean="0">
                <a:ea typeface="+mn-lt"/>
                <a:cs typeface="Times New Roman" panose="02020603050405020304" pitchFamily="18" charset="0"/>
                <a:sym typeface="+mn-ea"/>
              </a:rPr>
              <a:t>。除上述必要功能外，如果有兴趣拓展程序功能，可以尝试进一步开发，并在汇报展示时说明，所设计的内容将会被记录并作为加分项参考。</a:t>
            </a:r>
            <a:endParaRPr lang="zh-CN"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提供几个思考方向：</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数据的可视化（如自己开发一个安卓客户端，更加丰富的</a:t>
            </a:r>
            <a:r>
              <a:rPr lang="en-US" altLang="zh-CN" dirty="0" smtClean="0">
                <a:ea typeface="+mn-lt"/>
                <a:cs typeface="Times New Roman" panose="02020603050405020304" pitchFamily="18" charset="0"/>
                <a:sym typeface="+mn-ea"/>
              </a:rPr>
              <a:t>UI</a:t>
            </a:r>
            <a:r>
              <a:rPr lang="zh-CN" altLang="en-US" dirty="0" smtClean="0">
                <a:ea typeface="+mn-lt"/>
                <a:cs typeface="Times New Roman" panose="02020603050405020304" pitchFamily="18" charset="0"/>
                <a:sym typeface="+mn-ea"/>
              </a:rPr>
              <a:t>样式等）</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其它更多功能的实现</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算法的改进</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en-US" altLang="zh-CN" dirty="0" smtClean="0">
                <a:ea typeface="+mn-lt"/>
                <a:cs typeface="Times New Roman" panose="02020603050405020304" pitchFamily="18" charset="0"/>
                <a:sym typeface="+mn-ea"/>
              </a:rPr>
              <a:t>...</a:t>
            </a:r>
            <a:endParaRPr lang="en-US" altLang="zh-CN"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r>
              <a:rPr kumimoji="1" lang="zh-CN" sz="2800" b="1" i="0" kern="1200" cap="none" spc="0" normalizeH="0" baseline="0" noProof="0" dirty="0">
                <a:solidFill>
                  <a:srgbClr val="005171"/>
                </a:solidFill>
                <a:cs typeface="+mn-ea"/>
                <a:sym typeface="+mn-lt"/>
              </a:rPr>
              <a:t>开发需求</a:t>
            </a:r>
            <a:r>
              <a:rPr kumimoji="1" lang="en-US" altLang="zh-CN" sz="2800" b="1" i="0" kern="1200" cap="none" spc="0" normalizeH="0" baseline="0" noProof="0" dirty="0">
                <a:solidFill>
                  <a:srgbClr val="005171"/>
                </a:solidFill>
                <a:cs typeface="+mn-ea"/>
                <a:sym typeface="+mn-lt"/>
              </a:rPr>
              <a:t> </a:t>
            </a:r>
            <a:r>
              <a:rPr kumimoji="1" lang="zh-CN" altLang="en-US" sz="2000" b="1" i="0" kern="1200" cap="none" spc="0" normalizeH="0" baseline="0" noProof="0" dirty="0">
                <a:solidFill>
                  <a:srgbClr val="005171"/>
                </a:solidFill>
                <a:cs typeface="+mn-ea"/>
                <a:sym typeface="+mn-lt"/>
              </a:rPr>
              <a:t>案例</a:t>
            </a:r>
            <a:endParaRPr kumimoji="1" lang="en-US" altLang="zh-CN" sz="2000" b="1" i="0" kern="1200" cap="none" spc="0" normalizeH="0" baseline="0" noProof="0" dirty="0">
              <a:solidFill>
                <a:srgbClr val="005171"/>
              </a:solidFill>
              <a:cs typeface="+mn-ea"/>
              <a:sym typeface="+mn-lt"/>
            </a:endParaRPr>
          </a:p>
        </p:txBody>
      </p:sp>
      <p:sp>
        <p:nvSpPr>
          <p:cNvPr id="5" name="文本框 4"/>
          <p:cNvSpPr txBox="1"/>
          <p:nvPr/>
        </p:nvSpPr>
        <p:spPr>
          <a:xfrm>
            <a:off x="1159510" y="1505585"/>
            <a:ext cx="9228455" cy="1320800"/>
          </a:xfrm>
          <a:prstGeom prst="rect">
            <a:avLst/>
          </a:prstGeom>
          <a:noFill/>
        </p:spPr>
        <p:txBody>
          <a:bodyPr wrap="square" rtlCol="0" anchor="t">
            <a:noAutofit/>
          </a:bodyPr>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案例：手势识别固定动作</a:t>
            </a:r>
            <a:endParaRPr lang="zh-CN" altLang="en-US" b="1" dirty="0" smtClean="0">
              <a:solidFill>
                <a:sysClr val="windowText" lastClr="000000"/>
              </a:solidFill>
              <a:ea typeface="+mn-lt"/>
              <a:cs typeface="Times New Roman" panose="02020603050405020304" pitchFamily="18" charset="0"/>
              <a:sym typeface="+mn-ea"/>
            </a:endParaRPr>
          </a:p>
          <a:p>
            <a:pPr marL="285750" indent="-285750" defTabSz="1147445" fontAlgn="base">
              <a:lnSpc>
                <a:spcPct val="100000"/>
              </a:lnSpc>
              <a:spcBef>
                <a:spcPts val="640"/>
              </a:spcBef>
              <a:buClr>
                <a:srgbClr val="FFC000"/>
              </a:buClr>
              <a:buFont typeface="Arial" panose="020B0604020202020204" pitchFamily="34" charset="0"/>
              <a:buChar char="•"/>
            </a:pPr>
            <a:r>
              <a:rPr lang="zh-CN" dirty="0" smtClean="0">
                <a:ea typeface="+mn-lt"/>
                <a:cs typeface="Times New Roman" panose="02020603050405020304" pitchFamily="18" charset="0"/>
                <a:sym typeface="+mn-ea"/>
              </a:rPr>
              <a:t>各组采集手势图片并自行标注，训练出对应的动作识别模型。建议每个动作</a:t>
            </a:r>
            <a:r>
              <a:rPr lang="en-US" altLang="zh-CN" dirty="0" smtClean="0">
                <a:ea typeface="+mn-lt"/>
                <a:cs typeface="Times New Roman" panose="02020603050405020304" pitchFamily="18" charset="0"/>
                <a:sym typeface="+mn-ea"/>
              </a:rPr>
              <a:t>100</a:t>
            </a:r>
            <a:r>
              <a:rPr lang="zh-CN" altLang="en-US" dirty="0" smtClean="0">
                <a:ea typeface="+mn-lt"/>
                <a:cs typeface="Times New Roman" panose="02020603050405020304" pitchFamily="18" charset="0"/>
                <a:sym typeface="+mn-ea"/>
              </a:rPr>
              <a:t>张左右，不同人不同手型不同角度分布拍摄。</a:t>
            </a:r>
            <a:endParaRPr lang="zh-CN" dirty="0" smtClean="0">
              <a:ea typeface="+mn-lt"/>
              <a:cs typeface="Times New Roman" panose="02020603050405020304" pitchFamily="18" charset="0"/>
              <a:sym typeface="+mn-ea"/>
            </a:endParaRPr>
          </a:p>
          <a:p>
            <a:pPr marL="285750" indent="-285750" defTabSz="1147445" fontAlgn="base">
              <a:lnSpc>
                <a:spcPct val="100000"/>
              </a:lnSpc>
              <a:spcBef>
                <a:spcPts val="640"/>
              </a:spcBef>
              <a:buClr>
                <a:srgbClr val="FFC000"/>
              </a:buClr>
              <a:buFont typeface="Arial" panose="020B0604020202020204" pitchFamily="34" charset="0"/>
              <a:buChar char="•"/>
            </a:pPr>
            <a:r>
              <a:rPr lang="zh-CN" dirty="0" smtClean="0">
                <a:ea typeface="+mn-lt"/>
                <a:cs typeface="Times New Roman" panose="02020603050405020304" pitchFamily="18" charset="0"/>
                <a:sym typeface="+mn-ea"/>
              </a:rPr>
              <a:t>如果识别到设定的手势动作，机械臂会做对应的动作，目前机械臂自带的代码中含有的组合有：</a:t>
            </a:r>
            <a:endParaRPr lang="zh-CN" dirty="0" smtClean="0">
              <a:ea typeface="+mn-lt"/>
              <a:cs typeface="Times New Roman" panose="02020603050405020304" pitchFamily="18" charset="0"/>
              <a:sym typeface="+mn-ea"/>
            </a:endParaRPr>
          </a:p>
        </p:txBody>
      </p:sp>
      <p:pic>
        <p:nvPicPr>
          <p:cNvPr id="2" name="图片 1"/>
          <p:cNvPicPr>
            <a:picLocks noChangeAspect="1"/>
          </p:cNvPicPr>
          <p:nvPr>
            <p:custDataLst>
              <p:tags r:id="rId1"/>
            </p:custDataLst>
          </p:nvPr>
        </p:nvPicPr>
        <p:blipFill>
          <a:blip r:embed="rId2"/>
          <a:stretch>
            <a:fillRect/>
          </a:stretch>
        </p:blipFill>
        <p:spPr>
          <a:xfrm>
            <a:off x="1320800" y="3126105"/>
            <a:ext cx="9806940" cy="3177540"/>
          </a:xfrm>
          <a:prstGeom prst="rect">
            <a:avLst/>
          </a:prstGeom>
        </p:spPr>
      </p:pic>
    </p:spTree>
  </p:cSld>
  <p:clrMapOvr>
    <a:masterClrMapping/>
  </p:clrMapOvr>
  <p:transition spd="slow">
    <p:wipe/>
  </p:transition>
  <p:timing>
    <p:tnLst>
      <p:par>
        <p:cTn id="1" dur="indefinite" restart="never" nodeType="tmRoot"/>
      </p:par>
    </p:tnLst>
  </p:timing>
</p:sld>
</file>

<file path=ppt/tags/tag1.xml><?xml version="1.0" encoding="utf-8"?>
<p:tagLst xmlns:p="http://schemas.openxmlformats.org/presentationml/2006/main">
  <p:tag name="PA" val="v4.3.1"/>
</p:tagLst>
</file>

<file path=ppt/tags/tag2.xml><?xml version="1.0" encoding="utf-8"?>
<p:tagLst xmlns:p="http://schemas.openxmlformats.org/presentationml/2006/main">
  <p:tag name="PA" val="v4.3.1"/>
</p:tagLst>
</file>

<file path=ppt/tags/tag3.xml><?xml version="1.0" encoding="utf-8"?>
<p:tagLst xmlns:p="http://schemas.openxmlformats.org/presentationml/2006/main">
  <p:tag name="PA" val="v4.3.1"/>
</p:tagLst>
</file>

<file path=ppt/tags/tag4.xml><?xml version="1.0" encoding="utf-8"?>
<p:tagLst xmlns:p="http://schemas.openxmlformats.org/presentationml/2006/main">
  <p:tag name="PA" val="v4.3.1"/>
</p:tagLst>
</file>

<file path=ppt/tags/tag5.xml><?xml version="1.0" encoding="utf-8"?>
<p:tagLst xmlns:p="http://schemas.openxmlformats.org/presentationml/2006/main">
  <p:tag name="PA" val="v4.3.1"/>
</p:tagLst>
</file>

<file path=ppt/tags/tag6.xml><?xml version="1.0" encoding="utf-8"?>
<p:tagLst xmlns:p="http://schemas.openxmlformats.org/presentationml/2006/main">
  <p:tag name="PA" val="v4.3.1"/>
</p:tagLst>
</file>

<file path=ppt/tags/tag7.xml><?xml version="1.0" encoding="utf-8"?>
<p:tagLst xmlns:p="http://schemas.openxmlformats.org/presentationml/2006/main">
  <p:tag name="PA" val="v4.3.1"/>
</p:tagLst>
</file>

<file path=ppt/tags/tag8.xml><?xml version="1.0" encoding="utf-8"?>
<p:tagLst xmlns:p="http://schemas.openxmlformats.org/presentationml/2006/main">
  <p:tag name="PA" val="v4.3.1"/>
</p:tagLst>
</file>

<file path=ppt/tags/tag9.xml><?xml version="1.0" encoding="utf-8"?>
<p:tagLst xmlns:p="http://schemas.openxmlformats.org/presentationml/2006/main">
  <p:tag name="PA" val="v4.3.1"/>
</p:tagLst>
</file>

<file path=ppt/tags/tag10.xml><?xml version="1.0" encoding="utf-8"?>
<p:tagLst xmlns:p="http://schemas.openxmlformats.org/presentationml/2006/main">
  <p:tag name="PA" val="v4.3.1"/>
</p:tagLst>
</file>

<file path=ppt/tags/tag11.xml><?xml version="1.0" encoding="utf-8"?>
<p:tagLst xmlns:p="http://schemas.openxmlformats.org/presentationml/2006/main">
  <p:tag name="PA" val="v4.3.1"/>
</p:tagLst>
</file>

<file path=ppt/tags/tag12.xml><?xml version="1.0" encoding="utf-8"?>
<p:tagLst xmlns:p="http://schemas.openxmlformats.org/presentationml/2006/main">
  <p:tag name="PA" val="v4.3.1"/>
</p:tagLst>
</file>

<file path=ppt/tags/tag13.xml><?xml version="1.0" encoding="utf-8"?>
<p:tagLst xmlns:p="http://schemas.openxmlformats.org/presentationml/2006/main">
  <p:tag name="PA" val="v4.3.1"/>
</p:tagLst>
</file>

<file path=ppt/tags/tag14.xml><?xml version="1.0" encoding="utf-8"?>
<p:tagLst xmlns:p="http://schemas.openxmlformats.org/presentationml/2006/main">
  <p:tag name="PA" val="v4.3.1"/>
</p:tagLst>
</file>

<file path=ppt/tags/tag15.xml><?xml version="1.0" encoding="utf-8"?>
<p:tagLst xmlns:p="http://schemas.openxmlformats.org/presentationml/2006/main">
  <p:tag name="PA" val="v4.3.1"/>
</p:tagLst>
</file>

<file path=ppt/tags/tag16.xml><?xml version="1.0" encoding="utf-8"?>
<p:tagLst xmlns:p="http://schemas.openxmlformats.org/presentationml/2006/main">
  <p:tag name="PA" val="v4.3.1"/>
</p:tagLst>
</file>

<file path=ppt/tags/tag17.xml><?xml version="1.0" encoding="utf-8"?>
<p:tagLst xmlns:p="http://schemas.openxmlformats.org/presentationml/2006/main">
  <p:tag name="PA" val="v4.3.1"/>
</p:tagLst>
</file>

<file path=ppt/tags/tag18.xml><?xml version="1.0" encoding="utf-8"?>
<p:tagLst xmlns:p="http://schemas.openxmlformats.org/presentationml/2006/main">
  <p:tag name="PA" val="v4.3.1"/>
</p:tagLst>
</file>

<file path=ppt/tags/tag19.xml><?xml version="1.0" encoding="utf-8"?>
<p:tagLst xmlns:p="http://schemas.openxmlformats.org/presentationml/2006/main">
  <p:tag name="PA" val="v4.3.1"/>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COMMONDATA" val="eyJoZGlkIjoiMGUyNzFjZDYxNzg2MTYyNDE0NDM0YWY3MzNjZGNlY2IifQ=="/>
  <p:tag name="KSO_WPP_MARK_KEY" val="a8e486c8-5021-4604-b49a-e28f1288c611"/>
  <p:tag name="commondata" val="eyJoZGlkIjoiZmRjMjU5ZTFhOWI2MDVmNWE4MGFhNGFhZjhjMjdiYjAifQ=="/>
</p:tagLst>
</file>

<file path=ppt/theme/theme1.xml><?xml version="1.0" encoding="utf-8"?>
<a:theme xmlns:a="http://schemas.openxmlformats.org/drawingml/2006/main" name="第一PPT，www.1ppt.com ">
  <a:themeElements>
    <a:clrScheme name="PitchLabs Default">
      <a:dk1>
        <a:srgbClr val="27282D"/>
      </a:dk1>
      <a:lt1>
        <a:srgbClr val="FFFFFF"/>
      </a:lt1>
      <a:dk2>
        <a:srgbClr val="424859"/>
      </a:dk2>
      <a:lt2>
        <a:srgbClr val="EAEAEA"/>
      </a:lt2>
      <a:accent1>
        <a:srgbClr val="F4397A"/>
      </a:accent1>
      <a:accent2>
        <a:srgbClr val="F35208"/>
      </a:accent2>
      <a:accent3>
        <a:srgbClr val="F2C901"/>
      </a:accent3>
      <a:accent4>
        <a:srgbClr val="01E0AD"/>
      </a:accent4>
      <a:accent5>
        <a:srgbClr val="70C3D6"/>
      </a:accent5>
      <a:accent6>
        <a:srgbClr val="3A4AAF"/>
      </a:accent6>
      <a:hlink>
        <a:srgbClr val="01E0AD"/>
      </a:hlink>
      <a:folHlink>
        <a:srgbClr val="70C3D6"/>
      </a:folHlink>
    </a:clrScheme>
    <a:fontScheme name="j21wfmou">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自定义 11">
      <a:dk1>
        <a:sysClr val="windowText" lastClr="000000"/>
      </a:dk1>
      <a:lt1>
        <a:sysClr val="window" lastClr="FFFFFF"/>
      </a:lt1>
      <a:dk2>
        <a:srgbClr val="44546A"/>
      </a:dk2>
      <a:lt2>
        <a:srgbClr val="E7E6E6"/>
      </a:lt2>
      <a:accent1>
        <a:srgbClr val="009ED6"/>
      </a:accent1>
      <a:accent2>
        <a:srgbClr val="F69618"/>
      </a:accent2>
      <a:accent3>
        <a:srgbClr val="9BB531"/>
      </a:accent3>
      <a:accent4>
        <a:srgbClr val="03AB99"/>
      </a:accent4>
      <a:accent5>
        <a:srgbClr val="566372"/>
      </a:accent5>
      <a:accent6>
        <a:srgbClr val="70AD47"/>
      </a:accent6>
      <a:hlink>
        <a:srgbClr val="0563C1"/>
      </a:hlink>
      <a:folHlink>
        <a:srgbClr val="954F72"/>
      </a:folHlink>
    </a:clrScheme>
    <a:fontScheme name="j21wfmou">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2394</Words>
  <Application>WPS 演示</Application>
  <PresentationFormat>宽屏</PresentationFormat>
  <Paragraphs>150</Paragraphs>
  <Slides>14</Slides>
  <Notes>4</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14</vt:i4>
      </vt:variant>
    </vt:vector>
  </HeadingPairs>
  <TitlesOfParts>
    <vt:vector size="30" baseType="lpstr">
      <vt:lpstr>Arial</vt:lpstr>
      <vt:lpstr>宋体</vt:lpstr>
      <vt:lpstr>Wingdings</vt:lpstr>
      <vt:lpstr>Lato</vt:lpstr>
      <vt:lpstr>Calibri</vt:lpstr>
      <vt:lpstr>小米兰亭</vt:lpstr>
      <vt:lpstr>方正兰亭粗黑简体</vt:lpstr>
      <vt:lpstr>黑体</vt:lpstr>
      <vt:lpstr>微软雅黑</vt:lpstr>
      <vt:lpstr>Calibri</vt:lpstr>
      <vt:lpstr>Times New Roman</vt:lpstr>
      <vt:lpstr>等线</vt:lpstr>
      <vt:lpstr>Arial Unicode MS</vt:lpstr>
      <vt:lpstr>Verdana</vt:lpstr>
      <vt:lpstr>第一PPT，www.1ppt.com </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美林</cp:lastModifiedBy>
  <cp:revision>306</cp:revision>
  <dcterms:created xsi:type="dcterms:W3CDTF">2019-06-19T02:08:00Z</dcterms:created>
  <dcterms:modified xsi:type="dcterms:W3CDTF">2024-12-18T08:35:53Z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DC04B56DB8E242AA83066665D61D1599_13</vt:lpwstr>
  </property>
</Properties>
</file>